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8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0.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174.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179.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83.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81.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184.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178.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180.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181.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18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Lst>
  <p:sldSz cy="6858000" cx="12192000"/>
  <p:notesSz cx="6858000" cy="9144000"/>
  <p:embeddedFontLst>
    <p:embeddedFont>
      <p:font typeface="Bodoni"/>
      <p:regular r:id="rId192"/>
      <p:bold r:id="rId193"/>
      <p:italic r:id="rId194"/>
      <p:boldItalic r:id="rId195"/>
    </p:embeddedFont>
    <p:embeddedFont>
      <p:font typeface="Old Standard TT"/>
      <p:regular r:id="rId196"/>
      <p:bold r:id="rId197"/>
      <p:italic r:id="rId198"/>
    </p:embeddedFont>
    <p:embeddedFont>
      <p:font typeface="Arial Black"/>
      <p:regular r:id="rId199"/>
    </p:embeddedFont>
    <p:embeddedFont>
      <p:font typeface="Bell MT"/>
      <p:regular r:id="rId200"/>
      <p:bold r:id="rId201"/>
      <p:italic r:id="rId202"/>
      <p:boldItalic r:id="rId203"/>
    </p:embeddedFont>
    <p:embeddedFont>
      <p:font typeface="Dancing Script"/>
      <p:regular r:id="rId204"/>
      <p:bold r:id="rId20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6" roundtripDataSignature="AMtx7mgMitIK51u5NeU2cvN6krQVqIRd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76F773-12A6-4B3B-89D9-77E6CB78BC35}">
  <a:tblStyle styleId="{B276F773-12A6-4B3B-89D9-77E6CB78BC3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font" Target="fonts/Bodoni-italic.fntdata"/><Relationship Id="rId43" Type="http://schemas.openxmlformats.org/officeDocument/2006/relationships/slide" Target="slides/slide38.xml"/><Relationship Id="rId193" Type="http://schemas.openxmlformats.org/officeDocument/2006/relationships/font" Target="fonts/Bodoni-bold.fntdata"/><Relationship Id="rId46" Type="http://schemas.openxmlformats.org/officeDocument/2006/relationships/slide" Target="slides/slide41.xml"/><Relationship Id="rId192" Type="http://schemas.openxmlformats.org/officeDocument/2006/relationships/font" Target="fonts/Bodoni-regular.fntdata"/><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font" Target="fonts/OldStandardTT-italic.fntdata"/><Relationship Id="rId14" Type="http://schemas.openxmlformats.org/officeDocument/2006/relationships/slide" Target="slides/slide9.xml"/><Relationship Id="rId197" Type="http://schemas.openxmlformats.org/officeDocument/2006/relationships/font" Target="fonts/OldStandardTT-bold.fntdata"/><Relationship Id="rId17" Type="http://schemas.openxmlformats.org/officeDocument/2006/relationships/slide" Target="slides/slide12.xml"/><Relationship Id="rId196" Type="http://schemas.openxmlformats.org/officeDocument/2006/relationships/font" Target="fonts/OldStandardTT-regular.fntdata"/><Relationship Id="rId16" Type="http://schemas.openxmlformats.org/officeDocument/2006/relationships/slide" Target="slides/slide11.xml"/><Relationship Id="rId195" Type="http://schemas.openxmlformats.org/officeDocument/2006/relationships/font" Target="fonts/Bodoni-boldItalic.fntdata"/><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font" Target="fonts/ArialBlack-regular.fntdata"/><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customschemas.google.com/relationships/presentationmetadata" Target="metadata"/><Relationship Id="rId205" Type="http://schemas.openxmlformats.org/officeDocument/2006/relationships/font" Target="fonts/DancingScript-bold.fntdata"/><Relationship Id="rId204" Type="http://schemas.openxmlformats.org/officeDocument/2006/relationships/font" Target="fonts/DancingScript-regular.fntdata"/><Relationship Id="rId203" Type="http://schemas.openxmlformats.org/officeDocument/2006/relationships/font" Target="fonts/BellMT-boldItalic.fntdata"/><Relationship Id="rId202" Type="http://schemas.openxmlformats.org/officeDocument/2006/relationships/font" Target="fonts/BellMT-italic.fntdata"/><Relationship Id="rId201" Type="http://schemas.openxmlformats.org/officeDocument/2006/relationships/font" Target="fonts/BellMT-bold.fntdata"/><Relationship Id="rId200" Type="http://schemas.openxmlformats.org/officeDocument/2006/relationships/font" Target="fonts/BellM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The University of Adelaide, School of Computer Science</a:t>
            </a:r>
            <a:endParaRPr/>
          </a:p>
        </p:txBody>
      </p:sp>
      <p:sp>
        <p:nvSpPr>
          <p:cNvPr id="122" name="Google Shape;122;p3: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18 June 2024</a:t>
            </a:r>
            <a:endParaRPr b="0" i="0" sz="1300" u="none" cap="none" strike="noStrike">
              <a:solidFill>
                <a:schemeClr val="dk1"/>
              </a:solidFill>
              <a:latin typeface="Times New Roman"/>
              <a:ea typeface="Times New Roman"/>
              <a:cs typeface="Times New Roman"/>
              <a:sym typeface="Times New Roman"/>
            </a:endParaRPr>
          </a:p>
        </p:txBody>
      </p:sp>
      <p:sp>
        <p:nvSpPr>
          <p:cNvPr id="123" name="Google Shape;123;p3: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Chapter 2 — Instructions: Language of the Computer</a:t>
            </a:r>
            <a:endParaRPr/>
          </a:p>
        </p:txBody>
      </p:sp>
      <p:sp>
        <p:nvSpPr>
          <p:cNvPr id="124" name="Google Shape;12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300"/>
              <a:buFont typeface="Noto Sans Symbols"/>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
        <p:nvSpPr>
          <p:cNvPr id="125" name="Google Shape;125;p3:notes"/>
          <p:cNvSpPr/>
          <p:nvPr>
            <p:ph idx="3" type="sldImg"/>
          </p:nvPr>
        </p:nvSpPr>
        <p:spPr>
          <a:xfrm>
            <a:off x="138113" y="768350"/>
            <a:ext cx="6823075" cy="3838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5:notes"/>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The University of Adelaide, School of Computer Science</a:t>
            </a:r>
            <a:endParaRPr/>
          </a:p>
        </p:txBody>
      </p:sp>
      <p:sp>
        <p:nvSpPr>
          <p:cNvPr id="468" name="Google Shape;468;p45: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18 June 2024</a:t>
            </a:r>
            <a:endParaRPr b="0" i="0" sz="1300" u="none" cap="none" strike="noStrike">
              <a:solidFill>
                <a:schemeClr val="dk1"/>
              </a:solidFill>
              <a:latin typeface="Times New Roman"/>
              <a:ea typeface="Times New Roman"/>
              <a:cs typeface="Times New Roman"/>
              <a:sym typeface="Times New Roman"/>
            </a:endParaRPr>
          </a:p>
        </p:txBody>
      </p:sp>
      <p:sp>
        <p:nvSpPr>
          <p:cNvPr id="469" name="Google Shape;469;p45: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Chapter 2 — Instructions: Language of the Computer</a:t>
            </a:r>
            <a:endParaRPr/>
          </a:p>
        </p:txBody>
      </p:sp>
      <p:sp>
        <p:nvSpPr>
          <p:cNvPr id="470" name="Google Shape;47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300"/>
              <a:buFont typeface="Noto Sans Symbols"/>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
        <p:nvSpPr>
          <p:cNvPr id="471" name="Google Shape;471;p45:notes"/>
          <p:cNvSpPr/>
          <p:nvPr>
            <p:ph idx="3" type="sldImg"/>
          </p:nvPr>
        </p:nvSpPr>
        <p:spPr>
          <a:xfrm>
            <a:off x="138113" y="768350"/>
            <a:ext cx="6823075" cy="3838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2" name="Google Shape;47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3" name="Google Shape;67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7" name="Google Shape;757;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7" name="Google Shape;777;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9" name="Google Shape;799;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0" name="Google Shape;820;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 name="Google Shape;870;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 name="Google Shape;899;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8" name="Google Shape;908;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6" name="Google Shape;926;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3" name="Google Shape;933;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0" name="Google Shape;940;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 name="Google Shape;947;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4" name="Google Shape;964;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8" name="Google Shape;97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9" name="Google Shape;1039;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6" name="Google Shape;1046;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2" name="Google Shape;1062;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4" name="Google Shape;1074;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9" name="Google Shape;1089;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3" name="Google Shape;1103;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0" name="Google Shape;1120;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9" name="Google Shape;1129;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8" name="Google Shape;1138;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6" name="Google Shape;1146;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4" name="Google Shape;1154;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1" name="Google Shape;1161;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8" name="Google Shape;1168;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5" name="Google Shape;1175;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5" name="Google Shape;1185;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2" name="Google Shape;1192;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2" name="Google Shape;1202;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0" name="Google Shape;1210;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8" name="Google Shape;1218;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6" name="Google Shape;1226;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1" name="Shape 1231"/>
        <p:cNvGrpSpPr/>
        <p:nvPr/>
      </p:nvGrpSpPr>
      <p:grpSpPr>
        <a:xfrm>
          <a:off x="0" y="0"/>
          <a:ext cx="0" cy="0"/>
          <a:chOff x="0" y="0"/>
          <a:chExt cx="0" cy="0"/>
        </a:xfrm>
      </p:grpSpPr>
      <p:sp>
        <p:nvSpPr>
          <p:cNvPr id="1232" name="Google Shape;1232;p1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3" name="Google Shape;1233;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4" name="Google Shape;1244;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1" name="Google Shape;1251;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2" name="Google Shape;1262;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9" name="Google Shape;1269;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1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7" name="Google Shape;1277;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1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5" name="Google Shape;1285;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1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3" name="Google Shape;1293;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1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1" name="Google Shape;1301;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1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137:notes"/>
          <p:cNvSpPr/>
          <p:nvPr>
            <p:ph idx="2" type="sldImg"/>
          </p:nvPr>
        </p:nvSpPr>
        <p:spPr>
          <a:xfrm>
            <a:off x="138113" y="768350"/>
            <a:ext cx="6823075" cy="38385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0" name="Google Shape;1320;p1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1" name="Google Shape;1321;p137:notes"/>
          <p:cNvSpPr txBox="1"/>
          <p:nvPr>
            <p:ph idx="3" type="hdr"/>
          </p:nvPr>
        </p:nvSpPr>
        <p:spPr>
          <a:xfrm>
            <a:off x="0" y="0"/>
            <a:ext cx="2971800" cy="4587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The University of Adelaide, School of Computer Science</a:t>
            </a:r>
            <a:endParaRPr/>
          </a:p>
        </p:txBody>
      </p:sp>
      <p:sp>
        <p:nvSpPr>
          <p:cNvPr id="1322" name="Google Shape;1322;p137:notes"/>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18 June 2024</a:t>
            </a:r>
            <a:endParaRPr b="0" i="0" sz="1300" u="none" cap="none" strike="noStrike">
              <a:solidFill>
                <a:schemeClr val="dk1"/>
              </a:solidFill>
              <a:latin typeface="Times New Roman"/>
              <a:ea typeface="Times New Roman"/>
              <a:cs typeface="Times New Roman"/>
              <a:sym typeface="Times New Roman"/>
            </a:endParaRPr>
          </a:p>
        </p:txBody>
      </p:sp>
      <p:sp>
        <p:nvSpPr>
          <p:cNvPr id="1323" name="Google Shape;1323;p137: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Clr>
                <a:schemeClr val="dk1"/>
              </a:buClr>
              <a:buSzPts val="1300"/>
              <a:buFont typeface="Noto Sans Symbols"/>
              <a:buNone/>
            </a:pPr>
            <a:r>
              <a:rPr b="0" i="0" lang="en-US" sz="1300" u="none" cap="none" strike="noStrike">
                <a:solidFill>
                  <a:schemeClr val="dk1"/>
                </a:solidFill>
                <a:latin typeface="Times New Roman"/>
                <a:ea typeface="Times New Roman"/>
                <a:cs typeface="Times New Roman"/>
                <a:sym typeface="Times New Roman"/>
              </a:rPr>
              <a:t>Chapter 2 — Instructions: Language of the Computer</a:t>
            </a:r>
            <a:endParaRPr/>
          </a:p>
        </p:txBody>
      </p:sp>
      <p:sp>
        <p:nvSpPr>
          <p:cNvPr id="1324" name="Google Shape;1324;p1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chemeClr val="dk1"/>
              </a:buClr>
              <a:buSzPts val="1300"/>
              <a:buFont typeface="Noto Sans Symbols"/>
              <a:buNone/>
            </a:pPr>
            <a:fld id="{00000000-1234-1234-1234-123412341234}" type="slidenum">
              <a:rPr b="0" i="0" lang="en-US" sz="1300" u="none" cap="none" strike="noStrike">
                <a:solidFill>
                  <a:schemeClr val="dk1"/>
                </a:solidFill>
                <a:latin typeface="Times New Roman"/>
                <a:ea typeface="Times New Roman"/>
                <a:cs typeface="Times New Roman"/>
                <a:sym typeface="Times New Roman"/>
              </a:rPr>
              <a:t>‹#›</a:t>
            </a:fld>
            <a:endParaRPr b="0" i="0" sz="1300" u="none" cap="none" strike="noStrik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1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p1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4" name="Google Shape;1344;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1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1" name="Google Shape;1351;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1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8" name="Google Shape;1358;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p1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5" name="Google Shape;1365;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1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2" name="Google Shape;1372;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1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1" name="Google Shape;1381;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p1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9" name="Google Shape;1389;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1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6" name="Google Shape;1396;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5" name="Shape 1405"/>
        <p:cNvGrpSpPr/>
        <p:nvPr/>
      </p:nvGrpSpPr>
      <p:grpSpPr>
        <a:xfrm>
          <a:off x="0" y="0"/>
          <a:ext cx="0" cy="0"/>
          <a:chOff x="0" y="0"/>
          <a:chExt cx="0" cy="0"/>
        </a:xfrm>
      </p:grpSpPr>
      <p:sp>
        <p:nvSpPr>
          <p:cNvPr id="1406" name="Google Shape;1406;p1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7" name="Google Shape;1407;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3" name="Shape 1413"/>
        <p:cNvGrpSpPr/>
        <p:nvPr/>
      </p:nvGrpSpPr>
      <p:grpSpPr>
        <a:xfrm>
          <a:off x="0" y="0"/>
          <a:ext cx="0" cy="0"/>
          <a:chOff x="0" y="0"/>
          <a:chExt cx="0" cy="0"/>
        </a:xfrm>
      </p:grpSpPr>
      <p:sp>
        <p:nvSpPr>
          <p:cNvPr id="1414" name="Google Shape;1414;p1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5" name="Google Shape;1415;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1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3" name="Google Shape;1423;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1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0" name="Google Shape;1430;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1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7" name="Google Shape;1437;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p1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4" name="Google Shape;1444;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1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1" name="Google Shape;1451;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p1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8" name="Google Shape;1458;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1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5" name="Google Shape;1465;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1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p1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2" name="Google Shape;1482;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p1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3" name="Google Shape;1493;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1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7" name="Google Shape;1517;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1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4" name="Google Shape;1524;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1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1" name="Google Shape;1531;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p1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8" name="Google Shape;1538;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p1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5" name="Google Shape;1545;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0" name="Shape 1550"/>
        <p:cNvGrpSpPr/>
        <p:nvPr/>
      </p:nvGrpSpPr>
      <p:grpSpPr>
        <a:xfrm>
          <a:off x="0" y="0"/>
          <a:ext cx="0" cy="0"/>
          <a:chOff x="0" y="0"/>
          <a:chExt cx="0" cy="0"/>
        </a:xfrm>
      </p:grpSpPr>
      <p:sp>
        <p:nvSpPr>
          <p:cNvPr id="1551" name="Google Shape;1551;p1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2" name="Google Shape;1552;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8" name="Shape 1558"/>
        <p:cNvGrpSpPr/>
        <p:nvPr/>
      </p:nvGrpSpPr>
      <p:grpSpPr>
        <a:xfrm>
          <a:off x="0" y="0"/>
          <a:ext cx="0" cy="0"/>
          <a:chOff x="0" y="0"/>
          <a:chExt cx="0" cy="0"/>
        </a:xfrm>
      </p:grpSpPr>
      <p:sp>
        <p:nvSpPr>
          <p:cNvPr id="1559" name="Google Shape;1559;p1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0" name="Google Shape;1560;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p1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8" name="Google Shape;1568;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p1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7" name="Google Shape;1577;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p1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2" name="Google Shape;1592;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p1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9" name="Google Shape;1599;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p1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7" name="Google Shape;1607;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8" name="Shape 1618"/>
        <p:cNvGrpSpPr/>
        <p:nvPr/>
      </p:nvGrpSpPr>
      <p:grpSpPr>
        <a:xfrm>
          <a:off x="0" y="0"/>
          <a:ext cx="0" cy="0"/>
          <a:chOff x="0" y="0"/>
          <a:chExt cx="0" cy="0"/>
        </a:xfrm>
      </p:grpSpPr>
      <p:sp>
        <p:nvSpPr>
          <p:cNvPr id="1619" name="Google Shape;1619;p1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0" name="Google Shape;1620;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6" name="Shape 1626"/>
        <p:cNvGrpSpPr/>
        <p:nvPr/>
      </p:nvGrpSpPr>
      <p:grpSpPr>
        <a:xfrm>
          <a:off x="0" y="0"/>
          <a:ext cx="0" cy="0"/>
          <a:chOff x="0" y="0"/>
          <a:chExt cx="0" cy="0"/>
        </a:xfrm>
      </p:grpSpPr>
      <p:sp>
        <p:nvSpPr>
          <p:cNvPr id="1627" name="Google Shape;1627;p1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8" name="Google Shape;1628;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1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5" name="Google Shape;1635;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p1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2" name="Google Shape;1642;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p1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9" name="Google Shape;1649;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5" name="Shape 1655"/>
        <p:cNvGrpSpPr/>
        <p:nvPr/>
      </p:nvGrpSpPr>
      <p:grpSpPr>
        <a:xfrm>
          <a:off x="0" y="0"/>
          <a:ext cx="0" cy="0"/>
          <a:chOff x="0" y="0"/>
          <a:chExt cx="0" cy="0"/>
        </a:xfrm>
      </p:grpSpPr>
      <p:sp>
        <p:nvSpPr>
          <p:cNvPr id="1656" name="Google Shape;1656;p1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7" name="Google Shape;1657;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p1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4" name="Google Shape;1664;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9" name="Shape 1669"/>
        <p:cNvGrpSpPr/>
        <p:nvPr/>
      </p:nvGrpSpPr>
      <p:grpSpPr>
        <a:xfrm>
          <a:off x="0" y="0"/>
          <a:ext cx="0" cy="0"/>
          <a:chOff x="0" y="0"/>
          <a:chExt cx="0" cy="0"/>
        </a:xfrm>
      </p:grpSpPr>
      <p:sp>
        <p:nvSpPr>
          <p:cNvPr id="1670" name="Google Shape;1670;p1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1" name="Google Shape;1671;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7" name="Shape 1677"/>
        <p:cNvGrpSpPr/>
        <p:nvPr/>
      </p:nvGrpSpPr>
      <p:grpSpPr>
        <a:xfrm>
          <a:off x="0" y="0"/>
          <a:ext cx="0" cy="0"/>
          <a:chOff x="0" y="0"/>
          <a:chExt cx="0" cy="0"/>
        </a:xfrm>
      </p:grpSpPr>
      <p:sp>
        <p:nvSpPr>
          <p:cNvPr id="1678" name="Google Shape;1678;p1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9" name="Google Shape;1679;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4" name="Shape 1684"/>
        <p:cNvGrpSpPr/>
        <p:nvPr/>
      </p:nvGrpSpPr>
      <p:grpSpPr>
        <a:xfrm>
          <a:off x="0" y="0"/>
          <a:ext cx="0" cy="0"/>
          <a:chOff x="0" y="0"/>
          <a:chExt cx="0" cy="0"/>
        </a:xfrm>
      </p:grpSpPr>
      <p:sp>
        <p:nvSpPr>
          <p:cNvPr id="1685" name="Google Shape;1685;p1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6" name="Google Shape;1686;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p1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3" name="Google Shape;1693;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p1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0" name="Google Shape;1700;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5" name="Shape 1705"/>
        <p:cNvGrpSpPr/>
        <p:nvPr/>
      </p:nvGrpSpPr>
      <p:grpSpPr>
        <a:xfrm>
          <a:off x="0" y="0"/>
          <a:ext cx="0" cy="0"/>
          <a:chOff x="0" y="0"/>
          <a:chExt cx="0" cy="0"/>
        </a:xfrm>
      </p:grpSpPr>
      <p:sp>
        <p:nvSpPr>
          <p:cNvPr id="1706" name="Google Shape;1706;p1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7" name="Google Shape;1707;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p1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4" name="Google Shape;1714;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p1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1" name="Google Shape;1721;p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1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8" name="Google Shape;1728;p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8.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18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8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1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1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1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1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19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9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1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44" name="Shape 44"/>
        <p:cNvGrpSpPr/>
        <p:nvPr/>
      </p:nvGrpSpPr>
      <p:grpSpPr>
        <a:xfrm>
          <a:off x="0" y="0"/>
          <a:ext cx="0" cy="0"/>
          <a:chOff x="0" y="0"/>
          <a:chExt cx="0" cy="0"/>
        </a:xfrm>
      </p:grpSpPr>
      <p:sp>
        <p:nvSpPr>
          <p:cNvPr id="45" name="Google Shape;45;p193"/>
          <p:cNvSpPr txBox="1"/>
          <p:nvPr>
            <p:ph type="title"/>
          </p:nvPr>
        </p:nvSpPr>
        <p:spPr>
          <a:xfrm>
            <a:off x="814918" y="115889"/>
            <a:ext cx="11042649" cy="70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93"/>
          <p:cNvSpPr/>
          <p:nvPr>
            <p:ph idx="2" type="dgm"/>
          </p:nvPr>
        </p:nvSpPr>
        <p:spPr>
          <a:xfrm>
            <a:off x="912285" y="1125538"/>
            <a:ext cx="11027833" cy="511175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1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1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9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9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9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9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9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9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19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9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9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9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9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7" name="Google Shape;67;p19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8" name="Google Shape;68;p19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9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9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97"/>
          <p:cNvSpPr/>
          <p:nvPr>
            <p:ph idx="2" type="pic"/>
          </p:nvPr>
        </p:nvSpPr>
        <p:spPr>
          <a:xfrm>
            <a:off x="5183188" y="987425"/>
            <a:ext cx="6172200" cy="4873625"/>
          </a:xfrm>
          <a:prstGeom prst="rect">
            <a:avLst/>
          </a:prstGeom>
          <a:noFill/>
          <a:ln>
            <a:noFill/>
          </a:ln>
        </p:spPr>
      </p:sp>
      <p:sp>
        <p:nvSpPr>
          <p:cNvPr id="74" name="Google Shape;74;p19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 name="Google Shape;75;p1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9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9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9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9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9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9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9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90" name="Shape 90"/>
        <p:cNvGrpSpPr/>
        <p:nvPr/>
      </p:nvGrpSpPr>
      <p:grpSpPr>
        <a:xfrm>
          <a:off x="0" y="0"/>
          <a:ext cx="0" cy="0"/>
          <a:chOff x="0" y="0"/>
          <a:chExt cx="0" cy="0"/>
        </a:xfrm>
      </p:grpSpPr>
      <p:sp>
        <p:nvSpPr>
          <p:cNvPr id="91" name="Google Shape;91;p200"/>
          <p:cNvSpPr/>
          <p:nvPr/>
        </p:nvSpPr>
        <p:spPr>
          <a:xfrm>
            <a:off x="0" y="1"/>
            <a:ext cx="12192000" cy="765175"/>
          </a:xfrm>
          <a:prstGeom prst="rect">
            <a:avLst/>
          </a:prstGeom>
          <a:solidFill>
            <a:srgbClr val="767D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Arial"/>
              <a:ea typeface="Arial"/>
              <a:cs typeface="Arial"/>
              <a:sym typeface="Arial"/>
            </a:endParaRPr>
          </a:p>
        </p:txBody>
      </p:sp>
      <p:sp>
        <p:nvSpPr>
          <p:cNvPr id="92" name="Google Shape;92;p200"/>
          <p:cNvSpPr/>
          <p:nvPr/>
        </p:nvSpPr>
        <p:spPr>
          <a:xfrm>
            <a:off x="0" y="765176"/>
            <a:ext cx="12192000" cy="17463"/>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pic>
        <p:nvPicPr>
          <p:cNvPr descr="MK_logo2" id="93" name="Google Shape;93;p200"/>
          <p:cNvPicPr preferRelativeResize="0"/>
          <p:nvPr/>
        </p:nvPicPr>
        <p:blipFill rotWithShape="1">
          <a:blip r:embed="rId2">
            <a:alphaModFix/>
          </a:blip>
          <a:srcRect b="0" l="0" r="0" t="0"/>
          <a:stretch/>
        </p:blipFill>
        <p:spPr>
          <a:xfrm>
            <a:off x="143934" y="50801"/>
            <a:ext cx="1638300" cy="714375"/>
          </a:xfrm>
          <a:prstGeom prst="rect">
            <a:avLst/>
          </a:prstGeom>
          <a:noFill/>
          <a:ln>
            <a:noFill/>
          </a:ln>
        </p:spPr>
      </p:pic>
      <p:sp>
        <p:nvSpPr>
          <p:cNvPr id="94" name="Google Shape;94;p200"/>
          <p:cNvSpPr/>
          <p:nvPr/>
        </p:nvSpPr>
        <p:spPr>
          <a:xfrm>
            <a:off x="2929467" y="765176"/>
            <a:ext cx="61384" cy="5732463"/>
          </a:xfrm>
          <a:prstGeom prst="rect">
            <a:avLst/>
          </a:prstGeom>
          <a:gradFill>
            <a:gsLst>
              <a:gs pos="0">
                <a:srgbClr val="808080"/>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95" name="Google Shape;95;p200"/>
          <p:cNvSpPr/>
          <p:nvPr/>
        </p:nvSpPr>
        <p:spPr>
          <a:xfrm>
            <a:off x="3412067" y="1195388"/>
            <a:ext cx="61384" cy="3816350"/>
          </a:xfrm>
          <a:prstGeom prst="rect">
            <a:avLst/>
          </a:prstGeom>
          <a:gradFill>
            <a:gsLst>
              <a:gs pos="0">
                <a:srgbClr val="767D79"/>
              </a:gs>
              <a:gs pos="100000">
                <a:schemeClr val="lt1"/>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96" name="Google Shape;96;p200"/>
          <p:cNvSpPr/>
          <p:nvPr/>
        </p:nvSpPr>
        <p:spPr>
          <a:xfrm>
            <a:off x="3122084" y="1916114"/>
            <a:ext cx="8830733" cy="46037"/>
          </a:xfrm>
          <a:prstGeom prst="rect">
            <a:avLst/>
          </a:prstGeom>
          <a:gradFill>
            <a:gsLst>
              <a:gs pos="0">
                <a:srgbClr val="5F5F5F"/>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97" name="Google Shape;97;p200"/>
          <p:cNvSpPr/>
          <p:nvPr/>
        </p:nvSpPr>
        <p:spPr>
          <a:xfrm>
            <a:off x="0" y="6308726"/>
            <a:ext cx="12192000" cy="549275"/>
          </a:xfrm>
          <a:prstGeom prst="rect">
            <a:avLst/>
          </a:prstGeom>
          <a:solidFill>
            <a:srgbClr val="767D79"/>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98" name="Google Shape;98;p200"/>
          <p:cNvSpPr/>
          <p:nvPr/>
        </p:nvSpPr>
        <p:spPr>
          <a:xfrm>
            <a:off x="0" y="6308726"/>
            <a:ext cx="12192000" cy="17463"/>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pic>
        <p:nvPicPr>
          <p:cNvPr descr="MK_logo2" id="99" name="Google Shape;99;p200"/>
          <p:cNvPicPr preferRelativeResize="0"/>
          <p:nvPr/>
        </p:nvPicPr>
        <p:blipFill rotWithShape="1">
          <a:blip r:embed="rId2">
            <a:alphaModFix/>
          </a:blip>
          <a:srcRect b="0" l="0" r="0" t="0"/>
          <a:stretch/>
        </p:blipFill>
        <p:spPr>
          <a:xfrm>
            <a:off x="239184" y="6381751"/>
            <a:ext cx="1056216" cy="460375"/>
          </a:xfrm>
          <a:prstGeom prst="rect">
            <a:avLst/>
          </a:prstGeom>
          <a:noFill/>
          <a:ln>
            <a:noFill/>
          </a:ln>
        </p:spPr>
      </p:pic>
      <p:sp>
        <p:nvSpPr>
          <p:cNvPr id="100" name="Google Shape;100;p200"/>
          <p:cNvSpPr txBox="1"/>
          <p:nvPr/>
        </p:nvSpPr>
        <p:spPr>
          <a:xfrm>
            <a:off x="11184467" y="6497639"/>
            <a:ext cx="768351" cy="2746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Clr>
                <a:schemeClr val="dk1"/>
              </a:buClr>
              <a:buSzPts val="1200"/>
              <a:buFont typeface="Noto Sans Symbols"/>
              <a:buNone/>
            </a:pPr>
            <a:fld id="{00000000-1234-1234-1234-123412341234}" type="slidenum">
              <a:rPr b="1"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pic>
        <p:nvPicPr>
          <p:cNvPr descr="9780123742605.jpg" id="101" name="Google Shape;101;p200"/>
          <p:cNvPicPr preferRelativeResize="0"/>
          <p:nvPr/>
        </p:nvPicPr>
        <p:blipFill rotWithShape="1">
          <a:blip r:embed="rId3">
            <a:alphaModFix/>
          </a:blip>
          <a:srcRect b="0" l="0" r="0" t="0"/>
          <a:stretch/>
        </p:blipFill>
        <p:spPr>
          <a:xfrm>
            <a:off x="241260" y="1152509"/>
            <a:ext cx="2471369" cy="2286016"/>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102" name="Google Shape;102;p2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6"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8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187"/>
          <p:cNvPicPr preferRelativeResize="0"/>
          <p:nvPr/>
        </p:nvPicPr>
        <p:blipFill rotWithShape="1">
          <a:blip r:embed="rId1">
            <a:alphaModFix/>
          </a:blip>
          <a:srcRect b="0" l="0" r="0" t="0"/>
          <a:stretch/>
        </p:blipFill>
        <p:spPr>
          <a:xfrm>
            <a:off x="9982200" y="0"/>
            <a:ext cx="2200275" cy="990600"/>
          </a:xfrm>
          <a:prstGeom prst="rect">
            <a:avLst/>
          </a:prstGeom>
          <a:noFill/>
          <a:ln>
            <a:noFill/>
          </a:ln>
        </p:spPr>
      </p:pic>
      <p:pic>
        <p:nvPicPr>
          <p:cNvPr id="16" name="Google Shape;16;p187"/>
          <p:cNvPicPr preferRelativeResize="0"/>
          <p:nvPr/>
        </p:nvPicPr>
        <p:blipFill rotWithShape="1">
          <a:blip r:embed="rId2">
            <a:alphaModFix/>
          </a:blip>
          <a:srcRect b="0" l="0" r="0" t="0"/>
          <a:stretch/>
        </p:blipFill>
        <p:spPr>
          <a:xfrm>
            <a:off x="-9525" y="6465153"/>
            <a:ext cx="12192000" cy="38032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0.jpg"/><Relationship Id="rId4" Type="http://schemas.openxmlformats.org/officeDocument/2006/relationships/image" Target="../media/image13.jpg"/><Relationship Id="rId5"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jpg"/><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52.jpg"/><Relationship Id="rId4" Type="http://schemas.openxmlformats.org/officeDocument/2006/relationships/image" Target="../media/image54.jpg"/><Relationship Id="rId5" Type="http://schemas.openxmlformats.org/officeDocument/2006/relationships/image" Target="../media/image4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56.png"/><Relationship Id="rId4" Type="http://schemas.openxmlformats.org/officeDocument/2006/relationships/image" Target="../media/image23.png"/><Relationship Id="rId5" Type="http://schemas.openxmlformats.org/officeDocument/2006/relationships/image" Target="../media/image5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4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3.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8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3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34.png"/><Relationship Id="rId4" Type="http://schemas.openxmlformats.org/officeDocument/2006/relationships/image" Target="../media/image51.png"/><Relationship Id="rId5"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34.png"/><Relationship Id="rId4" Type="http://schemas.openxmlformats.org/officeDocument/2006/relationships/image" Target="../media/image51.png"/><Relationship Id="rId5" Type="http://schemas.openxmlformats.org/officeDocument/2006/relationships/image" Target="../media/image3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9.png"/><Relationship Id="rId4" Type="http://schemas.openxmlformats.org/officeDocument/2006/relationships/image" Target="../media/image48.png"/><Relationship Id="rId5" Type="http://schemas.openxmlformats.org/officeDocument/2006/relationships/image" Target="../media/image47.png"/><Relationship Id="rId6" Type="http://schemas.openxmlformats.org/officeDocument/2006/relationships/image" Target="../media/image44.png"/><Relationship Id="rId7"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5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8.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64.png"/><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8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8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77.png"/><Relationship Id="rId4" Type="http://schemas.openxmlformats.org/officeDocument/2006/relationships/image" Target="../media/image5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6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57.png"/><Relationship Id="rId4" Type="http://schemas.openxmlformats.org/officeDocument/2006/relationships/image" Target="../media/image95.png"/><Relationship Id="rId5" Type="http://schemas.openxmlformats.org/officeDocument/2006/relationships/image" Target="../media/image74.png"/><Relationship Id="rId6" Type="http://schemas.openxmlformats.org/officeDocument/2006/relationships/image" Target="../media/image82.png"/><Relationship Id="rId7" Type="http://schemas.openxmlformats.org/officeDocument/2006/relationships/image" Target="../media/image55.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6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6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9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7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6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7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6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6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2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9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9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80.jpg"/><Relationship Id="rId4" Type="http://schemas.openxmlformats.org/officeDocument/2006/relationships/image" Target="../media/image76.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7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7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7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7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0.xml"/><Relationship Id="rId3" Type="http://schemas.openxmlformats.org/officeDocument/2006/relationships/image" Target="../media/image8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9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119.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0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9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122.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107.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8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88.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85.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8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 Id="rId3" Type="http://schemas.openxmlformats.org/officeDocument/2006/relationships/image" Target="../media/image103.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 Id="rId3" Type="http://schemas.openxmlformats.org/officeDocument/2006/relationships/image" Target="../media/image112.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1.xml"/><Relationship Id="rId3" Type="http://schemas.openxmlformats.org/officeDocument/2006/relationships/image" Target="../media/image105.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 Id="rId3" Type="http://schemas.openxmlformats.org/officeDocument/2006/relationships/image" Target="../media/image115.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108.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90.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5.xml"/><Relationship Id="rId3" Type="http://schemas.openxmlformats.org/officeDocument/2006/relationships/image" Target="../media/image100.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 Id="rId3" Type="http://schemas.openxmlformats.org/officeDocument/2006/relationships/image" Target="../media/image93.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 Id="rId3" Type="http://schemas.openxmlformats.org/officeDocument/2006/relationships/image" Target="../media/image9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96.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 Id="rId3" Type="http://schemas.openxmlformats.org/officeDocument/2006/relationships/image" Target="../media/image104.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10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 Id="rId3" Type="http://schemas.openxmlformats.org/officeDocument/2006/relationships/image" Target="../media/image123.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 Id="rId3" Type="http://schemas.openxmlformats.org/officeDocument/2006/relationships/image" Target="../media/image106.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12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 Id="rId3" Type="http://schemas.openxmlformats.org/officeDocument/2006/relationships/image" Target="../media/image114.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116.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3.xml"/><Relationship Id="rId3" Type="http://schemas.openxmlformats.org/officeDocument/2006/relationships/image" Target="../media/image109.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 Id="rId3" Type="http://schemas.openxmlformats.org/officeDocument/2006/relationships/image" Target="../media/image113.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 Id="rId3" Type="http://schemas.openxmlformats.org/officeDocument/2006/relationships/image" Target="../media/image118.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 Id="rId3" Type="http://schemas.openxmlformats.org/officeDocument/2006/relationships/image" Target="../media/image117.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 Id="rId3" Type="http://schemas.openxmlformats.org/officeDocument/2006/relationships/image" Target="../media/image110.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 Id="rId3" Type="http://schemas.openxmlformats.org/officeDocument/2006/relationships/image" Target="../media/image11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08" name="Google Shape;108;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id="109" name="Google Shape;109;p1"/>
          <p:cNvPicPr preferRelativeResize="0"/>
          <p:nvPr/>
        </p:nvPicPr>
        <p:blipFill rotWithShape="1">
          <a:blip r:embed="rId3">
            <a:alphaModFix/>
          </a:blip>
          <a:srcRect b="2862" l="0" r="0" t="0"/>
          <a:stretch/>
        </p:blipFill>
        <p:spPr>
          <a:xfrm>
            <a:off x="-22946" y="-16728"/>
            <a:ext cx="12214948" cy="6874728"/>
          </a:xfrm>
          <a:prstGeom prst="rect">
            <a:avLst/>
          </a:prstGeom>
          <a:noFill/>
          <a:ln>
            <a:noFill/>
          </a:ln>
        </p:spPr>
      </p:pic>
      <p:sp>
        <p:nvSpPr>
          <p:cNvPr id="110" name="Google Shape;110;p1"/>
          <p:cNvSpPr txBox="1"/>
          <p:nvPr/>
        </p:nvSpPr>
        <p:spPr>
          <a:xfrm>
            <a:off x="22302" y="1295400"/>
            <a:ext cx="12169698" cy="255746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000" u="none" cap="none" strike="noStrike">
                <a:solidFill>
                  <a:srgbClr val="CC00CC"/>
                </a:solidFill>
                <a:latin typeface="Times New Roman"/>
                <a:ea typeface="Times New Roman"/>
                <a:cs typeface="Times New Roman"/>
                <a:sym typeface="Times New Roman"/>
              </a:rPr>
              <a:t>21BTCS030 - High Performance Computing</a:t>
            </a:r>
            <a:endParaRPr/>
          </a:p>
          <a:p>
            <a:pPr indent="0" lvl="0" marL="0" marR="0" rtl="0" algn="ctr">
              <a:spcBef>
                <a:spcPts val="0"/>
              </a:spcBef>
              <a:spcAft>
                <a:spcPts val="0"/>
              </a:spcAft>
              <a:buNone/>
            </a:pPr>
            <a:r>
              <a:t/>
            </a:r>
            <a:endParaRPr b="0" i="0" sz="30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0" i="0" lang="en-US" sz="3000" u="none" cap="none" strike="noStrike">
                <a:solidFill>
                  <a:srgbClr val="FF0000"/>
                </a:solidFill>
                <a:latin typeface="Times New Roman"/>
                <a:ea typeface="Times New Roman"/>
                <a:cs typeface="Times New Roman"/>
                <a:sym typeface="Times New Roman"/>
              </a:rPr>
              <a:t>Class – L.Y (SEM-I), &lt;Core, AIEC&gt;</a:t>
            </a:r>
            <a:endParaRPr/>
          </a:p>
          <a:p>
            <a:pPr indent="0" lvl="0" marL="0" marR="0" rtl="0" algn="ctr">
              <a:spcBef>
                <a:spcPts val="0"/>
              </a:spcBef>
              <a:spcAft>
                <a:spcPts val="0"/>
              </a:spcAft>
              <a:buNone/>
            </a:pPr>
            <a:r>
              <a:t/>
            </a:r>
            <a:endParaRPr b="0" i="0" sz="3000" u="none" cap="none" strike="noStrike">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rPr b="1" i="0" lang="en-US" sz="3600" u="none" cap="none" strike="noStrike">
                <a:solidFill>
                  <a:schemeClr val="dk1"/>
                </a:solidFill>
                <a:latin typeface="Times New Roman"/>
                <a:ea typeface="Times New Roman"/>
                <a:cs typeface="Times New Roman"/>
                <a:sym typeface="Times New Roman"/>
              </a:rPr>
              <a:t>Unit - I Introduction</a:t>
            </a:r>
            <a:endParaRPr/>
          </a:p>
        </p:txBody>
      </p:sp>
      <p:sp>
        <p:nvSpPr>
          <p:cNvPr id="111" name="Google Shape;111;p1"/>
          <p:cNvSpPr txBox="1"/>
          <p:nvPr/>
        </p:nvSpPr>
        <p:spPr>
          <a:xfrm>
            <a:off x="-1" y="0"/>
            <a:ext cx="10910171" cy="121920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MIT Art Design and Technology University</a:t>
            </a:r>
            <a:br>
              <a:rPr b="1" i="0" lang="en-US" sz="2700" u="none" cap="none" strike="noStrike">
                <a:solidFill>
                  <a:schemeClr val="dk1"/>
                </a:solidFill>
                <a:latin typeface="Times New Roman"/>
                <a:ea typeface="Times New Roman"/>
                <a:cs typeface="Times New Roman"/>
                <a:sym typeface="Times New Roman"/>
              </a:rPr>
            </a:br>
            <a:r>
              <a:rPr b="1" i="0" lang="en-US" sz="3100" u="none" cap="none" strike="noStrike">
                <a:solidFill>
                  <a:schemeClr val="dk1"/>
                </a:solidFill>
                <a:latin typeface="Times New Roman"/>
                <a:ea typeface="Times New Roman"/>
                <a:cs typeface="Times New Roman"/>
                <a:sym typeface="Times New Roman"/>
              </a:rPr>
              <a:t>MIT School of Computing, Pune</a:t>
            </a:r>
            <a:endParaRPr b="1" i="0" sz="2800" u="none" cap="none" strike="noStrike">
              <a:solidFill>
                <a:schemeClr val="dk1"/>
              </a:solidFill>
              <a:latin typeface="Times New Roman"/>
              <a:ea typeface="Times New Roman"/>
              <a:cs typeface="Times New Roman"/>
              <a:sym typeface="Times New Roman"/>
            </a:endParaRPr>
          </a:p>
        </p:txBody>
      </p:sp>
      <p:sp>
        <p:nvSpPr>
          <p:cNvPr id="112" name="Google Shape;112;p1"/>
          <p:cNvSpPr txBox="1"/>
          <p:nvPr/>
        </p:nvSpPr>
        <p:spPr>
          <a:xfrm>
            <a:off x="1713500" y="5987525"/>
            <a:ext cx="8784900" cy="527700"/>
          </a:xfrm>
          <a:prstGeom prst="rect">
            <a:avLst/>
          </a:prstGeom>
          <a:noFill/>
          <a:ln>
            <a:noFill/>
          </a:ln>
        </p:spPr>
        <p:txBody>
          <a:bodyPr anchorCtr="0" anchor="ctr" bIns="45700" lIns="91425" spcFirstLastPara="1" rIns="91425" wrap="square" tIns="45700">
            <a:normAutofit fontScale="97500" lnSpcReduction="10000"/>
          </a:bodyPr>
          <a:lstStyle/>
          <a:p>
            <a:pPr indent="0" lvl="0" marL="0" marR="0" rtl="0" algn="ctr">
              <a:spcBef>
                <a:spcPts val="0"/>
              </a:spcBef>
              <a:spcAft>
                <a:spcPts val="0"/>
              </a:spcAft>
              <a:buNone/>
            </a:pPr>
            <a:r>
              <a:rPr b="0" i="0" lang="en-US" sz="3100" u="none" cap="none" strike="noStrike">
                <a:solidFill>
                  <a:srgbClr val="CC00CC"/>
                </a:solidFill>
                <a:latin typeface="Times New Roman"/>
                <a:ea typeface="Times New Roman"/>
                <a:cs typeface="Times New Roman"/>
                <a:sym typeface="Times New Roman"/>
              </a:rPr>
              <a:t>AY 202</a:t>
            </a:r>
            <a:r>
              <a:rPr lang="en-US" sz="3100">
                <a:solidFill>
                  <a:srgbClr val="CC00CC"/>
                </a:solidFill>
                <a:latin typeface="Times New Roman"/>
                <a:ea typeface="Times New Roman"/>
                <a:cs typeface="Times New Roman"/>
                <a:sym typeface="Times New Roman"/>
              </a:rPr>
              <a:t>5</a:t>
            </a:r>
            <a:r>
              <a:rPr b="0" i="0" lang="en-US" sz="3100" u="none" cap="none" strike="noStrike">
                <a:solidFill>
                  <a:srgbClr val="CC00CC"/>
                </a:solidFill>
                <a:latin typeface="Times New Roman"/>
                <a:ea typeface="Times New Roman"/>
                <a:cs typeface="Times New Roman"/>
                <a:sym typeface="Times New Roman"/>
              </a:rPr>
              <a:t>-202</a:t>
            </a:r>
            <a:r>
              <a:rPr lang="en-US" sz="3100">
                <a:solidFill>
                  <a:srgbClr val="CC00CC"/>
                </a:solidFill>
                <a:latin typeface="Times New Roman"/>
                <a:ea typeface="Times New Roman"/>
                <a:cs typeface="Times New Roman"/>
                <a:sym typeface="Times New Roman"/>
              </a:rPr>
              <a:t>6</a:t>
            </a:r>
            <a:r>
              <a:rPr b="0" i="0" lang="en-US" sz="3100" u="none" cap="none" strike="noStrike">
                <a:solidFill>
                  <a:srgbClr val="CC00CC"/>
                </a:solidFill>
                <a:latin typeface="Times New Roman"/>
                <a:ea typeface="Times New Roman"/>
                <a:cs typeface="Times New Roman"/>
                <a:sym typeface="Times New Roman"/>
              </a:rPr>
              <a:t> SEM-I</a:t>
            </a:r>
            <a:endParaRPr b="0" i="0" sz="2800" u="none" cap="none" strike="noStrike">
              <a:solidFill>
                <a:schemeClr val="dk1"/>
              </a:solidFill>
              <a:latin typeface="Times New Roman"/>
              <a:ea typeface="Times New Roman"/>
              <a:cs typeface="Times New Roman"/>
              <a:sym typeface="Times New Roman"/>
            </a:endParaRPr>
          </a:p>
        </p:txBody>
      </p:sp>
      <p:sp>
        <p:nvSpPr>
          <p:cNvPr id="113" name="Google Shape;113;p1"/>
          <p:cNvSpPr txBox="1"/>
          <p:nvPr/>
        </p:nvSpPr>
        <p:spPr>
          <a:xfrm>
            <a:off x="1305725" y="3929075"/>
            <a:ext cx="9954300" cy="1934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3000">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3000">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rPr b="0" i="0" lang="en-US" sz="3000" u="none" cap="none" strike="noStrike">
                <a:solidFill>
                  <a:srgbClr val="FF0000"/>
                </a:solidFill>
                <a:latin typeface="Times New Roman"/>
                <a:ea typeface="Times New Roman"/>
                <a:cs typeface="Times New Roman"/>
                <a:sym typeface="Times New Roman"/>
              </a:rPr>
              <a:t>Team Members</a:t>
            </a:r>
            <a:endParaRPr/>
          </a:p>
          <a:p>
            <a:pPr indent="0" lvl="0" marL="0" marR="0" rtl="0" algn="ctr">
              <a:spcBef>
                <a:spcPts val="0"/>
              </a:spcBef>
              <a:spcAft>
                <a:spcPts val="0"/>
              </a:spcAft>
              <a:buNone/>
            </a:pPr>
            <a:r>
              <a:rPr b="0" i="0" lang="en-US" sz="3000" u="none" cap="none" strike="noStrike">
                <a:solidFill>
                  <a:srgbClr val="FF0000"/>
                </a:solidFill>
                <a:latin typeface="Times New Roman"/>
                <a:ea typeface="Times New Roman"/>
                <a:cs typeface="Times New Roman"/>
                <a:sym typeface="Times New Roman"/>
              </a:rPr>
              <a:t>Dr. Rashmi S Nair ,Dr. Sharon Christa, Prof. Tushar Mane, </a:t>
            </a:r>
            <a:r>
              <a:rPr lang="en-US" sz="3000">
                <a:solidFill>
                  <a:srgbClr val="FF0000"/>
                </a:solidFill>
                <a:latin typeface="Times New Roman"/>
                <a:ea typeface="Times New Roman"/>
                <a:cs typeface="Times New Roman"/>
                <a:sym typeface="Times New Roman"/>
              </a:rPr>
              <a:t>Prof. Abhijeet Dinkar Cholke, Prof. Dr. Ram Kumar Kanhi Singh Solanki</a:t>
            </a:r>
            <a:endParaRPr sz="3000">
              <a:solidFill>
                <a:srgbClr val="FF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3000">
              <a:solidFill>
                <a:srgbClr val="FF0000"/>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0" i="0" sz="3000" u="none" cap="none" strike="noStrik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
          <p:cNvSpPr txBox="1"/>
          <p:nvPr>
            <p:ph idx="1" type="body"/>
          </p:nvPr>
        </p:nvSpPr>
        <p:spPr>
          <a:xfrm>
            <a:off x="299580" y="1337110"/>
            <a:ext cx="11725405" cy="4963482"/>
          </a:xfrm>
          <a:prstGeom prst="rect">
            <a:avLst/>
          </a:prstGeom>
          <a:noFill/>
          <a:ln>
            <a:noFill/>
          </a:ln>
        </p:spPr>
        <p:txBody>
          <a:bodyPr anchorCtr="0" anchor="t" bIns="45700" lIns="91425" spcFirstLastPara="1" rIns="91425" wrap="square" tIns="45700">
            <a:normAutofit/>
          </a:bodyPr>
          <a:lstStyle/>
          <a:p>
            <a:pPr indent="0" lvl="0" marL="0" rtl="0" algn="just">
              <a:lnSpc>
                <a:spcPct val="120000"/>
              </a:lnSpc>
              <a:spcBef>
                <a:spcPts val="0"/>
              </a:spcBef>
              <a:spcAft>
                <a:spcPts val="0"/>
              </a:spcAft>
              <a:buClr>
                <a:schemeClr val="dk1"/>
              </a:buClr>
              <a:buSzPts val="3800"/>
              <a:buNone/>
            </a:pPr>
            <a:r>
              <a:rPr b="1" lang="en-US" sz="3800">
                <a:latin typeface="Times New Roman"/>
                <a:ea typeface="Times New Roman"/>
                <a:cs typeface="Times New Roman"/>
                <a:sym typeface="Times New Roman"/>
              </a:rPr>
              <a:t>Unit I – </a:t>
            </a:r>
            <a:r>
              <a:rPr b="0" i="0" lang="en-US" sz="2400" u="none" strike="noStrike">
                <a:solidFill>
                  <a:srgbClr val="000000"/>
                </a:solidFill>
                <a:highlight>
                  <a:srgbClr val="FFFFFF"/>
                </a:highlight>
                <a:latin typeface="Times New Roman"/>
                <a:ea typeface="Times New Roman"/>
                <a:cs typeface="Times New Roman"/>
                <a:sym typeface="Times New Roman"/>
              </a:rPr>
              <a:t>Scope of Parallel Computing, Parallel Programming Platforms: Implicit Parallelism, Trends in Microprocessor and Architectures, Limitations of Memory, System Performance, Dichotomy of Parallel Computing Platforms, Physical Organization of Parallel Platforms, Communication Costs in Parallel Machines, Scalable design principles, Parallel architectures: superscalar architectures, multi-core, multi-threaded, server and cloud Levels and model of parallelism: instruction, transaction, task, thread, memory, function, data flow models, demand-driven computation</a:t>
            </a:r>
            <a:endParaRPr sz="2400">
              <a:latin typeface="Times New Roman"/>
              <a:ea typeface="Times New Roman"/>
              <a:cs typeface="Times New Roman"/>
              <a:sym typeface="Times New Roman"/>
            </a:endParaRPr>
          </a:p>
        </p:txBody>
      </p:sp>
      <p:sp>
        <p:nvSpPr>
          <p:cNvPr id="119" name="Google Shape;119;p2"/>
          <p:cNvSpPr txBox="1"/>
          <p:nvPr>
            <p:ph type="title"/>
          </p:nvPr>
        </p:nvSpPr>
        <p:spPr>
          <a:xfrm>
            <a:off x="904482" y="11547"/>
            <a:ext cx="10515600" cy="1325563"/>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FF0000"/>
              </a:buClr>
              <a:buSzPts val="3600"/>
              <a:buFont typeface="Times New Roman"/>
              <a:buNone/>
            </a:pPr>
            <a:r>
              <a:rPr b="0" i="0" lang="en-US" sz="3600" u="none" cap="none" strike="noStrike">
                <a:solidFill>
                  <a:srgbClr val="FF0000"/>
                </a:solidFill>
                <a:latin typeface="Times New Roman"/>
                <a:ea typeface="Times New Roman"/>
                <a:cs typeface="Times New Roman"/>
                <a:sym typeface="Times New Roman"/>
              </a:rPr>
              <a:t>Unit I - Syllabus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29" name="Google Shape;12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Roadmap</a:t>
            </a:r>
            <a:endParaRPr/>
          </a:p>
        </p:txBody>
      </p:sp>
      <p:sp>
        <p:nvSpPr>
          <p:cNvPr id="130" name="Google Shape;130;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Why we need ever-increasing performance.</a:t>
            </a:r>
            <a:endParaRPr/>
          </a:p>
          <a:p>
            <a:pPr indent="-228600" lvl="0" marL="228600" rtl="0" algn="l">
              <a:lnSpc>
                <a:spcPct val="90000"/>
              </a:lnSpc>
              <a:spcBef>
                <a:spcPts val="1000"/>
              </a:spcBef>
              <a:spcAft>
                <a:spcPts val="0"/>
              </a:spcAft>
              <a:buClr>
                <a:schemeClr val="dk1"/>
              </a:buClr>
              <a:buSzPts val="2800"/>
              <a:buChar char="•"/>
            </a:pPr>
            <a:r>
              <a:rPr lang="en-US" sz="2800"/>
              <a:t>Why we’re building parallel systems.</a:t>
            </a:r>
            <a:endParaRPr/>
          </a:p>
          <a:p>
            <a:pPr indent="-228600" lvl="0" marL="228600" rtl="0" algn="l">
              <a:lnSpc>
                <a:spcPct val="90000"/>
              </a:lnSpc>
              <a:spcBef>
                <a:spcPts val="1000"/>
              </a:spcBef>
              <a:spcAft>
                <a:spcPts val="0"/>
              </a:spcAft>
              <a:buClr>
                <a:schemeClr val="dk1"/>
              </a:buClr>
              <a:buSzPts val="2800"/>
              <a:buChar char="•"/>
            </a:pPr>
            <a:r>
              <a:rPr lang="en-US" sz="2800"/>
              <a:t>Why we need to write parallel programs.</a:t>
            </a:r>
            <a:endParaRPr/>
          </a:p>
          <a:p>
            <a:pPr indent="-228600" lvl="0" marL="228600" rtl="0" algn="l">
              <a:lnSpc>
                <a:spcPct val="90000"/>
              </a:lnSpc>
              <a:spcBef>
                <a:spcPts val="1000"/>
              </a:spcBef>
              <a:spcAft>
                <a:spcPts val="0"/>
              </a:spcAft>
              <a:buClr>
                <a:schemeClr val="dk1"/>
              </a:buClr>
              <a:buSzPts val="2800"/>
              <a:buChar char="•"/>
            </a:pPr>
            <a:r>
              <a:rPr lang="en-US" sz="2800"/>
              <a:t>How do we write parallel programs?</a:t>
            </a:r>
            <a:endParaRPr/>
          </a:p>
          <a:p>
            <a:pPr indent="-228600" lvl="0" marL="228600" rtl="0" algn="l">
              <a:lnSpc>
                <a:spcPct val="90000"/>
              </a:lnSpc>
              <a:spcBef>
                <a:spcPts val="1000"/>
              </a:spcBef>
              <a:spcAft>
                <a:spcPts val="0"/>
              </a:spcAft>
              <a:buClr>
                <a:schemeClr val="dk1"/>
              </a:buClr>
              <a:buSzPts val="2800"/>
              <a:buChar char="•"/>
            </a:pPr>
            <a:r>
              <a:rPr lang="en-US" sz="2800"/>
              <a:t>What we’ll be doing.</a:t>
            </a:r>
            <a:endParaRPr/>
          </a:p>
          <a:p>
            <a:pPr indent="-228600" lvl="0" marL="228600" rtl="0" algn="l">
              <a:lnSpc>
                <a:spcPct val="90000"/>
              </a:lnSpc>
              <a:spcBef>
                <a:spcPts val="1000"/>
              </a:spcBef>
              <a:spcAft>
                <a:spcPts val="0"/>
              </a:spcAft>
              <a:buClr>
                <a:schemeClr val="dk1"/>
              </a:buClr>
              <a:buSzPts val="2800"/>
              <a:buChar char="•"/>
            </a:pPr>
            <a:r>
              <a:rPr lang="en-US" sz="2800"/>
              <a:t>Concurrent, parallel, distributed!</a:t>
            </a:r>
            <a:endParaRPr/>
          </a:p>
          <a:p>
            <a:pPr indent="-50800" lvl="0" marL="228600" rtl="0" algn="l">
              <a:lnSpc>
                <a:spcPct val="90000"/>
              </a:lnSpc>
              <a:spcBef>
                <a:spcPts val="1000"/>
              </a:spcBef>
              <a:spcAft>
                <a:spcPts val="0"/>
              </a:spcAft>
              <a:buClr>
                <a:schemeClr val="dk1"/>
              </a:buClr>
              <a:buSzPts val="2800"/>
              <a:buNone/>
            </a:pPr>
            <a:r>
              <a:t/>
            </a:r>
            <a:endParaRPr sz="2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Changing times</a:t>
            </a:r>
            <a:endParaRPr/>
          </a:p>
        </p:txBody>
      </p:sp>
      <p:sp>
        <p:nvSpPr>
          <p:cNvPr id="136" name="Google Shape;136;p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EGYLQZJJ\MC900281085[1].wmf" id="137" name="Google Shape;137;p4"/>
          <p:cNvPicPr preferRelativeResize="0"/>
          <p:nvPr/>
        </p:nvPicPr>
        <p:blipFill rotWithShape="1">
          <a:blip r:embed="rId3">
            <a:alphaModFix/>
          </a:blip>
          <a:srcRect b="0" l="0" r="0" t="0"/>
          <a:stretch/>
        </p:blipFill>
        <p:spPr>
          <a:xfrm>
            <a:off x="8256589" y="3789363"/>
            <a:ext cx="2168525" cy="2360612"/>
          </a:xfrm>
          <a:prstGeom prst="rect">
            <a:avLst/>
          </a:prstGeom>
          <a:noFill/>
          <a:ln>
            <a:noFill/>
          </a:ln>
        </p:spPr>
      </p:pic>
      <p:sp>
        <p:nvSpPr>
          <p:cNvPr id="138" name="Google Shape;138;p4"/>
          <p:cNvSpPr txBox="1"/>
          <p:nvPr>
            <p:ph idx="1" type="body"/>
          </p:nvPr>
        </p:nvSpPr>
        <p:spPr>
          <a:xfrm>
            <a:off x="2063751" y="1690687"/>
            <a:ext cx="8270875" cy="44021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From 1986 – 2002, microprocessors were speeding like a rocket, increasing in performance an average of 50% per year.</a:t>
            </a:r>
            <a:br>
              <a:rPr lang="en-US"/>
            </a:br>
            <a:endParaRPr/>
          </a:p>
          <a:p>
            <a:pPr indent="-228600" lvl="0" marL="228600" rtl="0" algn="l">
              <a:lnSpc>
                <a:spcPct val="90000"/>
              </a:lnSpc>
              <a:spcBef>
                <a:spcPts val="1000"/>
              </a:spcBef>
              <a:spcAft>
                <a:spcPts val="0"/>
              </a:spcAft>
              <a:buClr>
                <a:schemeClr val="dk1"/>
              </a:buClr>
              <a:buSzPts val="2800"/>
              <a:buChar char="•"/>
            </a:pPr>
            <a:r>
              <a:rPr lang="en-US"/>
              <a:t>Since then, it’s dropped to about 20% increase per year.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 intelligent solution</a:t>
            </a:r>
            <a:endParaRPr/>
          </a:p>
        </p:txBody>
      </p:sp>
      <p:sp>
        <p:nvSpPr>
          <p:cNvPr id="144" name="Google Shape;144;p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5" name="Google Shape;14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Instead of designing and building faster microprocessors, put </a:t>
            </a:r>
            <a:r>
              <a:rPr lang="en-US" u="sng"/>
              <a:t>multiple </a:t>
            </a:r>
            <a:r>
              <a:rPr lang="en-US"/>
              <a:t>processors on a single integrated circuit.</a:t>
            </a:r>
            <a:br>
              <a:rPr lang="en-US"/>
            </a:b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C:\Documents and Settings\liszka\Local Settings\Temporary Internet Files\Content.IE5\60RV4HYO\MC900250279[1].wmf" id="146" name="Google Shape;146;p5"/>
          <p:cNvPicPr preferRelativeResize="0"/>
          <p:nvPr/>
        </p:nvPicPr>
        <p:blipFill rotWithShape="1">
          <a:blip r:embed="rId3">
            <a:alphaModFix/>
          </a:blip>
          <a:srcRect b="0" l="0" r="0" t="0"/>
          <a:stretch/>
        </p:blipFill>
        <p:spPr>
          <a:xfrm>
            <a:off x="2424114" y="4508500"/>
            <a:ext cx="1533525" cy="1054100"/>
          </a:xfrm>
          <a:prstGeom prst="rect">
            <a:avLst/>
          </a:prstGeom>
          <a:noFill/>
          <a:ln>
            <a:noFill/>
          </a:ln>
        </p:spPr>
      </p:pic>
      <p:pic>
        <p:nvPicPr>
          <p:cNvPr descr="C:\Documents and Settings\liszka\Local Settings\Temporary Internet Files\Content.IE5\60RV4HYO\MC900250279[1].wmf" id="147" name="Google Shape;147;p5"/>
          <p:cNvPicPr preferRelativeResize="0"/>
          <p:nvPr/>
        </p:nvPicPr>
        <p:blipFill rotWithShape="1">
          <a:blip r:embed="rId3">
            <a:alphaModFix/>
          </a:blip>
          <a:srcRect b="0" l="0" r="0" t="0"/>
          <a:stretch/>
        </p:blipFill>
        <p:spPr>
          <a:xfrm>
            <a:off x="4295776" y="4005263"/>
            <a:ext cx="1533525" cy="1054100"/>
          </a:xfrm>
          <a:prstGeom prst="rect">
            <a:avLst/>
          </a:prstGeom>
          <a:noFill/>
          <a:ln>
            <a:noFill/>
          </a:ln>
        </p:spPr>
      </p:pic>
      <p:pic>
        <p:nvPicPr>
          <p:cNvPr descr="C:\Documents and Settings\liszka\Local Settings\Temporary Internet Files\Content.IE5\60RV4HYO\MC900250279[1].wmf" id="148" name="Google Shape;148;p5"/>
          <p:cNvPicPr preferRelativeResize="0"/>
          <p:nvPr/>
        </p:nvPicPr>
        <p:blipFill rotWithShape="1">
          <a:blip r:embed="rId3">
            <a:alphaModFix/>
          </a:blip>
          <a:srcRect b="0" l="0" r="0" t="0"/>
          <a:stretch/>
        </p:blipFill>
        <p:spPr>
          <a:xfrm>
            <a:off x="5448301" y="5013325"/>
            <a:ext cx="1533525" cy="1054100"/>
          </a:xfrm>
          <a:prstGeom prst="rect">
            <a:avLst/>
          </a:prstGeom>
          <a:noFill/>
          <a:ln>
            <a:noFill/>
          </a:ln>
        </p:spPr>
      </p:pic>
      <p:pic>
        <p:nvPicPr>
          <p:cNvPr descr="C:\Documents and Settings\liszka\Local Settings\Temporary Internet Files\Content.IE5\60RV4HYO\MC900250279[1].wmf" id="149" name="Google Shape;149;p5"/>
          <p:cNvPicPr preferRelativeResize="0"/>
          <p:nvPr/>
        </p:nvPicPr>
        <p:blipFill rotWithShape="1">
          <a:blip r:embed="rId3">
            <a:alphaModFix/>
          </a:blip>
          <a:srcRect b="0" l="0" r="0" t="0"/>
          <a:stretch/>
        </p:blipFill>
        <p:spPr>
          <a:xfrm>
            <a:off x="6743701" y="4005263"/>
            <a:ext cx="1533525" cy="1054100"/>
          </a:xfrm>
          <a:prstGeom prst="rect">
            <a:avLst/>
          </a:prstGeom>
          <a:noFill/>
          <a:ln>
            <a:noFill/>
          </a:ln>
        </p:spPr>
      </p:pic>
      <p:pic>
        <p:nvPicPr>
          <p:cNvPr descr="C:\Documents and Settings\liszka\Local Settings\Temporary Internet Files\Content.IE5\60RV4HYO\MC900250279[1].wmf" id="150" name="Google Shape;150;p5"/>
          <p:cNvPicPr preferRelativeResize="0"/>
          <p:nvPr/>
        </p:nvPicPr>
        <p:blipFill rotWithShape="1">
          <a:blip r:embed="rId3">
            <a:alphaModFix/>
          </a:blip>
          <a:srcRect b="0" l="0" r="0" t="0"/>
          <a:stretch/>
        </p:blipFill>
        <p:spPr>
          <a:xfrm>
            <a:off x="8256589" y="4868863"/>
            <a:ext cx="1533525" cy="1054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Now it’s up to the programmers</a:t>
            </a:r>
            <a:endParaRPr/>
          </a:p>
        </p:txBody>
      </p:sp>
      <p:sp>
        <p:nvSpPr>
          <p:cNvPr id="156" name="Google Shape;156;p6"/>
          <p:cNvSpPr txBox="1"/>
          <p:nvPr>
            <p:ph idx="1" type="body"/>
          </p:nvPr>
        </p:nvSpPr>
        <p:spPr>
          <a:xfrm>
            <a:off x="2208214" y="1786269"/>
            <a:ext cx="8270875" cy="43065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Adding more processors doesn’t help much if programmers aren’t aware of them…</a:t>
            </a:r>
            <a:endParaRPr/>
          </a:p>
          <a:p>
            <a:pPr indent="-228600" lvl="0" marL="228600" rtl="0" algn="l">
              <a:lnSpc>
                <a:spcPct val="90000"/>
              </a:lnSpc>
              <a:spcBef>
                <a:spcPts val="1000"/>
              </a:spcBef>
              <a:spcAft>
                <a:spcPts val="0"/>
              </a:spcAft>
              <a:buClr>
                <a:schemeClr val="dk1"/>
              </a:buClr>
              <a:buSzPts val="2800"/>
              <a:buChar char="•"/>
            </a:pPr>
            <a:r>
              <a:rPr lang="en-US"/>
              <a:t>… or don’t know how to use them.</a:t>
            </a:r>
            <a:br>
              <a:rPr lang="en-US"/>
            </a:br>
            <a:endParaRPr/>
          </a:p>
          <a:p>
            <a:pPr indent="-228600" lvl="0" marL="228600" rtl="0" algn="l">
              <a:lnSpc>
                <a:spcPct val="90000"/>
              </a:lnSpc>
              <a:spcBef>
                <a:spcPts val="1000"/>
              </a:spcBef>
              <a:spcAft>
                <a:spcPts val="0"/>
              </a:spcAft>
              <a:buClr>
                <a:schemeClr val="dk1"/>
              </a:buClr>
              <a:buSzPts val="2800"/>
              <a:buChar char="•"/>
            </a:pPr>
            <a:r>
              <a:rPr lang="en-US"/>
              <a:t>Serial programs don’t benefit from this approach (in most cases).</a:t>
            </a:r>
            <a:endParaRPr/>
          </a:p>
        </p:txBody>
      </p:sp>
      <p:sp>
        <p:nvSpPr>
          <p:cNvPr id="157" name="Google Shape;157;p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Program Files\Microsoft Office\MEDIA\CAGCAT10\j0195384.wmf" id="158" name="Google Shape;158;p6"/>
          <p:cNvPicPr preferRelativeResize="0"/>
          <p:nvPr/>
        </p:nvPicPr>
        <p:blipFill rotWithShape="1">
          <a:blip r:embed="rId3">
            <a:alphaModFix/>
          </a:blip>
          <a:srcRect b="0" l="0" r="0" t="0"/>
          <a:stretch/>
        </p:blipFill>
        <p:spPr>
          <a:xfrm>
            <a:off x="8688388" y="4365626"/>
            <a:ext cx="1795462" cy="18335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1242054" y="233363"/>
            <a:ext cx="8281987"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we need ever-increasing performance</a:t>
            </a:r>
            <a:endParaRPr/>
          </a:p>
        </p:txBody>
      </p:sp>
      <p:sp>
        <p:nvSpPr>
          <p:cNvPr id="164" name="Google Shape;164;p7"/>
          <p:cNvSpPr txBox="1"/>
          <p:nvPr>
            <p:ph idx="1" type="body"/>
          </p:nvPr>
        </p:nvSpPr>
        <p:spPr>
          <a:xfrm>
            <a:off x="1095154" y="1913860"/>
            <a:ext cx="9383936" cy="432342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Computational power is increasing, but so are our computation problems and needs.</a:t>
            </a:r>
            <a:endParaRPr/>
          </a:p>
          <a:p>
            <a:pPr indent="-228600" lvl="0" marL="228600" rtl="0" algn="l">
              <a:lnSpc>
                <a:spcPct val="90000"/>
              </a:lnSpc>
              <a:spcBef>
                <a:spcPts val="1000"/>
              </a:spcBef>
              <a:spcAft>
                <a:spcPts val="0"/>
              </a:spcAft>
              <a:buClr>
                <a:schemeClr val="dk1"/>
              </a:buClr>
              <a:buSzPts val="2800"/>
              <a:buChar char="•"/>
            </a:pPr>
            <a:r>
              <a:rPr lang="en-US"/>
              <a:t>Problems we never dreamed of have been solved because of past increases, such as decoding the human genome.</a:t>
            </a:r>
            <a:endParaRPr/>
          </a:p>
          <a:p>
            <a:pPr indent="-228600" lvl="0" marL="228600" rtl="0" algn="l">
              <a:lnSpc>
                <a:spcPct val="90000"/>
              </a:lnSpc>
              <a:spcBef>
                <a:spcPts val="1000"/>
              </a:spcBef>
              <a:spcAft>
                <a:spcPts val="0"/>
              </a:spcAft>
              <a:buClr>
                <a:schemeClr val="dk1"/>
              </a:buClr>
              <a:buSzPts val="2800"/>
              <a:buChar char="•"/>
            </a:pPr>
            <a:r>
              <a:rPr lang="en-US"/>
              <a:t>More complex problems are still waiting to be solved.</a:t>
            </a:r>
            <a:endParaRPr/>
          </a:p>
        </p:txBody>
      </p:sp>
      <p:sp>
        <p:nvSpPr>
          <p:cNvPr id="165" name="Google Shape;165;p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Climate modeling</a:t>
            </a:r>
            <a:endParaRPr/>
          </a:p>
        </p:txBody>
      </p:sp>
      <p:sp>
        <p:nvSpPr>
          <p:cNvPr id="171" name="Google Shape;171;p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0AVCOKV0\MP910218826[1].jpg" id="172" name="Google Shape;172;p8"/>
          <p:cNvPicPr preferRelativeResize="0"/>
          <p:nvPr/>
        </p:nvPicPr>
        <p:blipFill rotWithShape="1">
          <a:blip r:embed="rId3">
            <a:alphaModFix/>
          </a:blip>
          <a:srcRect b="0" l="0" r="0" t="0"/>
          <a:stretch/>
        </p:blipFill>
        <p:spPr>
          <a:xfrm>
            <a:off x="2895600" y="1786269"/>
            <a:ext cx="6400800" cy="37795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Protein folding</a:t>
            </a:r>
            <a:endParaRPr/>
          </a:p>
        </p:txBody>
      </p:sp>
      <p:sp>
        <p:nvSpPr>
          <p:cNvPr id="178" name="Google Shape;178;p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179" name="Google Shape;179;p9"/>
          <p:cNvPicPr preferRelativeResize="0"/>
          <p:nvPr/>
        </p:nvPicPr>
        <p:blipFill rotWithShape="1">
          <a:blip r:embed="rId3">
            <a:alphaModFix/>
          </a:blip>
          <a:srcRect b="0" l="0" r="0" t="0"/>
          <a:stretch/>
        </p:blipFill>
        <p:spPr>
          <a:xfrm>
            <a:off x="2495550" y="1484314"/>
            <a:ext cx="6872288" cy="32400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Drug discovery</a:t>
            </a:r>
            <a:endParaRPr/>
          </a:p>
        </p:txBody>
      </p:sp>
      <p:sp>
        <p:nvSpPr>
          <p:cNvPr id="185" name="Google Shape;185;p1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Q7HGDQRM\MP910221052[1].jpg" id="186" name="Google Shape;186;p10"/>
          <p:cNvPicPr preferRelativeResize="0"/>
          <p:nvPr/>
        </p:nvPicPr>
        <p:blipFill rotWithShape="1">
          <a:blip r:embed="rId3">
            <a:alphaModFix/>
          </a:blip>
          <a:srcRect b="0" l="0" r="0" t="0"/>
          <a:stretch/>
        </p:blipFill>
        <p:spPr>
          <a:xfrm>
            <a:off x="6959600" y="1014414"/>
            <a:ext cx="3168650" cy="4764087"/>
          </a:xfrm>
          <a:prstGeom prst="rect">
            <a:avLst/>
          </a:prstGeom>
          <a:noFill/>
          <a:ln>
            <a:noFill/>
          </a:ln>
        </p:spPr>
      </p:pic>
      <p:pic>
        <p:nvPicPr>
          <p:cNvPr descr="C:\Documents and Settings\liszka\Local Settings\Temporary Internet Files\Content.IE5\5W39ONER\MP900178842[1].jpg" id="187" name="Google Shape;187;p10"/>
          <p:cNvPicPr preferRelativeResize="0"/>
          <p:nvPr/>
        </p:nvPicPr>
        <p:blipFill rotWithShape="1">
          <a:blip r:embed="rId4">
            <a:alphaModFix/>
          </a:blip>
          <a:srcRect b="0" l="0" r="0" t="0"/>
          <a:stretch/>
        </p:blipFill>
        <p:spPr>
          <a:xfrm>
            <a:off x="2424114" y="2060575"/>
            <a:ext cx="4086225" cy="27384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Energy research</a:t>
            </a:r>
            <a:endParaRPr/>
          </a:p>
        </p:txBody>
      </p:sp>
      <p:sp>
        <p:nvSpPr>
          <p:cNvPr id="193" name="Google Shape;193;p1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5W39ONER\MP900437180[1].jpg" id="194" name="Google Shape;194;p11"/>
          <p:cNvPicPr preferRelativeResize="0"/>
          <p:nvPr/>
        </p:nvPicPr>
        <p:blipFill rotWithShape="1">
          <a:blip r:embed="rId3">
            <a:alphaModFix/>
          </a:blip>
          <a:srcRect b="0" l="0" r="0" t="0"/>
          <a:stretch/>
        </p:blipFill>
        <p:spPr>
          <a:xfrm>
            <a:off x="6743700" y="1616149"/>
            <a:ext cx="3168650" cy="4116314"/>
          </a:xfrm>
          <a:prstGeom prst="rect">
            <a:avLst/>
          </a:prstGeom>
          <a:noFill/>
          <a:ln>
            <a:noFill/>
          </a:ln>
        </p:spPr>
      </p:pic>
      <p:pic>
        <p:nvPicPr>
          <p:cNvPr descr="C:\Documents and Settings\liszka\Local Settings\Temporary Internet Files\Content.IE5\Q7HGDQRM\MP900437387[1].jpg" id="195" name="Google Shape;195;p11"/>
          <p:cNvPicPr preferRelativeResize="0"/>
          <p:nvPr/>
        </p:nvPicPr>
        <p:blipFill rotWithShape="1">
          <a:blip r:embed="rId4">
            <a:alphaModFix/>
          </a:blip>
          <a:srcRect b="0" l="0" r="0" t="0"/>
          <a:stretch/>
        </p:blipFill>
        <p:spPr>
          <a:xfrm>
            <a:off x="2855914" y="1616149"/>
            <a:ext cx="3132137" cy="40766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analysis</a:t>
            </a:r>
            <a:endParaRPr/>
          </a:p>
        </p:txBody>
      </p:sp>
      <p:sp>
        <p:nvSpPr>
          <p:cNvPr id="201" name="Google Shape;201;p1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5W39ONER\MP900309271[1].jpg" id="202" name="Google Shape;202;p12"/>
          <p:cNvPicPr preferRelativeResize="0"/>
          <p:nvPr/>
        </p:nvPicPr>
        <p:blipFill rotWithShape="1">
          <a:blip r:embed="rId3">
            <a:alphaModFix/>
          </a:blip>
          <a:srcRect b="0" l="0" r="0" t="0"/>
          <a:stretch/>
        </p:blipFill>
        <p:spPr>
          <a:xfrm>
            <a:off x="7719866" y="1193800"/>
            <a:ext cx="2427287" cy="3657600"/>
          </a:xfrm>
          <a:prstGeom prst="rect">
            <a:avLst/>
          </a:prstGeom>
          <a:noFill/>
          <a:ln>
            <a:noFill/>
          </a:ln>
        </p:spPr>
      </p:pic>
      <p:pic>
        <p:nvPicPr>
          <p:cNvPr descr="C:\Documents and Settings\liszka\Local Settings\Temporary Internet Files\Content.IE5\3X5GU20H\MP900399836[1].jpg" id="203" name="Google Shape;203;p12"/>
          <p:cNvPicPr preferRelativeResize="0"/>
          <p:nvPr/>
        </p:nvPicPr>
        <p:blipFill rotWithShape="1">
          <a:blip r:embed="rId4">
            <a:alphaModFix/>
          </a:blip>
          <a:srcRect b="0" l="0" r="0" t="0"/>
          <a:stretch/>
        </p:blipFill>
        <p:spPr>
          <a:xfrm>
            <a:off x="2103291" y="1554164"/>
            <a:ext cx="3121025" cy="3121025"/>
          </a:xfrm>
          <a:prstGeom prst="rect">
            <a:avLst/>
          </a:prstGeom>
          <a:noFill/>
          <a:ln>
            <a:noFill/>
          </a:ln>
        </p:spPr>
      </p:pic>
      <p:pic>
        <p:nvPicPr>
          <p:cNvPr descr="C:\Documents and Settings\liszka\Local Settings\Temporary Internet Files\Content.IE5\1G3WK4XC\MP900400426[1].jpg" id="204" name="Google Shape;204;p12"/>
          <p:cNvPicPr preferRelativeResize="0"/>
          <p:nvPr/>
        </p:nvPicPr>
        <p:blipFill rotWithShape="1">
          <a:blip r:embed="rId5">
            <a:alphaModFix/>
          </a:blip>
          <a:srcRect b="0" l="0" r="0" t="0"/>
          <a:stretch/>
        </p:blipFill>
        <p:spPr>
          <a:xfrm>
            <a:off x="4335315" y="2655888"/>
            <a:ext cx="3744912" cy="37004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3"/>
          <p:cNvSpPr txBox="1"/>
          <p:nvPr>
            <p:ph type="title"/>
          </p:nvPr>
        </p:nvSpPr>
        <p:spPr>
          <a:xfrm>
            <a:off x="1084522" y="245270"/>
            <a:ext cx="8281987"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we’re building parallel systems</a:t>
            </a:r>
            <a:endParaRPr/>
          </a:p>
        </p:txBody>
      </p:sp>
      <p:sp>
        <p:nvSpPr>
          <p:cNvPr id="210" name="Google Shape;210;p13"/>
          <p:cNvSpPr txBox="1"/>
          <p:nvPr>
            <p:ph idx="1" type="body"/>
          </p:nvPr>
        </p:nvSpPr>
        <p:spPr>
          <a:xfrm>
            <a:off x="1084522" y="1628776"/>
            <a:ext cx="9394568"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Up to now, performance increases have been attributable to increasing density of transistors.</a:t>
            </a:r>
            <a:br>
              <a:rPr lang="en-US"/>
            </a:br>
            <a:endParaRPr/>
          </a:p>
          <a:p>
            <a:pPr indent="-228600" lvl="0" marL="228600" rtl="0" algn="l">
              <a:lnSpc>
                <a:spcPct val="90000"/>
              </a:lnSpc>
              <a:spcBef>
                <a:spcPts val="1000"/>
              </a:spcBef>
              <a:spcAft>
                <a:spcPts val="0"/>
              </a:spcAft>
              <a:buClr>
                <a:schemeClr val="dk1"/>
              </a:buClr>
              <a:buSzPts val="2800"/>
              <a:buChar char="•"/>
            </a:pPr>
            <a:r>
              <a:rPr lang="en-US"/>
              <a:t>But there are</a:t>
            </a:r>
            <a:br>
              <a:rPr lang="en-US"/>
            </a:br>
            <a:r>
              <a:rPr lang="en-US"/>
              <a:t>inherent </a:t>
            </a:r>
            <a:br>
              <a:rPr lang="en-US"/>
            </a:br>
            <a:r>
              <a:rPr lang="en-US"/>
              <a:t>problems.</a:t>
            </a:r>
            <a:endParaRPr/>
          </a:p>
        </p:txBody>
      </p:sp>
      <p:sp>
        <p:nvSpPr>
          <p:cNvPr id="211" name="Google Shape;211;p1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212" name="Google Shape;212;p13"/>
          <p:cNvPicPr preferRelativeResize="0"/>
          <p:nvPr/>
        </p:nvPicPr>
        <p:blipFill rotWithShape="1">
          <a:blip r:embed="rId3">
            <a:alphaModFix/>
          </a:blip>
          <a:srcRect b="0" l="0" r="0" t="0"/>
          <a:stretch/>
        </p:blipFill>
        <p:spPr>
          <a:xfrm>
            <a:off x="6383339" y="2997201"/>
            <a:ext cx="3781425" cy="289401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 little physics lesson</a:t>
            </a:r>
            <a:endParaRPr/>
          </a:p>
        </p:txBody>
      </p:sp>
      <p:sp>
        <p:nvSpPr>
          <p:cNvPr id="218" name="Google Shape;218;p14"/>
          <p:cNvSpPr txBox="1"/>
          <p:nvPr>
            <p:ph idx="1" type="body"/>
          </p:nvPr>
        </p:nvSpPr>
        <p:spPr>
          <a:xfrm>
            <a:off x="944342" y="1963405"/>
            <a:ext cx="8270875" cy="383732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Smaller transistors = faster processors.</a:t>
            </a:r>
            <a:endParaRPr/>
          </a:p>
          <a:p>
            <a:pPr indent="-228600" lvl="0" marL="228600" rtl="0" algn="l">
              <a:lnSpc>
                <a:spcPct val="90000"/>
              </a:lnSpc>
              <a:spcBef>
                <a:spcPts val="1000"/>
              </a:spcBef>
              <a:spcAft>
                <a:spcPts val="0"/>
              </a:spcAft>
              <a:buClr>
                <a:schemeClr val="dk1"/>
              </a:buClr>
              <a:buSzPts val="2800"/>
              <a:buChar char="•"/>
            </a:pPr>
            <a:r>
              <a:rPr lang="en-US"/>
              <a:t>Faster processors = increased power consumption.</a:t>
            </a:r>
            <a:endParaRPr/>
          </a:p>
          <a:p>
            <a:pPr indent="-228600" lvl="0" marL="228600" rtl="0" algn="l">
              <a:lnSpc>
                <a:spcPct val="90000"/>
              </a:lnSpc>
              <a:spcBef>
                <a:spcPts val="1000"/>
              </a:spcBef>
              <a:spcAft>
                <a:spcPts val="0"/>
              </a:spcAft>
              <a:buClr>
                <a:schemeClr val="dk1"/>
              </a:buClr>
              <a:buSzPts val="2800"/>
              <a:buChar char="•"/>
            </a:pPr>
            <a:r>
              <a:rPr lang="en-US"/>
              <a:t>Increased power consumption = increased heat.</a:t>
            </a:r>
            <a:endParaRPr/>
          </a:p>
          <a:p>
            <a:pPr indent="-228600" lvl="0" marL="228600" rtl="0" algn="l">
              <a:lnSpc>
                <a:spcPct val="90000"/>
              </a:lnSpc>
              <a:spcBef>
                <a:spcPts val="1000"/>
              </a:spcBef>
              <a:spcAft>
                <a:spcPts val="0"/>
              </a:spcAft>
              <a:buClr>
                <a:schemeClr val="dk1"/>
              </a:buClr>
              <a:buSzPts val="2800"/>
              <a:buChar char="•"/>
            </a:pPr>
            <a:r>
              <a:rPr lang="en-US"/>
              <a:t>Increased heat = unreliable processors.</a:t>
            </a:r>
            <a:endParaRPr/>
          </a:p>
        </p:txBody>
      </p:sp>
      <p:sp>
        <p:nvSpPr>
          <p:cNvPr id="219" name="Google Shape;219;p1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1G3WK4XC\MC900241091[1].wmf" id="220" name="Google Shape;220;p14"/>
          <p:cNvPicPr preferRelativeResize="0"/>
          <p:nvPr/>
        </p:nvPicPr>
        <p:blipFill rotWithShape="1">
          <a:blip r:embed="rId3">
            <a:alphaModFix/>
          </a:blip>
          <a:srcRect b="0" l="0" r="0" t="0"/>
          <a:stretch/>
        </p:blipFill>
        <p:spPr>
          <a:xfrm>
            <a:off x="8832851" y="260350"/>
            <a:ext cx="912813" cy="9096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Solution </a:t>
            </a:r>
            <a:endParaRPr/>
          </a:p>
        </p:txBody>
      </p:sp>
      <p:sp>
        <p:nvSpPr>
          <p:cNvPr id="226" name="Google Shape;226;p15"/>
          <p:cNvSpPr txBox="1"/>
          <p:nvPr>
            <p:ph idx="1" type="body"/>
          </p:nvPr>
        </p:nvSpPr>
        <p:spPr>
          <a:xfrm>
            <a:off x="2208214" y="1488558"/>
            <a:ext cx="8270875" cy="25881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Move away from single-core systems to multicore processors.</a:t>
            </a:r>
            <a:endParaRPr/>
          </a:p>
          <a:p>
            <a:pPr indent="-228600" lvl="0" marL="228600" rtl="0" algn="l">
              <a:lnSpc>
                <a:spcPct val="90000"/>
              </a:lnSpc>
              <a:spcBef>
                <a:spcPts val="1000"/>
              </a:spcBef>
              <a:spcAft>
                <a:spcPts val="0"/>
              </a:spcAft>
              <a:buClr>
                <a:schemeClr val="dk1"/>
              </a:buClr>
              <a:buSzPts val="2800"/>
              <a:buChar char="•"/>
            </a:pPr>
            <a:r>
              <a:rPr lang="en-US"/>
              <a:t>“core” = central processing unit (CPU)</a:t>
            </a:r>
            <a:br>
              <a:rPr lang="en-US"/>
            </a:br>
            <a:endParaRPr/>
          </a:p>
        </p:txBody>
      </p:sp>
      <p:sp>
        <p:nvSpPr>
          <p:cNvPr id="227" name="Google Shape;227;p1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3X5GU20H\MP900400972[1].jpg" id="228" name="Google Shape;228;p15"/>
          <p:cNvPicPr preferRelativeResize="0"/>
          <p:nvPr/>
        </p:nvPicPr>
        <p:blipFill rotWithShape="1">
          <a:blip r:embed="rId3">
            <a:alphaModFix/>
          </a:blip>
          <a:srcRect b="0" l="0" r="0" t="0"/>
          <a:stretch/>
        </p:blipFill>
        <p:spPr>
          <a:xfrm>
            <a:off x="2279650" y="2924176"/>
            <a:ext cx="2541588" cy="3178175"/>
          </a:xfrm>
          <a:prstGeom prst="rect">
            <a:avLst/>
          </a:prstGeom>
          <a:noFill/>
          <a:ln>
            <a:noFill/>
          </a:ln>
        </p:spPr>
      </p:pic>
      <p:sp>
        <p:nvSpPr>
          <p:cNvPr id="229" name="Google Shape;229;p15"/>
          <p:cNvSpPr txBox="1"/>
          <p:nvPr/>
        </p:nvSpPr>
        <p:spPr>
          <a:xfrm>
            <a:off x="5159376" y="4005263"/>
            <a:ext cx="5184775" cy="15113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33CC"/>
              </a:buClr>
              <a:buSzPts val="1920"/>
              <a:buFont typeface="Noto Sans Symbols"/>
              <a:buChar char="■"/>
            </a:pPr>
            <a:r>
              <a:rPr b="0" i="0" lang="en-US" sz="3200" u="none" cap="none" strike="noStrike">
                <a:solidFill>
                  <a:srgbClr val="003399"/>
                </a:solidFill>
                <a:latin typeface="Calibri"/>
                <a:ea typeface="Calibri"/>
                <a:cs typeface="Calibri"/>
                <a:sym typeface="Calibri"/>
              </a:rPr>
              <a:t>Introducing parallelism!!!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6"/>
          <p:cNvSpPr txBox="1"/>
          <p:nvPr>
            <p:ph type="title"/>
          </p:nvPr>
        </p:nvSpPr>
        <p:spPr>
          <a:xfrm>
            <a:off x="763589" y="397504"/>
            <a:ext cx="8281987"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Why we need to write parallel programs</a:t>
            </a:r>
            <a:endParaRPr/>
          </a:p>
        </p:txBody>
      </p:sp>
      <p:sp>
        <p:nvSpPr>
          <p:cNvPr id="235" name="Google Shape;235;p16"/>
          <p:cNvSpPr txBox="1"/>
          <p:nvPr>
            <p:ph idx="1" type="body"/>
          </p:nvPr>
        </p:nvSpPr>
        <p:spPr>
          <a:xfrm>
            <a:off x="1169582" y="2030819"/>
            <a:ext cx="9309508" cy="420647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Running multiple instances of a serial program often isn’t very useful.</a:t>
            </a:r>
            <a:endParaRPr/>
          </a:p>
          <a:p>
            <a:pPr indent="-228600" lvl="0" marL="228600" rtl="0" algn="l">
              <a:lnSpc>
                <a:spcPct val="90000"/>
              </a:lnSpc>
              <a:spcBef>
                <a:spcPts val="1000"/>
              </a:spcBef>
              <a:spcAft>
                <a:spcPts val="0"/>
              </a:spcAft>
              <a:buClr>
                <a:schemeClr val="dk1"/>
              </a:buClr>
              <a:buSzPts val="2800"/>
              <a:buChar char="•"/>
            </a:pPr>
            <a:r>
              <a:rPr lang="en-US"/>
              <a:t>Think of running multiple instances of your favorite game.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What you really want is for</a:t>
            </a:r>
            <a:br>
              <a:rPr lang="en-US"/>
            </a:br>
            <a:r>
              <a:rPr lang="en-US"/>
              <a:t>it to run faster.</a:t>
            </a:r>
            <a:endParaRPr/>
          </a:p>
        </p:txBody>
      </p:sp>
      <p:sp>
        <p:nvSpPr>
          <p:cNvPr id="236" name="Google Shape;236;p1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5W39ONER\MC900434783[1].png" id="237" name="Google Shape;237;p16"/>
          <p:cNvPicPr preferRelativeResize="0"/>
          <p:nvPr/>
        </p:nvPicPr>
        <p:blipFill rotWithShape="1">
          <a:blip r:embed="rId3">
            <a:alphaModFix/>
          </a:blip>
          <a:srcRect b="0" l="0" r="0" t="0"/>
          <a:stretch/>
        </p:blipFill>
        <p:spPr>
          <a:xfrm>
            <a:off x="7967663" y="3573463"/>
            <a:ext cx="1828800" cy="1828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Approaches to the serial problem</a:t>
            </a:r>
            <a:endParaRPr/>
          </a:p>
        </p:txBody>
      </p:sp>
      <p:sp>
        <p:nvSpPr>
          <p:cNvPr id="243" name="Google Shape;24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Rewrite serial programs so that they’re parallel.</a:t>
            </a:r>
            <a:br>
              <a:rPr lang="en-US"/>
            </a:br>
            <a:endParaRPr/>
          </a:p>
          <a:p>
            <a:pPr indent="-228600" lvl="0" marL="228600" rtl="0" algn="l">
              <a:lnSpc>
                <a:spcPct val="90000"/>
              </a:lnSpc>
              <a:spcBef>
                <a:spcPts val="1000"/>
              </a:spcBef>
              <a:spcAft>
                <a:spcPts val="0"/>
              </a:spcAft>
              <a:buClr>
                <a:schemeClr val="dk1"/>
              </a:buClr>
              <a:buSzPts val="2800"/>
              <a:buChar char="•"/>
            </a:pPr>
            <a:r>
              <a:rPr lang="en-US"/>
              <a:t>Write translation programs that automatically convert serial programs into parallel programs.</a:t>
            </a:r>
            <a:endParaRPr/>
          </a:p>
          <a:p>
            <a:pPr indent="-228600" lvl="1" marL="685800" rtl="0" algn="l">
              <a:lnSpc>
                <a:spcPct val="90000"/>
              </a:lnSpc>
              <a:spcBef>
                <a:spcPts val="500"/>
              </a:spcBef>
              <a:spcAft>
                <a:spcPts val="0"/>
              </a:spcAft>
              <a:buClr>
                <a:schemeClr val="dk1"/>
              </a:buClr>
              <a:buSzPts val="2400"/>
              <a:buChar char="•"/>
            </a:pPr>
            <a:r>
              <a:rPr lang="en-US"/>
              <a:t>This is very difficult to do.</a:t>
            </a:r>
            <a:endParaRPr/>
          </a:p>
          <a:p>
            <a:pPr indent="-228600" lvl="1" marL="685800" rtl="0" algn="l">
              <a:lnSpc>
                <a:spcPct val="90000"/>
              </a:lnSpc>
              <a:spcBef>
                <a:spcPts val="500"/>
              </a:spcBef>
              <a:spcAft>
                <a:spcPts val="0"/>
              </a:spcAft>
              <a:buClr>
                <a:schemeClr val="dk1"/>
              </a:buClr>
              <a:buSzPts val="2400"/>
              <a:buChar char="•"/>
            </a:pPr>
            <a:r>
              <a:rPr lang="en-US"/>
              <a:t>Success has been limited.</a:t>
            </a:r>
            <a:endParaRPr/>
          </a:p>
        </p:txBody>
      </p:sp>
      <p:sp>
        <p:nvSpPr>
          <p:cNvPr id="244" name="Google Shape;244;p1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problems</a:t>
            </a:r>
            <a:endParaRPr/>
          </a:p>
        </p:txBody>
      </p:sp>
      <p:sp>
        <p:nvSpPr>
          <p:cNvPr id="250" name="Google Shape;25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Some coding constructs can be recognized by an automatic program generator, and converted to a parallel construct.</a:t>
            </a:r>
            <a:endParaRPr/>
          </a:p>
          <a:p>
            <a:pPr indent="-228600" lvl="0" marL="228600" rtl="0" algn="l">
              <a:lnSpc>
                <a:spcPct val="90000"/>
              </a:lnSpc>
              <a:spcBef>
                <a:spcPts val="1000"/>
              </a:spcBef>
              <a:spcAft>
                <a:spcPts val="0"/>
              </a:spcAft>
              <a:buClr>
                <a:schemeClr val="dk1"/>
              </a:buClr>
              <a:buSzPts val="2800"/>
              <a:buChar char="•"/>
            </a:pPr>
            <a:r>
              <a:rPr lang="en-US"/>
              <a:t>However, it’s likely that the result will be a very inefficient program.</a:t>
            </a:r>
            <a:endParaRPr/>
          </a:p>
          <a:p>
            <a:pPr indent="-228600" lvl="0" marL="228600" rtl="0" algn="l">
              <a:lnSpc>
                <a:spcPct val="90000"/>
              </a:lnSpc>
              <a:spcBef>
                <a:spcPts val="1000"/>
              </a:spcBef>
              <a:spcAft>
                <a:spcPts val="0"/>
              </a:spcAft>
              <a:buClr>
                <a:schemeClr val="dk1"/>
              </a:buClr>
              <a:buSzPts val="2800"/>
              <a:buChar char="•"/>
            </a:pPr>
            <a:r>
              <a:rPr lang="en-US"/>
              <a:t>Sometimes the best parallel solution is to step back and devise an entirely new algorithm.</a:t>
            </a:r>
            <a:endParaRPr/>
          </a:p>
        </p:txBody>
      </p:sp>
      <p:sp>
        <p:nvSpPr>
          <p:cNvPr id="251" name="Google Shape;251;p1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sp>
        <p:nvSpPr>
          <p:cNvPr id="257" name="Google Shape;257;p19"/>
          <p:cNvSpPr txBox="1"/>
          <p:nvPr>
            <p:ph idx="1" type="body"/>
          </p:nvPr>
        </p:nvSpPr>
        <p:spPr>
          <a:xfrm>
            <a:off x="1134325" y="1479551"/>
            <a:ext cx="8270875" cy="14398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Compute n values and add them together.</a:t>
            </a:r>
            <a:endParaRPr/>
          </a:p>
          <a:p>
            <a:pPr indent="-228600" lvl="0" marL="228600" rtl="0" algn="l">
              <a:lnSpc>
                <a:spcPct val="90000"/>
              </a:lnSpc>
              <a:spcBef>
                <a:spcPts val="1000"/>
              </a:spcBef>
              <a:spcAft>
                <a:spcPts val="0"/>
              </a:spcAft>
              <a:buClr>
                <a:schemeClr val="dk1"/>
              </a:buClr>
              <a:buSzPts val="2800"/>
              <a:buChar char="•"/>
            </a:pPr>
            <a:r>
              <a:rPr lang="en-US"/>
              <a:t>Serial solution:</a:t>
            </a:r>
            <a:endParaRPr/>
          </a:p>
        </p:txBody>
      </p:sp>
      <p:sp>
        <p:nvSpPr>
          <p:cNvPr id="258" name="Google Shape;258;p1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259" name="Google Shape;259;p19"/>
          <p:cNvPicPr preferRelativeResize="0"/>
          <p:nvPr/>
        </p:nvPicPr>
        <p:blipFill rotWithShape="1">
          <a:blip r:embed="rId3">
            <a:alphaModFix/>
          </a:blip>
          <a:srcRect b="0" l="0" r="0" t="0"/>
          <a:stretch/>
        </p:blipFill>
        <p:spPr>
          <a:xfrm>
            <a:off x="2723929" y="3051175"/>
            <a:ext cx="6040438" cy="19446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(cont.)</a:t>
            </a:r>
            <a:endParaRPr/>
          </a:p>
        </p:txBody>
      </p:sp>
      <p:sp>
        <p:nvSpPr>
          <p:cNvPr id="265" name="Google Shape;265;p20"/>
          <p:cNvSpPr txBox="1"/>
          <p:nvPr>
            <p:ph idx="1" type="body"/>
          </p:nvPr>
        </p:nvSpPr>
        <p:spPr>
          <a:xfrm>
            <a:off x="1038632" y="1412875"/>
            <a:ext cx="8270875" cy="2016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have p cores, p much smaller than n.</a:t>
            </a:r>
            <a:endParaRPr/>
          </a:p>
          <a:p>
            <a:pPr indent="-228600" lvl="0" marL="228600" rtl="0" algn="l">
              <a:lnSpc>
                <a:spcPct val="90000"/>
              </a:lnSpc>
              <a:spcBef>
                <a:spcPts val="1000"/>
              </a:spcBef>
              <a:spcAft>
                <a:spcPts val="0"/>
              </a:spcAft>
              <a:buClr>
                <a:schemeClr val="dk1"/>
              </a:buClr>
              <a:buSzPts val="2800"/>
              <a:buChar char="•"/>
            </a:pPr>
            <a:r>
              <a:rPr lang="en-US"/>
              <a:t>Each core performs a partial sum of approximately n/p values.</a:t>
            </a:r>
            <a:endParaRPr/>
          </a:p>
        </p:txBody>
      </p:sp>
      <p:sp>
        <p:nvSpPr>
          <p:cNvPr id="266" name="Google Shape;266;p2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267" name="Google Shape;267;p20"/>
          <p:cNvPicPr preferRelativeResize="0"/>
          <p:nvPr/>
        </p:nvPicPr>
        <p:blipFill rotWithShape="1">
          <a:blip r:embed="rId3">
            <a:alphaModFix/>
          </a:blip>
          <a:srcRect b="0" l="0" r="0" t="0"/>
          <a:stretch/>
        </p:blipFill>
        <p:spPr>
          <a:xfrm>
            <a:off x="2351089" y="3141663"/>
            <a:ext cx="7489825" cy="2087562"/>
          </a:xfrm>
          <a:prstGeom prst="rect">
            <a:avLst/>
          </a:prstGeom>
          <a:noFill/>
          <a:ln>
            <a:noFill/>
          </a:ln>
        </p:spPr>
      </p:pic>
      <p:sp>
        <p:nvSpPr>
          <p:cNvPr id="268" name="Google Shape;268;p20"/>
          <p:cNvSpPr txBox="1"/>
          <p:nvPr/>
        </p:nvSpPr>
        <p:spPr>
          <a:xfrm>
            <a:off x="5735638" y="4941888"/>
            <a:ext cx="4348162" cy="977900"/>
          </a:xfrm>
          <a:prstGeom prst="rect">
            <a:avLst/>
          </a:prstGeom>
          <a:noFill/>
          <a:ln cap="flat" cmpd="sng" w="9525">
            <a:solidFill>
              <a:srgbClr val="3399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80"/>
              <a:buFont typeface="Noto Sans Symbols"/>
              <a:buNone/>
            </a:pPr>
            <a:r>
              <a:rPr b="0" i="0" lang="en-US" sz="1800" u="none" cap="none" strike="noStrike">
                <a:solidFill>
                  <a:schemeClr val="dk1"/>
                </a:solidFill>
                <a:latin typeface="Calibri"/>
                <a:ea typeface="Calibri"/>
                <a:cs typeface="Calibri"/>
                <a:sym typeface="Calibri"/>
              </a:rPr>
              <a:t>Each core uses it’s own private variables</a:t>
            </a:r>
            <a:endParaRPr/>
          </a:p>
          <a:p>
            <a:pPr indent="0" lvl="0" marL="0" marR="0" rtl="0" algn="l">
              <a:spcBef>
                <a:spcPts val="360"/>
              </a:spcBef>
              <a:spcAft>
                <a:spcPts val="0"/>
              </a:spcAft>
              <a:buClr>
                <a:schemeClr val="dk1"/>
              </a:buClr>
              <a:buSzPts val="1080"/>
              <a:buFont typeface="Noto Sans Symbols"/>
              <a:buNone/>
            </a:pPr>
            <a:r>
              <a:rPr b="0" i="0" lang="en-US" sz="1800" u="none" cap="none" strike="noStrike">
                <a:solidFill>
                  <a:schemeClr val="dk1"/>
                </a:solidFill>
                <a:latin typeface="Calibri"/>
                <a:ea typeface="Calibri"/>
                <a:cs typeface="Calibri"/>
                <a:sym typeface="Calibri"/>
              </a:rPr>
              <a:t>and executes this block of code</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independently of the other cores.</a:t>
            </a:r>
            <a:endParaRPr/>
          </a:p>
        </p:txBody>
      </p:sp>
      <p:sp>
        <p:nvSpPr>
          <p:cNvPr id="269" name="Google Shape;269;p20"/>
          <p:cNvSpPr/>
          <p:nvPr/>
        </p:nvSpPr>
        <p:spPr>
          <a:xfrm>
            <a:off x="3073400" y="4835526"/>
            <a:ext cx="2681288" cy="682625"/>
          </a:xfrm>
          <a:custGeom>
            <a:rect b="b" l="l" r="r" t="t"/>
            <a:pathLst>
              <a:path extrusionOk="0" h="681926" w="2681206">
                <a:moveTo>
                  <a:pt x="77491" y="0"/>
                </a:moveTo>
                <a:cubicBezTo>
                  <a:pt x="38745" y="166607"/>
                  <a:pt x="0" y="333214"/>
                  <a:pt x="108488" y="356461"/>
                </a:cubicBezTo>
                <a:cubicBezTo>
                  <a:pt x="216976" y="379708"/>
                  <a:pt x="643179" y="105905"/>
                  <a:pt x="728420" y="139485"/>
                </a:cubicBezTo>
                <a:cubicBezTo>
                  <a:pt x="813661" y="173065"/>
                  <a:pt x="472698" y="550190"/>
                  <a:pt x="619932" y="557939"/>
                </a:cubicBezTo>
                <a:cubicBezTo>
                  <a:pt x="767166" y="565688"/>
                  <a:pt x="1474921" y="170482"/>
                  <a:pt x="1611823" y="185980"/>
                </a:cubicBezTo>
                <a:cubicBezTo>
                  <a:pt x="1748725" y="201478"/>
                  <a:pt x="1263112" y="619932"/>
                  <a:pt x="1441342" y="650929"/>
                </a:cubicBezTo>
                <a:cubicBezTo>
                  <a:pt x="1619572" y="681926"/>
                  <a:pt x="2150389" y="526943"/>
                  <a:pt x="2681206" y="371960"/>
                </a:cubicBezTo>
              </a:path>
            </a:pathLst>
          </a:custGeom>
          <a:noFill/>
          <a:ln cap="flat" cmpd="sng" w="9525">
            <a:solidFill>
              <a:srgbClr val="3399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270" name="Google Shape;270;p20"/>
          <p:cNvSpPr/>
          <p:nvPr/>
        </p:nvSpPr>
        <p:spPr>
          <a:xfrm>
            <a:off x="2208214" y="2924175"/>
            <a:ext cx="396875" cy="368300"/>
          </a:xfrm>
          <a:custGeom>
            <a:rect b="b" l="l" r="r" t="t"/>
            <a:pathLst>
              <a:path extrusionOk="0" h="366793" w="397790">
                <a:moveTo>
                  <a:pt x="103322" y="0"/>
                </a:moveTo>
                <a:cubicBezTo>
                  <a:pt x="51661" y="47786"/>
                  <a:pt x="0" y="95573"/>
                  <a:pt x="25831" y="123987"/>
                </a:cubicBezTo>
                <a:cubicBezTo>
                  <a:pt x="51662" y="152401"/>
                  <a:pt x="247974" y="134319"/>
                  <a:pt x="258306" y="170482"/>
                </a:cubicBezTo>
                <a:cubicBezTo>
                  <a:pt x="268638" y="206645"/>
                  <a:pt x="64577" y="315133"/>
                  <a:pt x="87824" y="340963"/>
                </a:cubicBezTo>
                <a:cubicBezTo>
                  <a:pt x="111071" y="366793"/>
                  <a:pt x="254430" y="346129"/>
                  <a:pt x="397790" y="325465"/>
                </a:cubicBezTo>
              </a:path>
            </a:pathLst>
          </a:custGeom>
          <a:noFill/>
          <a:ln cap="flat" cmpd="sng" w="9525">
            <a:solidFill>
              <a:srgbClr val="3399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(cont.)</a:t>
            </a:r>
            <a:endParaRPr/>
          </a:p>
        </p:txBody>
      </p:sp>
      <p:sp>
        <p:nvSpPr>
          <p:cNvPr id="276" name="Google Shape;276;p21"/>
          <p:cNvSpPr txBox="1"/>
          <p:nvPr>
            <p:ph idx="1" type="body"/>
          </p:nvPr>
        </p:nvSpPr>
        <p:spPr>
          <a:xfrm>
            <a:off x="964205" y="1427957"/>
            <a:ext cx="10253144" cy="38877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After each core completes execution of the code, is a private variable </a:t>
            </a:r>
            <a:r>
              <a:rPr lang="en-US">
                <a:solidFill>
                  <a:srgbClr val="3399FF"/>
                </a:solidFill>
              </a:rPr>
              <a:t>my_sum</a:t>
            </a:r>
            <a:r>
              <a:rPr lang="en-US"/>
              <a:t> contains the sum of the values computed by its calls to </a:t>
            </a:r>
            <a:r>
              <a:rPr lang="en-US">
                <a:solidFill>
                  <a:srgbClr val="3399FF"/>
                </a:solidFill>
              </a:rPr>
              <a:t>Compute_next_value</a:t>
            </a: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Ex., 8 cores, n = 24, then the calls to </a:t>
            </a:r>
            <a:r>
              <a:rPr lang="en-US">
                <a:solidFill>
                  <a:srgbClr val="3399FF"/>
                </a:solidFill>
              </a:rPr>
              <a:t>Compute_next_value</a:t>
            </a:r>
            <a:r>
              <a:rPr lang="en-US"/>
              <a:t> return:</a:t>
            </a:r>
            <a:endParaRPr/>
          </a:p>
        </p:txBody>
      </p:sp>
      <p:sp>
        <p:nvSpPr>
          <p:cNvPr id="277" name="Google Shape;277;p2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278" name="Google Shape;278;p21"/>
          <p:cNvSpPr txBox="1"/>
          <p:nvPr/>
        </p:nvSpPr>
        <p:spPr>
          <a:xfrm>
            <a:off x="1896621" y="4340484"/>
            <a:ext cx="8123237"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chemeClr val="dk1"/>
                </a:solidFill>
                <a:latin typeface="Calibri"/>
                <a:ea typeface="Calibri"/>
                <a:cs typeface="Calibri"/>
                <a:sym typeface="Calibri"/>
              </a:rPr>
              <a:t>1,4,3,   9,2,8,    5,1,1,   5,2,7,   2,5,0,   4,1,8,   6,5,1,   2,3,9</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(cont.)</a:t>
            </a:r>
            <a:endParaRPr/>
          </a:p>
        </p:txBody>
      </p:sp>
      <p:sp>
        <p:nvSpPr>
          <p:cNvPr id="284" name="Google Shape;284;p22"/>
          <p:cNvSpPr txBox="1"/>
          <p:nvPr>
            <p:ph idx="1" type="body"/>
          </p:nvPr>
        </p:nvSpPr>
        <p:spPr>
          <a:xfrm>
            <a:off x="1006735" y="1497678"/>
            <a:ext cx="10742242" cy="23034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Once all the cores are done computing their private </a:t>
            </a:r>
            <a:r>
              <a:rPr lang="en-US">
                <a:solidFill>
                  <a:srgbClr val="3399FF"/>
                </a:solidFill>
              </a:rPr>
              <a:t>my_sum</a:t>
            </a:r>
            <a:r>
              <a:rPr lang="en-US"/>
              <a:t>, they form a global sum by sending results to a designated “master” core which adds the final result.</a:t>
            </a:r>
            <a:endParaRPr/>
          </a:p>
        </p:txBody>
      </p:sp>
      <p:sp>
        <p:nvSpPr>
          <p:cNvPr id="285" name="Google Shape;285;p2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(cont.)</a:t>
            </a:r>
            <a:endParaRPr/>
          </a:p>
        </p:txBody>
      </p:sp>
      <p:sp>
        <p:nvSpPr>
          <p:cNvPr id="291" name="Google Shape;291;p2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292" name="Google Shape;292;p23"/>
          <p:cNvPicPr preferRelativeResize="0"/>
          <p:nvPr/>
        </p:nvPicPr>
        <p:blipFill rotWithShape="1">
          <a:blip r:embed="rId3">
            <a:alphaModFix/>
          </a:blip>
          <a:srcRect b="0" l="0" r="0" t="0"/>
          <a:stretch/>
        </p:blipFill>
        <p:spPr>
          <a:xfrm>
            <a:off x="2209800" y="1557337"/>
            <a:ext cx="7505700" cy="37433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(cont.)</a:t>
            </a:r>
            <a:endParaRPr/>
          </a:p>
        </p:txBody>
      </p:sp>
      <p:sp>
        <p:nvSpPr>
          <p:cNvPr id="298" name="Google Shape;298;p2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graphicFrame>
        <p:nvGraphicFramePr>
          <p:cNvPr id="299" name="Google Shape;299;p24"/>
          <p:cNvGraphicFramePr/>
          <p:nvPr/>
        </p:nvGraphicFramePr>
        <p:xfrm>
          <a:off x="2279655" y="1836736"/>
          <a:ext cx="3000000" cy="3000000"/>
        </p:xfrm>
        <a:graphic>
          <a:graphicData uri="http://schemas.openxmlformats.org/drawingml/2006/table">
            <a:tbl>
              <a:tblPr bandRow="1" firstRow="1">
                <a:noFill/>
                <a:tableStyleId>{B276F773-12A6-4B3B-89D9-77E6CB78BC35}</a:tableStyleId>
              </a:tblPr>
              <a:tblGrid>
                <a:gridCol w="1224050"/>
                <a:gridCol w="648025"/>
                <a:gridCol w="792025"/>
                <a:gridCol w="792025"/>
                <a:gridCol w="792025"/>
                <a:gridCol w="792025"/>
                <a:gridCol w="792025"/>
                <a:gridCol w="720025"/>
                <a:gridCol w="720025"/>
              </a:tblGrid>
              <a:tr h="370675">
                <a:tc>
                  <a:txBody>
                    <a:bodyPr/>
                    <a:lstStyle/>
                    <a:p>
                      <a:pPr indent="0" lvl="0" marL="0" marR="0" rtl="0" algn="l">
                        <a:spcBef>
                          <a:spcPts val="0"/>
                        </a:spcBef>
                        <a:spcAft>
                          <a:spcPts val="0"/>
                        </a:spcAft>
                        <a:buNone/>
                      </a:pPr>
                      <a:r>
                        <a:rPr lang="en-US" sz="1800" u="none" cap="none" strike="noStrike"/>
                        <a:t>Core</a:t>
                      </a:r>
                      <a:endParaRPr/>
                    </a:p>
                  </a:txBody>
                  <a:tcPr marT="45700" marB="45700" marR="91425" marL="91425"/>
                </a:tc>
                <a:tc>
                  <a:txBody>
                    <a:bodyPr/>
                    <a:lstStyle/>
                    <a:p>
                      <a:pPr indent="0" lvl="0" marL="0" marR="0" rtl="0" algn="l">
                        <a:spcBef>
                          <a:spcPts val="0"/>
                        </a:spcBef>
                        <a:spcAft>
                          <a:spcPts val="0"/>
                        </a:spcAft>
                        <a:buNone/>
                      </a:pPr>
                      <a:r>
                        <a:rPr lang="en-US" sz="1800"/>
                        <a:t>0</a:t>
                      </a:r>
                      <a:endParaRPr/>
                    </a:p>
                  </a:txBody>
                  <a:tcPr marT="45700" marB="45700" marR="91425" marL="91425"/>
                </a:tc>
                <a:tc>
                  <a:txBody>
                    <a:bodyPr/>
                    <a:lstStyle/>
                    <a:p>
                      <a:pPr indent="0" lvl="0" marL="0" marR="0" rtl="0" algn="l">
                        <a:spcBef>
                          <a:spcPts val="0"/>
                        </a:spcBef>
                        <a:spcAft>
                          <a:spcPts val="0"/>
                        </a:spcAft>
                        <a:buNone/>
                      </a:pPr>
                      <a:r>
                        <a:rPr lang="en-US" sz="1800"/>
                        <a:t>1</a:t>
                      </a:r>
                      <a:endParaRPr/>
                    </a:p>
                  </a:txBody>
                  <a:tcPr marT="45700" marB="45700" marR="91425" marL="91425"/>
                </a:tc>
                <a:tc>
                  <a:txBody>
                    <a:bodyPr/>
                    <a:lstStyle/>
                    <a:p>
                      <a:pPr indent="0" lvl="0" marL="0" marR="0" rtl="0" algn="l">
                        <a:spcBef>
                          <a:spcPts val="0"/>
                        </a:spcBef>
                        <a:spcAft>
                          <a:spcPts val="0"/>
                        </a:spcAft>
                        <a:buNone/>
                      </a:pPr>
                      <a:r>
                        <a:rPr lang="en-US" sz="1800"/>
                        <a:t>2</a:t>
                      </a:r>
                      <a:endParaRPr/>
                    </a:p>
                  </a:txBody>
                  <a:tcPr marT="45700" marB="45700" marR="91425" marL="91425"/>
                </a:tc>
                <a:tc>
                  <a:txBody>
                    <a:bodyPr/>
                    <a:lstStyle/>
                    <a:p>
                      <a:pPr indent="0" lvl="0" marL="0" marR="0" rtl="0" algn="l">
                        <a:spcBef>
                          <a:spcPts val="0"/>
                        </a:spcBef>
                        <a:spcAft>
                          <a:spcPts val="0"/>
                        </a:spcAft>
                        <a:buNone/>
                      </a:pPr>
                      <a:r>
                        <a:rPr lang="en-US" sz="1800"/>
                        <a:t>3</a:t>
                      </a:r>
                      <a:endParaRPr/>
                    </a:p>
                  </a:txBody>
                  <a:tcPr marT="45700" marB="45700" marR="91425" marL="91425"/>
                </a:tc>
                <a:tc>
                  <a:txBody>
                    <a:bodyPr/>
                    <a:lstStyle/>
                    <a:p>
                      <a:pPr indent="0" lvl="0" marL="0" marR="0" rtl="0" algn="l">
                        <a:spcBef>
                          <a:spcPts val="0"/>
                        </a:spcBef>
                        <a:spcAft>
                          <a:spcPts val="0"/>
                        </a:spcAft>
                        <a:buNone/>
                      </a:pPr>
                      <a:r>
                        <a:rPr lang="en-US" sz="1800"/>
                        <a:t>4</a:t>
                      </a:r>
                      <a:endParaRPr/>
                    </a:p>
                  </a:txBody>
                  <a:tcPr marT="45700" marB="45700" marR="91425" marL="91425"/>
                </a:tc>
                <a:tc>
                  <a:txBody>
                    <a:bodyPr/>
                    <a:lstStyle/>
                    <a:p>
                      <a:pPr indent="0" lvl="0" marL="0" marR="0" rtl="0" algn="l">
                        <a:spcBef>
                          <a:spcPts val="0"/>
                        </a:spcBef>
                        <a:spcAft>
                          <a:spcPts val="0"/>
                        </a:spcAft>
                        <a:buNone/>
                      </a:pPr>
                      <a:r>
                        <a:rPr lang="en-US" sz="1800"/>
                        <a:t>5</a:t>
                      </a:r>
                      <a:endParaRPr/>
                    </a:p>
                  </a:txBody>
                  <a:tcPr marT="45700" marB="45700" marR="91425" marL="91425"/>
                </a:tc>
                <a:tc>
                  <a:txBody>
                    <a:bodyPr/>
                    <a:lstStyle/>
                    <a:p>
                      <a:pPr indent="0" lvl="0" marL="0" marR="0" rtl="0" algn="l">
                        <a:spcBef>
                          <a:spcPts val="0"/>
                        </a:spcBef>
                        <a:spcAft>
                          <a:spcPts val="0"/>
                        </a:spcAft>
                        <a:buNone/>
                      </a:pPr>
                      <a:r>
                        <a:rPr lang="en-US" sz="1800"/>
                        <a:t>6</a:t>
                      </a:r>
                      <a:endParaRPr/>
                    </a:p>
                  </a:txBody>
                  <a:tcPr marT="45700" marB="45700" marR="91425" marL="91425"/>
                </a:tc>
                <a:tc>
                  <a:txBody>
                    <a:bodyPr/>
                    <a:lstStyle/>
                    <a:p>
                      <a:pPr indent="0" lvl="0" marL="0" marR="0" rtl="0" algn="l">
                        <a:spcBef>
                          <a:spcPts val="0"/>
                        </a:spcBef>
                        <a:spcAft>
                          <a:spcPts val="0"/>
                        </a:spcAft>
                        <a:buNone/>
                      </a:pPr>
                      <a:r>
                        <a:rPr lang="en-US" sz="1800"/>
                        <a:t>7</a:t>
                      </a:r>
                      <a:endParaRPr/>
                    </a:p>
                  </a:txBody>
                  <a:tcPr marT="45700" marB="45700" marR="91425" marL="91425"/>
                </a:tc>
              </a:tr>
              <a:tr h="370675">
                <a:tc>
                  <a:txBody>
                    <a:bodyPr/>
                    <a:lstStyle/>
                    <a:p>
                      <a:pPr indent="0" lvl="0" marL="0" marR="0" rtl="0" algn="l">
                        <a:spcBef>
                          <a:spcPts val="0"/>
                        </a:spcBef>
                        <a:spcAft>
                          <a:spcPts val="0"/>
                        </a:spcAft>
                        <a:buNone/>
                      </a:pPr>
                      <a:r>
                        <a:rPr lang="en-US" sz="1800"/>
                        <a:t>my_sum</a:t>
                      </a:r>
                      <a:endParaRPr sz="1800"/>
                    </a:p>
                  </a:txBody>
                  <a:tcPr marT="45700" marB="45700" marR="91425" marL="91425"/>
                </a:tc>
                <a:tc>
                  <a:txBody>
                    <a:bodyPr/>
                    <a:lstStyle/>
                    <a:p>
                      <a:pPr indent="0" lvl="0" marL="0" marR="0" rtl="0" algn="l">
                        <a:spcBef>
                          <a:spcPts val="0"/>
                        </a:spcBef>
                        <a:spcAft>
                          <a:spcPts val="0"/>
                        </a:spcAft>
                        <a:buNone/>
                      </a:pPr>
                      <a:r>
                        <a:rPr lang="en-US" sz="1800"/>
                        <a:t>8</a:t>
                      </a:r>
                      <a:endParaRPr/>
                    </a:p>
                  </a:txBody>
                  <a:tcPr marT="45700" marB="45700" marR="91425" marL="91425"/>
                </a:tc>
                <a:tc>
                  <a:txBody>
                    <a:bodyPr/>
                    <a:lstStyle/>
                    <a:p>
                      <a:pPr indent="0" lvl="0" marL="0" marR="0" rtl="0" algn="l">
                        <a:spcBef>
                          <a:spcPts val="0"/>
                        </a:spcBef>
                        <a:spcAft>
                          <a:spcPts val="0"/>
                        </a:spcAft>
                        <a:buNone/>
                      </a:pPr>
                      <a:r>
                        <a:rPr lang="en-US" sz="1800"/>
                        <a:t>19</a:t>
                      </a:r>
                      <a:endParaRPr/>
                    </a:p>
                  </a:txBody>
                  <a:tcPr marT="45700" marB="45700" marR="91425" marL="91425"/>
                </a:tc>
                <a:tc>
                  <a:txBody>
                    <a:bodyPr/>
                    <a:lstStyle/>
                    <a:p>
                      <a:pPr indent="0" lvl="0" marL="0" marR="0" rtl="0" algn="l">
                        <a:spcBef>
                          <a:spcPts val="0"/>
                        </a:spcBef>
                        <a:spcAft>
                          <a:spcPts val="0"/>
                        </a:spcAft>
                        <a:buNone/>
                      </a:pPr>
                      <a:r>
                        <a:rPr lang="en-US" sz="1800"/>
                        <a:t>7</a:t>
                      </a:r>
                      <a:endParaRPr/>
                    </a:p>
                  </a:txBody>
                  <a:tcPr marT="45700" marB="45700" marR="91425" marL="91425"/>
                </a:tc>
                <a:tc>
                  <a:txBody>
                    <a:bodyPr/>
                    <a:lstStyle/>
                    <a:p>
                      <a:pPr indent="0" lvl="0" marL="0" marR="0" rtl="0" algn="l">
                        <a:spcBef>
                          <a:spcPts val="0"/>
                        </a:spcBef>
                        <a:spcAft>
                          <a:spcPts val="0"/>
                        </a:spcAft>
                        <a:buNone/>
                      </a:pPr>
                      <a:r>
                        <a:rPr lang="en-US" sz="1800"/>
                        <a:t>15</a:t>
                      </a:r>
                      <a:endParaRPr/>
                    </a:p>
                  </a:txBody>
                  <a:tcPr marT="45700" marB="45700" marR="91425" marL="91425"/>
                </a:tc>
                <a:tc>
                  <a:txBody>
                    <a:bodyPr/>
                    <a:lstStyle/>
                    <a:p>
                      <a:pPr indent="0" lvl="0" marL="0" marR="0" rtl="0" algn="l">
                        <a:spcBef>
                          <a:spcPts val="0"/>
                        </a:spcBef>
                        <a:spcAft>
                          <a:spcPts val="0"/>
                        </a:spcAft>
                        <a:buNone/>
                      </a:pPr>
                      <a:r>
                        <a:rPr lang="en-US" sz="1800"/>
                        <a:t>7</a:t>
                      </a:r>
                      <a:endParaRPr/>
                    </a:p>
                  </a:txBody>
                  <a:tcPr marT="45700" marB="45700" marR="91425" marL="91425"/>
                </a:tc>
                <a:tc>
                  <a:txBody>
                    <a:bodyPr/>
                    <a:lstStyle/>
                    <a:p>
                      <a:pPr indent="0" lvl="0" marL="0" marR="0" rtl="0" algn="l">
                        <a:spcBef>
                          <a:spcPts val="0"/>
                        </a:spcBef>
                        <a:spcAft>
                          <a:spcPts val="0"/>
                        </a:spcAft>
                        <a:buNone/>
                      </a:pPr>
                      <a:r>
                        <a:rPr lang="en-US" sz="1800"/>
                        <a:t>13</a:t>
                      </a:r>
                      <a:endParaRPr/>
                    </a:p>
                  </a:txBody>
                  <a:tcPr marT="45700" marB="45700" marR="91425" marL="91425"/>
                </a:tc>
                <a:tc>
                  <a:txBody>
                    <a:bodyPr/>
                    <a:lstStyle/>
                    <a:p>
                      <a:pPr indent="0" lvl="0" marL="0" marR="0" rtl="0" algn="l">
                        <a:spcBef>
                          <a:spcPts val="0"/>
                        </a:spcBef>
                        <a:spcAft>
                          <a:spcPts val="0"/>
                        </a:spcAft>
                        <a:buNone/>
                      </a:pPr>
                      <a:r>
                        <a:rPr lang="en-US" sz="1800"/>
                        <a:t>12</a:t>
                      </a:r>
                      <a:endParaRPr/>
                    </a:p>
                  </a:txBody>
                  <a:tcPr marT="45700" marB="45700" marR="91425" marL="91425"/>
                </a:tc>
                <a:tc>
                  <a:txBody>
                    <a:bodyPr/>
                    <a:lstStyle/>
                    <a:p>
                      <a:pPr indent="0" lvl="0" marL="0" marR="0" rtl="0" algn="l">
                        <a:spcBef>
                          <a:spcPts val="0"/>
                        </a:spcBef>
                        <a:spcAft>
                          <a:spcPts val="0"/>
                        </a:spcAft>
                        <a:buNone/>
                      </a:pPr>
                      <a:r>
                        <a:rPr lang="en-US" sz="1800"/>
                        <a:t>14</a:t>
                      </a:r>
                      <a:endParaRPr/>
                    </a:p>
                  </a:txBody>
                  <a:tcPr marT="45700" marB="45700" marR="91425" marL="91425"/>
                </a:tc>
              </a:tr>
            </a:tbl>
          </a:graphicData>
        </a:graphic>
      </p:graphicFrame>
      <p:sp>
        <p:nvSpPr>
          <p:cNvPr id="300" name="Google Shape;300;p24"/>
          <p:cNvSpPr txBox="1"/>
          <p:nvPr/>
        </p:nvSpPr>
        <p:spPr>
          <a:xfrm>
            <a:off x="2208214" y="2708275"/>
            <a:ext cx="7343775" cy="11763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sng" cap="none" strike="noStrike">
                <a:solidFill>
                  <a:schemeClr val="dk1"/>
                </a:solidFill>
                <a:latin typeface="Calibri"/>
                <a:ea typeface="Calibri"/>
                <a:cs typeface="Calibri"/>
                <a:sym typeface="Calibri"/>
              </a:rPr>
              <a:t>Global sum</a:t>
            </a:r>
            <a:endParaRPr/>
          </a:p>
          <a:p>
            <a:pPr indent="0" lvl="0" marL="0" marR="0" rtl="0" algn="l">
              <a:spcBef>
                <a:spcPts val="64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8 + 19 + 7 + 15 + 7 + 13 + 12 + 14 = 95</a:t>
            </a:r>
            <a:endParaRPr/>
          </a:p>
        </p:txBody>
      </p:sp>
      <p:graphicFrame>
        <p:nvGraphicFramePr>
          <p:cNvPr id="301" name="Google Shape;301;p24"/>
          <p:cNvGraphicFramePr/>
          <p:nvPr/>
        </p:nvGraphicFramePr>
        <p:xfrm>
          <a:off x="2208214" y="4581526"/>
          <a:ext cx="3000000" cy="3000000"/>
        </p:xfrm>
        <a:graphic>
          <a:graphicData uri="http://schemas.openxmlformats.org/drawingml/2006/table">
            <a:tbl>
              <a:tblPr bandRow="1" firstRow="1">
                <a:noFill/>
                <a:tableStyleId>{B276F773-12A6-4B3B-89D9-77E6CB78BC35}</a:tableStyleId>
              </a:tblPr>
              <a:tblGrid>
                <a:gridCol w="1224050"/>
                <a:gridCol w="648025"/>
                <a:gridCol w="792025"/>
                <a:gridCol w="792025"/>
                <a:gridCol w="792025"/>
                <a:gridCol w="792025"/>
                <a:gridCol w="792025"/>
                <a:gridCol w="720025"/>
                <a:gridCol w="720025"/>
              </a:tblGrid>
              <a:tr h="370675">
                <a:tc>
                  <a:txBody>
                    <a:bodyPr/>
                    <a:lstStyle/>
                    <a:p>
                      <a:pPr indent="0" lvl="0" marL="0" marR="0" rtl="0" algn="l">
                        <a:spcBef>
                          <a:spcPts val="0"/>
                        </a:spcBef>
                        <a:spcAft>
                          <a:spcPts val="0"/>
                        </a:spcAft>
                        <a:buNone/>
                      </a:pPr>
                      <a:r>
                        <a:rPr lang="en-US" sz="1800"/>
                        <a:t>Core</a:t>
                      </a:r>
                      <a:endParaRPr/>
                    </a:p>
                  </a:txBody>
                  <a:tcPr marT="45700" marB="45700" marR="91425" marL="91425"/>
                </a:tc>
                <a:tc>
                  <a:txBody>
                    <a:bodyPr/>
                    <a:lstStyle/>
                    <a:p>
                      <a:pPr indent="0" lvl="0" marL="0" marR="0" rtl="0" algn="l">
                        <a:spcBef>
                          <a:spcPts val="0"/>
                        </a:spcBef>
                        <a:spcAft>
                          <a:spcPts val="0"/>
                        </a:spcAft>
                        <a:buNone/>
                      </a:pPr>
                      <a:r>
                        <a:rPr lang="en-US" sz="1800"/>
                        <a:t>0</a:t>
                      </a:r>
                      <a:endParaRPr/>
                    </a:p>
                  </a:txBody>
                  <a:tcPr marT="45700" marB="45700" marR="91425" marL="91425"/>
                </a:tc>
                <a:tc>
                  <a:txBody>
                    <a:bodyPr/>
                    <a:lstStyle/>
                    <a:p>
                      <a:pPr indent="0" lvl="0" marL="0" marR="0" rtl="0" algn="l">
                        <a:spcBef>
                          <a:spcPts val="0"/>
                        </a:spcBef>
                        <a:spcAft>
                          <a:spcPts val="0"/>
                        </a:spcAft>
                        <a:buNone/>
                      </a:pPr>
                      <a:r>
                        <a:rPr lang="en-US" sz="1800"/>
                        <a:t>1</a:t>
                      </a:r>
                      <a:endParaRPr/>
                    </a:p>
                  </a:txBody>
                  <a:tcPr marT="45700" marB="45700" marR="91425" marL="91425"/>
                </a:tc>
                <a:tc>
                  <a:txBody>
                    <a:bodyPr/>
                    <a:lstStyle/>
                    <a:p>
                      <a:pPr indent="0" lvl="0" marL="0" marR="0" rtl="0" algn="l">
                        <a:spcBef>
                          <a:spcPts val="0"/>
                        </a:spcBef>
                        <a:spcAft>
                          <a:spcPts val="0"/>
                        </a:spcAft>
                        <a:buNone/>
                      </a:pPr>
                      <a:r>
                        <a:rPr lang="en-US" sz="1800"/>
                        <a:t>2</a:t>
                      </a:r>
                      <a:endParaRPr/>
                    </a:p>
                  </a:txBody>
                  <a:tcPr marT="45700" marB="45700" marR="91425" marL="91425"/>
                </a:tc>
                <a:tc>
                  <a:txBody>
                    <a:bodyPr/>
                    <a:lstStyle/>
                    <a:p>
                      <a:pPr indent="0" lvl="0" marL="0" marR="0" rtl="0" algn="l">
                        <a:spcBef>
                          <a:spcPts val="0"/>
                        </a:spcBef>
                        <a:spcAft>
                          <a:spcPts val="0"/>
                        </a:spcAft>
                        <a:buNone/>
                      </a:pPr>
                      <a:r>
                        <a:rPr lang="en-US" sz="1800"/>
                        <a:t>3</a:t>
                      </a:r>
                      <a:endParaRPr/>
                    </a:p>
                  </a:txBody>
                  <a:tcPr marT="45700" marB="45700" marR="91425" marL="91425"/>
                </a:tc>
                <a:tc>
                  <a:txBody>
                    <a:bodyPr/>
                    <a:lstStyle/>
                    <a:p>
                      <a:pPr indent="0" lvl="0" marL="0" marR="0" rtl="0" algn="l">
                        <a:spcBef>
                          <a:spcPts val="0"/>
                        </a:spcBef>
                        <a:spcAft>
                          <a:spcPts val="0"/>
                        </a:spcAft>
                        <a:buNone/>
                      </a:pPr>
                      <a:r>
                        <a:rPr lang="en-US" sz="1800"/>
                        <a:t>4</a:t>
                      </a:r>
                      <a:endParaRPr/>
                    </a:p>
                  </a:txBody>
                  <a:tcPr marT="45700" marB="45700" marR="91425" marL="91425"/>
                </a:tc>
                <a:tc>
                  <a:txBody>
                    <a:bodyPr/>
                    <a:lstStyle/>
                    <a:p>
                      <a:pPr indent="0" lvl="0" marL="0" marR="0" rtl="0" algn="l">
                        <a:spcBef>
                          <a:spcPts val="0"/>
                        </a:spcBef>
                        <a:spcAft>
                          <a:spcPts val="0"/>
                        </a:spcAft>
                        <a:buNone/>
                      </a:pPr>
                      <a:r>
                        <a:rPr lang="en-US" sz="1800"/>
                        <a:t>5</a:t>
                      </a:r>
                      <a:endParaRPr/>
                    </a:p>
                  </a:txBody>
                  <a:tcPr marT="45700" marB="45700" marR="91425" marL="91425"/>
                </a:tc>
                <a:tc>
                  <a:txBody>
                    <a:bodyPr/>
                    <a:lstStyle/>
                    <a:p>
                      <a:pPr indent="0" lvl="0" marL="0" marR="0" rtl="0" algn="l">
                        <a:spcBef>
                          <a:spcPts val="0"/>
                        </a:spcBef>
                        <a:spcAft>
                          <a:spcPts val="0"/>
                        </a:spcAft>
                        <a:buNone/>
                      </a:pPr>
                      <a:r>
                        <a:rPr lang="en-US" sz="1800"/>
                        <a:t>6</a:t>
                      </a:r>
                      <a:endParaRPr/>
                    </a:p>
                  </a:txBody>
                  <a:tcPr marT="45700" marB="45700" marR="91425" marL="91425"/>
                </a:tc>
                <a:tc>
                  <a:txBody>
                    <a:bodyPr/>
                    <a:lstStyle/>
                    <a:p>
                      <a:pPr indent="0" lvl="0" marL="0" marR="0" rtl="0" algn="l">
                        <a:spcBef>
                          <a:spcPts val="0"/>
                        </a:spcBef>
                        <a:spcAft>
                          <a:spcPts val="0"/>
                        </a:spcAft>
                        <a:buNone/>
                      </a:pPr>
                      <a:r>
                        <a:rPr lang="en-US" sz="1800"/>
                        <a:t>7</a:t>
                      </a:r>
                      <a:endParaRPr/>
                    </a:p>
                  </a:txBody>
                  <a:tcPr marT="45700" marB="45700" marR="91425" marL="91425"/>
                </a:tc>
              </a:tr>
              <a:tr h="370675">
                <a:tc>
                  <a:txBody>
                    <a:bodyPr/>
                    <a:lstStyle/>
                    <a:p>
                      <a:pPr indent="0" lvl="0" marL="0" marR="0" rtl="0" algn="l">
                        <a:spcBef>
                          <a:spcPts val="0"/>
                        </a:spcBef>
                        <a:spcAft>
                          <a:spcPts val="0"/>
                        </a:spcAft>
                        <a:buNone/>
                      </a:pPr>
                      <a:r>
                        <a:rPr lang="en-US" sz="1800"/>
                        <a:t>my_sum</a:t>
                      </a:r>
                      <a:endParaRPr sz="1800"/>
                    </a:p>
                  </a:txBody>
                  <a:tcPr marT="45700" marB="45700" marR="91425" marL="91425"/>
                </a:tc>
                <a:tc>
                  <a:txBody>
                    <a:bodyPr/>
                    <a:lstStyle/>
                    <a:p>
                      <a:pPr indent="0" lvl="0" marL="0" marR="0" rtl="0" algn="l">
                        <a:spcBef>
                          <a:spcPts val="0"/>
                        </a:spcBef>
                        <a:spcAft>
                          <a:spcPts val="0"/>
                        </a:spcAft>
                        <a:buNone/>
                      </a:pPr>
                      <a:r>
                        <a:rPr lang="en-US" sz="1800">
                          <a:solidFill>
                            <a:srgbClr val="FF0000"/>
                          </a:solidFill>
                        </a:rPr>
                        <a:t>95</a:t>
                      </a:r>
                      <a:endParaRPr/>
                    </a:p>
                  </a:txBody>
                  <a:tcPr marT="45700" marB="45700" marR="91425" marL="91425"/>
                </a:tc>
                <a:tc>
                  <a:txBody>
                    <a:bodyPr/>
                    <a:lstStyle/>
                    <a:p>
                      <a:pPr indent="0" lvl="0" marL="0" marR="0" rtl="0" algn="l">
                        <a:spcBef>
                          <a:spcPts val="0"/>
                        </a:spcBef>
                        <a:spcAft>
                          <a:spcPts val="0"/>
                        </a:spcAft>
                        <a:buNone/>
                      </a:pPr>
                      <a:r>
                        <a:rPr lang="en-US" sz="1800"/>
                        <a:t>19</a:t>
                      </a:r>
                      <a:endParaRPr/>
                    </a:p>
                  </a:txBody>
                  <a:tcPr marT="45700" marB="45700" marR="91425" marL="91425"/>
                </a:tc>
                <a:tc>
                  <a:txBody>
                    <a:bodyPr/>
                    <a:lstStyle/>
                    <a:p>
                      <a:pPr indent="0" lvl="0" marL="0" marR="0" rtl="0" algn="l">
                        <a:spcBef>
                          <a:spcPts val="0"/>
                        </a:spcBef>
                        <a:spcAft>
                          <a:spcPts val="0"/>
                        </a:spcAft>
                        <a:buNone/>
                      </a:pPr>
                      <a:r>
                        <a:rPr lang="en-US" sz="1800"/>
                        <a:t>7</a:t>
                      </a:r>
                      <a:endParaRPr/>
                    </a:p>
                  </a:txBody>
                  <a:tcPr marT="45700" marB="45700" marR="91425" marL="91425"/>
                </a:tc>
                <a:tc>
                  <a:txBody>
                    <a:bodyPr/>
                    <a:lstStyle/>
                    <a:p>
                      <a:pPr indent="0" lvl="0" marL="0" marR="0" rtl="0" algn="l">
                        <a:spcBef>
                          <a:spcPts val="0"/>
                        </a:spcBef>
                        <a:spcAft>
                          <a:spcPts val="0"/>
                        </a:spcAft>
                        <a:buNone/>
                      </a:pPr>
                      <a:r>
                        <a:rPr lang="en-US" sz="1800"/>
                        <a:t>15</a:t>
                      </a:r>
                      <a:endParaRPr/>
                    </a:p>
                  </a:txBody>
                  <a:tcPr marT="45700" marB="45700" marR="91425" marL="91425"/>
                </a:tc>
                <a:tc>
                  <a:txBody>
                    <a:bodyPr/>
                    <a:lstStyle/>
                    <a:p>
                      <a:pPr indent="0" lvl="0" marL="0" marR="0" rtl="0" algn="l">
                        <a:spcBef>
                          <a:spcPts val="0"/>
                        </a:spcBef>
                        <a:spcAft>
                          <a:spcPts val="0"/>
                        </a:spcAft>
                        <a:buNone/>
                      </a:pPr>
                      <a:r>
                        <a:rPr lang="en-US" sz="1800"/>
                        <a:t>7</a:t>
                      </a:r>
                      <a:endParaRPr/>
                    </a:p>
                  </a:txBody>
                  <a:tcPr marT="45700" marB="45700" marR="91425" marL="91425"/>
                </a:tc>
                <a:tc>
                  <a:txBody>
                    <a:bodyPr/>
                    <a:lstStyle/>
                    <a:p>
                      <a:pPr indent="0" lvl="0" marL="0" marR="0" rtl="0" algn="l">
                        <a:spcBef>
                          <a:spcPts val="0"/>
                        </a:spcBef>
                        <a:spcAft>
                          <a:spcPts val="0"/>
                        </a:spcAft>
                        <a:buNone/>
                      </a:pPr>
                      <a:r>
                        <a:rPr lang="en-US" sz="1800"/>
                        <a:t>13</a:t>
                      </a:r>
                      <a:endParaRPr/>
                    </a:p>
                  </a:txBody>
                  <a:tcPr marT="45700" marB="45700" marR="91425" marL="91425"/>
                </a:tc>
                <a:tc>
                  <a:txBody>
                    <a:bodyPr/>
                    <a:lstStyle/>
                    <a:p>
                      <a:pPr indent="0" lvl="0" marL="0" marR="0" rtl="0" algn="l">
                        <a:spcBef>
                          <a:spcPts val="0"/>
                        </a:spcBef>
                        <a:spcAft>
                          <a:spcPts val="0"/>
                        </a:spcAft>
                        <a:buNone/>
                      </a:pPr>
                      <a:r>
                        <a:rPr lang="en-US" sz="1800"/>
                        <a:t>12</a:t>
                      </a:r>
                      <a:endParaRPr/>
                    </a:p>
                  </a:txBody>
                  <a:tcPr marT="45700" marB="45700" marR="91425" marL="91425"/>
                </a:tc>
                <a:tc>
                  <a:txBody>
                    <a:bodyPr/>
                    <a:lstStyle/>
                    <a:p>
                      <a:pPr indent="0" lvl="0" marL="0" marR="0" rtl="0" algn="l">
                        <a:spcBef>
                          <a:spcPts val="0"/>
                        </a:spcBef>
                        <a:spcAft>
                          <a:spcPts val="0"/>
                        </a:spcAft>
                        <a:buNone/>
                      </a:pPr>
                      <a:r>
                        <a:rPr lang="en-US" sz="1800"/>
                        <a:t>14</a:t>
                      </a:r>
                      <a:endParaRPr/>
                    </a:p>
                  </a:txBody>
                  <a:tcPr marT="45700" marB="45700"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Q7HGDQRM\MP900442237[1].jpg" id="307" name="Google Shape;307;p25"/>
          <p:cNvPicPr preferRelativeResize="0"/>
          <p:nvPr/>
        </p:nvPicPr>
        <p:blipFill rotWithShape="1">
          <a:blip r:embed="rId3">
            <a:alphaModFix/>
          </a:blip>
          <a:srcRect b="0" l="0" r="0" t="0"/>
          <a:stretch/>
        </p:blipFill>
        <p:spPr>
          <a:xfrm>
            <a:off x="6743701" y="1628776"/>
            <a:ext cx="3535363" cy="4652963"/>
          </a:xfrm>
          <a:prstGeom prst="rect">
            <a:avLst/>
          </a:prstGeom>
          <a:noFill/>
          <a:ln>
            <a:noFill/>
          </a:ln>
        </p:spPr>
      </p:pic>
      <p:sp>
        <p:nvSpPr>
          <p:cNvPr id="308" name="Google Shape;308;p25"/>
          <p:cNvSpPr txBox="1"/>
          <p:nvPr/>
        </p:nvSpPr>
        <p:spPr>
          <a:xfrm>
            <a:off x="1029494" y="1212002"/>
            <a:ext cx="5103812" cy="16684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But wait!</a:t>
            </a:r>
            <a:endParaRPr/>
          </a:p>
          <a:p>
            <a:pPr indent="0" lvl="0" marL="0" marR="0" rtl="0" algn="l">
              <a:spcBef>
                <a:spcPts val="64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There’s a much better way</a:t>
            </a:r>
            <a:br>
              <a:rPr b="0" i="0" lang="en-US" sz="3200" u="none" cap="none" strike="noStrike">
                <a:solidFill>
                  <a:schemeClr val="dk1"/>
                </a:solidFill>
                <a:latin typeface="Calibri"/>
                <a:ea typeface="Calibri"/>
                <a:cs typeface="Calibri"/>
                <a:sym typeface="Calibri"/>
              </a:rPr>
            </a:br>
            <a:r>
              <a:rPr b="0" i="0" lang="en-US" sz="3200" u="none" cap="none" strike="noStrike">
                <a:solidFill>
                  <a:schemeClr val="dk1"/>
                </a:solidFill>
                <a:latin typeface="Calibri"/>
                <a:ea typeface="Calibri"/>
                <a:cs typeface="Calibri"/>
                <a:sym typeface="Calibri"/>
              </a:rPr>
              <a:t>to compute the global sum.</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Better parallel algorithm</a:t>
            </a:r>
            <a:endParaRPr/>
          </a:p>
        </p:txBody>
      </p:sp>
      <p:sp>
        <p:nvSpPr>
          <p:cNvPr id="314" name="Google Shape;314;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Don’t make the master core do all the work.</a:t>
            </a:r>
            <a:endParaRPr/>
          </a:p>
          <a:p>
            <a:pPr indent="-228600" lvl="0" marL="228600" rtl="0" algn="l">
              <a:lnSpc>
                <a:spcPct val="90000"/>
              </a:lnSpc>
              <a:spcBef>
                <a:spcPts val="1000"/>
              </a:spcBef>
              <a:spcAft>
                <a:spcPts val="0"/>
              </a:spcAft>
              <a:buClr>
                <a:schemeClr val="dk1"/>
              </a:buClr>
              <a:buSzPts val="2800"/>
              <a:buChar char="•"/>
            </a:pPr>
            <a:r>
              <a:rPr lang="en-US"/>
              <a:t>Share it among the other cores.</a:t>
            </a:r>
            <a:endParaRPr/>
          </a:p>
          <a:p>
            <a:pPr indent="-228600" lvl="0" marL="228600" rtl="0" algn="l">
              <a:lnSpc>
                <a:spcPct val="90000"/>
              </a:lnSpc>
              <a:spcBef>
                <a:spcPts val="1000"/>
              </a:spcBef>
              <a:spcAft>
                <a:spcPts val="0"/>
              </a:spcAft>
              <a:buClr>
                <a:schemeClr val="dk1"/>
              </a:buClr>
              <a:buSzPts val="2800"/>
              <a:buChar char="•"/>
            </a:pPr>
            <a:r>
              <a:rPr lang="en-US"/>
              <a:t>Pair the cores so that core 0 adds its result with core 1’s result.</a:t>
            </a:r>
            <a:endParaRPr/>
          </a:p>
          <a:p>
            <a:pPr indent="-228600" lvl="0" marL="228600" rtl="0" algn="l">
              <a:lnSpc>
                <a:spcPct val="90000"/>
              </a:lnSpc>
              <a:spcBef>
                <a:spcPts val="1000"/>
              </a:spcBef>
              <a:spcAft>
                <a:spcPts val="0"/>
              </a:spcAft>
              <a:buClr>
                <a:schemeClr val="dk1"/>
              </a:buClr>
              <a:buSzPts val="2800"/>
              <a:buChar char="•"/>
            </a:pPr>
            <a:r>
              <a:rPr lang="en-US"/>
              <a:t>Core 2 adds its result with core 3’s result, etc.</a:t>
            </a:r>
            <a:endParaRPr/>
          </a:p>
          <a:p>
            <a:pPr indent="-228600" lvl="0" marL="228600" rtl="0" algn="l">
              <a:lnSpc>
                <a:spcPct val="90000"/>
              </a:lnSpc>
              <a:spcBef>
                <a:spcPts val="1000"/>
              </a:spcBef>
              <a:spcAft>
                <a:spcPts val="0"/>
              </a:spcAft>
              <a:buClr>
                <a:schemeClr val="dk1"/>
              </a:buClr>
              <a:buSzPts val="2800"/>
              <a:buChar char="•"/>
            </a:pPr>
            <a:r>
              <a:rPr lang="en-US"/>
              <a:t>Work with odd and even numbered pairs of cores.</a:t>
            </a:r>
            <a:endParaRPr/>
          </a:p>
        </p:txBody>
      </p:sp>
      <p:sp>
        <p:nvSpPr>
          <p:cNvPr id="315" name="Google Shape;315;p2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Better parallel algorithm (cont.)</a:t>
            </a:r>
            <a:endParaRPr/>
          </a:p>
        </p:txBody>
      </p:sp>
      <p:sp>
        <p:nvSpPr>
          <p:cNvPr id="321" name="Google Shape;32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Repeat the process now with only the evenly ranked cores.</a:t>
            </a:r>
            <a:endParaRPr/>
          </a:p>
          <a:p>
            <a:pPr indent="-228600" lvl="0" marL="228600" rtl="0" algn="l">
              <a:lnSpc>
                <a:spcPct val="90000"/>
              </a:lnSpc>
              <a:spcBef>
                <a:spcPts val="1000"/>
              </a:spcBef>
              <a:spcAft>
                <a:spcPts val="0"/>
              </a:spcAft>
              <a:buClr>
                <a:schemeClr val="dk1"/>
              </a:buClr>
              <a:buSzPts val="2800"/>
              <a:buChar char="•"/>
            </a:pPr>
            <a:r>
              <a:rPr lang="en-US"/>
              <a:t>Core 0 adds result from core 2.</a:t>
            </a:r>
            <a:endParaRPr/>
          </a:p>
          <a:p>
            <a:pPr indent="-228600" lvl="0" marL="228600" rtl="0" algn="l">
              <a:lnSpc>
                <a:spcPct val="90000"/>
              </a:lnSpc>
              <a:spcBef>
                <a:spcPts val="1000"/>
              </a:spcBef>
              <a:spcAft>
                <a:spcPts val="0"/>
              </a:spcAft>
              <a:buClr>
                <a:schemeClr val="dk1"/>
              </a:buClr>
              <a:buSzPts val="2800"/>
              <a:buChar char="•"/>
            </a:pPr>
            <a:r>
              <a:rPr lang="en-US"/>
              <a:t>Core 4 adds the result from core 6, etc.</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Now cores divisible by 4 repeat the process, and so forth, until core 0 has the final result.</a:t>
            </a:r>
            <a:endParaRPr/>
          </a:p>
        </p:txBody>
      </p:sp>
      <p:sp>
        <p:nvSpPr>
          <p:cNvPr id="322" name="Google Shape;322;p2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8"/>
          <p:cNvSpPr txBox="1"/>
          <p:nvPr>
            <p:ph type="title"/>
          </p:nvPr>
        </p:nvSpPr>
        <p:spPr>
          <a:xfrm>
            <a:off x="2135189" y="1"/>
            <a:ext cx="8281987"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Multiple cores forming a global sum</a:t>
            </a:r>
            <a:endParaRPr/>
          </a:p>
        </p:txBody>
      </p:sp>
      <p:sp>
        <p:nvSpPr>
          <p:cNvPr id="328" name="Google Shape;328;p2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329" name="Google Shape;329;p28"/>
          <p:cNvPicPr preferRelativeResize="0"/>
          <p:nvPr/>
        </p:nvPicPr>
        <p:blipFill rotWithShape="1">
          <a:blip r:embed="rId3">
            <a:alphaModFix/>
          </a:blip>
          <a:srcRect b="0" l="0" r="0" t="0"/>
          <a:stretch/>
        </p:blipFill>
        <p:spPr>
          <a:xfrm>
            <a:off x="2424113" y="1268413"/>
            <a:ext cx="7200900" cy="4864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Analysis</a:t>
            </a:r>
            <a:endParaRPr/>
          </a:p>
        </p:txBody>
      </p:sp>
      <p:sp>
        <p:nvSpPr>
          <p:cNvPr id="335" name="Google Shape;335;p29"/>
          <p:cNvSpPr txBox="1"/>
          <p:nvPr>
            <p:ph idx="1" type="body"/>
          </p:nvPr>
        </p:nvSpPr>
        <p:spPr>
          <a:xfrm>
            <a:off x="2063750" y="1690688"/>
            <a:ext cx="8415338" cy="4546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first example, the master core performs 7 receives and 7 additions.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 the second example, the master core performs 3 receives and 3 additions.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improvement is more than a factor of 2!</a:t>
            </a:r>
            <a:endParaRPr/>
          </a:p>
        </p:txBody>
      </p:sp>
      <p:sp>
        <p:nvSpPr>
          <p:cNvPr id="336" name="Google Shape;336;p2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Analysis (cont.)</a:t>
            </a:r>
            <a:endParaRPr/>
          </a:p>
        </p:txBody>
      </p:sp>
      <p:sp>
        <p:nvSpPr>
          <p:cNvPr id="342" name="Google Shape;342;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difference is more dramatic with a larger number of cores.</a:t>
            </a:r>
            <a:endParaRPr/>
          </a:p>
          <a:p>
            <a:pPr indent="-228600" lvl="0" marL="228600" rtl="0" algn="l">
              <a:lnSpc>
                <a:spcPct val="90000"/>
              </a:lnSpc>
              <a:spcBef>
                <a:spcPts val="1000"/>
              </a:spcBef>
              <a:spcAft>
                <a:spcPts val="0"/>
              </a:spcAft>
              <a:buClr>
                <a:schemeClr val="dk1"/>
              </a:buClr>
              <a:buSzPts val="2800"/>
              <a:buChar char="•"/>
            </a:pPr>
            <a:r>
              <a:rPr lang="en-US"/>
              <a:t>If we have 1000 cores:</a:t>
            </a:r>
            <a:endParaRPr/>
          </a:p>
          <a:p>
            <a:pPr indent="-228600" lvl="1" marL="685800" rtl="0" algn="l">
              <a:lnSpc>
                <a:spcPct val="90000"/>
              </a:lnSpc>
              <a:spcBef>
                <a:spcPts val="500"/>
              </a:spcBef>
              <a:spcAft>
                <a:spcPts val="0"/>
              </a:spcAft>
              <a:buClr>
                <a:schemeClr val="dk1"/>
              </a:buClr>
              <a:buSzPts val="2400"/>
              <a:buChar char="•"/>
            </a:pPr>
            <a:r>
              <a:rPr lang="en-US"/>
              <a:t>The first example would require the master to perform 999 receives and 999 additions.</a:t>
            </a:r>
            <a:endParaRPr/>
          </a:p>
          <a:p>
            <a:pPr indent="-228600" lvl="1" marL="685800" rtl="0" algn="l">
              <a:lnSpc>
                <a:spcPct val="90000"/>
              </a:lnSpc>
              <a:spcBef>
                <a:spcPts val="500"/>
              </a:spcBef>
              <a:spcAft>
                <a:spcPts val="0"/>
              </a:spcAft>
              <a:buClr>
                <a:schemeClr val="dk1"/>
              </a:buClr>
              <a:buSzPts val="2400"/>
              <a:buChar char="•"/>
            </a:pPr>
            <a:r>
              <a:rPr lang="en-US"/>
              <a:t>The second example would only require 10 receives and 10 additions.</a:t>
            </a:r>
            <a:br>
              <a:rPr lang="en-US"/>
            </a:br>
            <a:endParaRPr/>
          </a:p>
          <a:p>
            <a:pPr indent="-228600" lvl="0" marL="228600" rtl="0" algn="l">
              <a:lnSpc>
                <a:spcPct val="90000"/>
              </a:lnSpc>
              <a:spcBef>
                <a:spcPts val="1000"/>
              </a:spcBef>
              <a:spcAft>
                <a:spcPts val="0"/>
              </a:spcAft>
              <a:buClr>
                <a:schemeClr val="dk1"/>
              </a:buClr>
              <a:buSzPts val="2800"/>
              <a:buChar char="•"/>
            </a:pPr>
            <a:r>
              <a:rPr lang="en-US"/>
              <a:t>That’s an improvement of almost a factor of 100!</a:t>
            </a:r>
            <a:endParaRPr/>
          </a:p>
        </p:txBody>
      </p:sp>
      <p:sp>
        <p:nvSpPr>
          <p:cNvPr id="343" name="Google Shape;343;p3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1"/>
          <p:cNvSpPr txBox="1"/>
          <p:nvPr>
            <p:ph type="title"/>
          </p:nvPr>
        </p:nvSpPr>
        <p:spPr>
          <a:xfrm>
            <a:off x="637953" y="1"/>
            <a:ext cx="9779223"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do we write parallel programs?</a:t>
            </a:r>
            <a:endParaRPr/>
          </a:p>
        </p:txBody>
      </p:sp>
      <p:sp>
        <p:nvSpPr>
          <p:cNvPr id="349" name="Google Shape;349;p31"/>
          <p:cNvSpPr txBox="1"/>
          <p:nvPr>
            <p:ph idx="1" type="body"/>
          </p:nvPr>
        </p:nvSpPr>
        <p:spPr>
          <a:xfrm>
            <a:off x="2208214" y="1628776"/>
            <a:ext cx="8270875"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Task parallelism </a:t>
            </a:r>
            <a:endParaRPr/>
          </a:p>
          <a:p>
            <a:pPr indent="-228600" lvl="1" marL="685800" rtl="0" algn="l">
              <a:lnSpc>
                <a:spcPct val="90000"/>
              </a:lnSpc>
              <a:spcBef>
                <a:spcPts val="500"/>
              </a:spcBef>
              <a:spcAft>
                <a:spcPts val="0"/>
              </a:spcAft>
              <a:buClr>
                <a:schemeClr val="dk1"/>
              </a:buClr>
              <a:buSzPts val="2400"/>
              <a:buChar char="•"/>
            </a:pPr>
            <a:r>
              <a:rPr lang="en-US"/>
              <a:t>Partition various tasks carried out solving the problem among the cores.</a:t>
            </a:r>
            <a:br>
              <a:rPr lang="en-US"/>
            </a:br>
            <a:endParaRPr/>
          </a:p>
          <a:p>
            <a:pPr indent="-228600" lvl="0" marL="228600" rtl="0" algn="l">
              <a:lnSpc>
                <a:spcPct val="90000"/>
              </a:lnSpc>
              <a:spcBef>
                <a:spcPts val="1000"/>
              </a:spcBef>
              <a:spcAft>
                <a:spcPts val="0"/>
              </a:spcAft>
              <a:buClr>
                <a:schemeClr val="dk1"/>
              </a:buClr>
              <a:buSzPts val="2800"/>
              <a:buChar char="•"/>
            </a:pPr>
            <a:r>
              <a:rPr lang="en-US"/>
              <a:t>Data parallelism</a:t>
            </a:r>
            <a:endParaRPr/>
          </a:p>
          <a:p>
            <a:pPr indent="-228600" lvl="1" marL="685800" rtl="0" algn="l">
              <a:lnSpc>
                <a:spcPct val="90000"/>
              </a:lnSpc>
              <a:spcBef>
                <a:spcPts val="500"/>
              </a:spcBef>
              <a:spcAft>
                <a:spcPts val="0"/>
              </a:spcAft>
              <a:buClr>
                <a:schemeClr val="dk1"/>
              </a:buClr>
              <a:buSzPts val="2400"/>
              <a:buChar char="•"/>
            </a:pPr>
            <a:r>
              <a:rPr lang="en-US"/>
              <a:t>Partition the data used in solving the problem among the cores.</a:t>
            </a:r>
            <a:endParaRPr/>
          </a:p>
          <a:p>
            <a:pPr indent="-228600" lvl="1" marL="685800" rtl="0" algn="l">
              <a:lnSpc>
                <a:spcPct val="90000"/>
              </a:lnSpc>
              <a:spcBef>
                <a:spcPts val="500"/>
              </a:spcBef>
              <a:spcAft>
                <a:spcPts val="0"/>
              </a:spcAft>
              <a:buClr>
                <a:schemeClr val="dk1"/>
              </a:buClr>
              <a:buSzPts val="2400"/>
              <a:buChar char="•"/>
            </a:pPr>
            <a:r>
              <a:rPr lang="en-US"/>
              <a:t>Each core carries out similar operations on it’s part of the data.</a:t>
            </a:r>
            <a:endParaRPr/>
          </a:p>
        </p:txBody>
      </p:sp>
      <p:sp>
        <p:nvSpPr>
          <p:cNvPr id="350" name="Google Shape;350;p3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Professor P</a:t>
            </a:r>
            <a:endParaRPr/>
          </a:p>
        </p:txBody>
      </p:sp>
      <p:sp>
        <p:nvSpPr>
          <p:cNvPr id="356" name="Google Shape;356;p3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1G3WK4XC\MP900422592[1].jpg" id="357" name="Google Shape;357;p32"/>
          <p:cNvPicPr preferRelativeResize="0"/>
          <p:nvPr/>
        </p:nvPicPr>
        <p:blipFill rotWithShape="1">
          <a:blip r:embed="rId3">
            <a:alphaModFix/>
          </a:blip>
          <a:srcRect b="0" l="0" r="0" t="0"/>
          <a:stretch/>
        </p:blipFill>
        <p:spPr>
          <a:xfrm>
            <a:off x="6959601" y="1125538"/>
            <a:ext cx="3248025" cy="4868862"/>
          </a:xfrm>
          <a:prstGeom prst="rect">
            <a:avLst/>
          </a:prstGeom>
          <a:noFill/>
          <a:ln>
            <a:noFill/>
          </a:ln>
        </p:spPr>
      </p:pic>
      <p:pic>
        <p:nvPicPr>
          <p:cNvPr descr="C:\Documents and Settings\liszka\Local Settings\Temporary Internet Files\Content.IE5\Q7HGDQRM\MC900024275[1].wmf" id="358" name="Google Shape;358;p32"/>
          <p:cNvPicPr preferRelativeResize="0"/>
          <p:nvPr/>
        </p:nvPicPr>
        <p:blipFill rotWithShape="1">
          <a:blip r:embed="rId4">
            <a:alphaModFix/>
          </a:blip>
          <a:srcRect b="0" l="0" r="0" t="0"/>
          <a:stretch/>
        </p:blipFill>
        <p:spPr>
          <a:xfrm>
            <a:off x="2208214" y="4292600"/>
            <a:ext cx="1946275" cy="1155700"/>
          </a:xfrm>
          <a:prstGeom prst="rect">
            <a:avLst/>
          </a:prstGeom>
          <a:noFill/>
          <a:ln>
            <a:noFill/>
          </a:ln>
        </p:spPr>
      </p:pic>
      <p:sp>
        <p:nvSpPr>
          <p:cNvPr id="359" name="Google Shape;359;p32"/>
          <p:cNvSpPr txBox="1"/>
          <p:nvPr/>
        </p:nvSpPr>
        <p:spPr>
          <a:xfrm>
            <a:off x="3719513" y="2565400"/>
            <a:ext cx="2508250" cy="1174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15 questions</a:t>
            </a:r>
            <a:endParaRPr/>
          </a:p>
          <a:p>
            <a:pPr indent="0" lvl="0" marL="0" marR="0" rtl="0" algn="l">
              <a:spcBef>
                <a:spcPts val="64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300 exams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Professor P’s grading assistants</a:t>
            </a:r>
            <a:endParaRPr/>
          </a:p>
        </p:txBody>
      </p:sp>
      <p:sp>
        <p:nvSpPr>
          <p:cNvPr id="365" name="Google Shape;365;p3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1G3WK4XC\MP900439561[1].jpg" id="366" name="Google Shape;366;p33"/>
          <p:cNvPicPr preferRelativeResize="0"/>
          <p:nvPr/>
        </p:nvPicPr>
        <p:blipFill rotWithShape="1">
          <a:blip r:embed="rId3">
            <a:alphaModFix/>
          </a:blip>
          <a:srcRect b="0" l="0" r="0" t="0"/>
          <a:stretch/>
        </p:blipFill>
        <p:spPr>
          <a:xfrm>
            <a:off x="2895600" y="1839433"/>
            <a:ext cx="6400800" cy="3726342"/>
          </a:xfrm>
          <a:prstGeom prst="rect">
            <a:avLst/>
          </a:prstGeom>
          <a:noFill/>
          <a:ln>
            <a:noFill/>
          </a:ln>
        </p:spPr>
      </p:pic>
      <p:sp>
        <p:nvSpPr>
          <p:cNvPr id="367" name="Google Shape;367;p33"/>
          <p:cNvSpPr txBox="1"/>
          <p:nvPr/>
        </p:nvSpPr>
        <p:spPr>
          <a:xfrm>
            <a:off x="3503614" y="4652963"/>
            <a:ext cx="113347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TA#1</a:t>
            </a:r>
            <a:endParaRPr/>
          </a:p>
        </p:txBody>
      </p:sp>
      <p:sp>
        <p:nvSpPr>
          <p:cNvPr id="368" name="Google Shape;368;p33"/>
          <p:cNvSpPr txBox="1"/>
          <p:nvPr/>
        </p:nvSpPr>
        <p:spPr>
          <a:xfrm>
            <a:off x="5519739" y="4868864"/>
            <a:ext cx="1133475" cy="5857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TA#2</a:t>
            </a:r>
            <a:endParaRPr/>
          </a:p>
        </p:txBody>
      </p:sp>
      <p:sp>
        <p:nvSpPr>
          <p:cNvPr id="369" name="Google Shape;369;p33"/>
          <p:cNvSpPr txBox="1"/>
          <p:nvPr/>
        </p:nvSpPr>
        <p:spPr>
          <a:xfrm>
            <a:off x="7391401" y="4797425"/>
            <a:ext cx="1135063"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4"/>
          <p:cNvSpPr txBox="1"/>
          <p:nvPr>
            <p:ph type="title"/>
          </p:nvPr>
        </p:nvSpPr>
        <p:spPr>
          <a:xfrm>
            <a:off x="988829" y="1"/>
            <a:ext cx="9428348"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Division of work – data parallelism</a:t>
            </a:r>
            <a:endParaRPr/>
          </a:p>
        </p:txBody>
      </p:sp>
      <p:sp>
        <p:nvSpPr>
          <p:cNvPr id="375" name="Google Shape;375;p3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Q7HGDQRM\MC900024275[1].wmf" id="376" name="Google Shape;376;p34"/>
          <p:cNvPicPr preferRelativeResize="0"/>
          <p:nvPr/>
        </p:nvPicPr>
        <p:blipFill rotWithShape="1">
          <a:blip r:embed="rId3">
            <a:alphaModFix/>
          </a:blip>
          <a:srcRect b="0" l="0" r="0" t="0"/>
          <a:stretch/>
        </p:blipFill>
        <p:spPr>
          <a:xfrm>
            <a:off x="2927351" y="2349500"/>
            <a:ext cx="1947863" cy="1155700"/>
          </a:xfrm>
          <a:prstGeom prst="rect">
            <a:avLst/>
          </a:prstGeom>
          <a:noFill/>
          <a:ln>
            <a:noFill/>
          </a:ln>
        </p:spPr>
      </p:pic>
      <p:sp>
        <p:nvSpPr>
          <p:cNvPr id="377" name="Google Shape;377;p34"/>
          <p:cNvSpPr txBox="1"/>
          <p:nvPr/>
        </p:nvSpPr>
        <p:spPr>
          <a:xfrm>
            <a:off x="2424114" y="1989138"/>
            <a:ext cx="113347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TA#1</a:t>
            </a:r>
            <a:endParaRPr/>
          </a:p>
        </p:txBody>
      </p:sp>
      <p:sp>
        <p:nvSpPr>
          <p:cNvPr id="378" name="Google Shape;378;p34"/>
          <p:cNvSpPr txBox="1"/>
          <p:nvPr/>
        </p:nvSpPr>
        <p:spPr>
          <a:xfrm>
            <a:off x="6959601" y="4581525"/>
            <a:ext cx="113347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TA#2</a:t>
            </a:r>
            <a:endParaRPr/>
          </a:p>
        </p:txBody>
      </p:sp>
      <p:sp>
        <p:nvSpPr>
          <p:cNvPr id="379" name="Google Shape;379;p34"/>
          <p:cNvSpPr txBox="1"/>
          <p:nvPr/>
        </p:nvSpPr>
        <p:spPr>
          <a:xfrm>
            <a:off x="8759826" y="2420938"/>
            <a:ext cx="113347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TA#3</a:t>
            </a:r>
            <a:endParaRPr/>
          </a:p>
        </p:txBody>
      </p:sp>
      <p:pic>
        <p:nvPicPr>
          <p:cNvPr descr="C:\Documents and Settings\liszka\Local Settings\Temporary Internet Files\Content.IE5\Q7HGDQRM\MC900024275[1].wmf" id="380" name="Google Shape;380;p34"/>
          <p:cNvPicPr preferRelativeResize="0"/>
          <p:nvPr/>
        </p:nvPicPr>
        <p:blipFill rotWithShape="1">
          <a:blip r:embed="rId3">
            <a:alphaModFix/>
          </a:blip>
          <a:srcRect b="0" l="0" r="0" t="0"/>
          <a:stretch/>
        </p:blipFill>
        <p:spPr>
          <a:xfrm>
            <a:off x="5159376" y="3860800"/>
            <a:ext cx="1947863" cy="1155700"/>
          </a:xfrm>
          <a:prstGeom prst="rect">
            <a:avLst/>
          </a:prstGeom>
          <a:noFill/>
          <a:ln>
            <a:noFill/>
          </a:ln>
        </p:spPr>
      </p:pic>
      <p:pic>
        <p:nvPicPr>
          <p:cNvPr descr="C:\Documents and Settings\liszka\Local Settings\Temporary Internet Files\Content.IE5\Q7HGDQRM\MC900024275[1].wmf" id="381" name="Google Shape;381;p34"/>
          <p:cNvPicPr preferRelativeResize="0"/>
          <p:nvPr/>
        </p:nvPicPr>
        <p:blipFill rotWithShape="1">
          <a:blip r:embed="rId3">
            <a:alphaModFix/>
          </a:blip>
          <a:srcRect b="0" l="0" r="0" t="0"/>
          <a:stretch/>
        </p:blipFill>
        <p:spPr>
          <a:xfrm>
            <a:off x="7032626" y="1628775"/>
            <a:ext cx="1947863" cy="1155700"/>
          </a:xfrm>
          <a:prstGeom prst="rect">
            <a:avLst/>
          </a:prstGeom>
          <a:noFill/>
          <a:ln>
            <a:noFill/>
          </a:ln>
        </p:spPr>
      </p:pic>
      <p:sp>
        <p:nvSpPr>
          <p:cNvPr id="382" name="Google Shape;382;p34"/>
          <p:cNvSpPr txBox="1"/>
          <p:nvPr/>
        </p:nvSpPr>
        <p:spPr>
          <a:xfrm>
            <a:off x="2711451" y="3429000"/>
            <a:ext cx="143827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100 exams</a:t>
            </a:r>
            <a:endParaRPr/>
          </a:p>
        </p:txBody>
      </p:sp>
      <p:sp>
        <p:nvSpPr>
          <p:cNvPr id="383" name="Google Shape;383;p34"/>
          <p:cNvSpPr txBox="1"/>
          <p:nvPr/>
        </p:nvSpPr>
        <p:spPr>
          <a:xfrm>
            <a:off x="6672264" y="2708275"/>
            <a:ext cx="143827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100 exams</a:t>
            </a:r>
            <a:endParaRPr/>
          </a:p>
        </p:txBody>
      </p:sp>
      <p:sp>
        <p:nvSpPr>
          <p:cNvPr id="384" name="Google Shape;384;p34"/>
          <p:cNvSpPr txBox="1"/>
          <p:nvPr/>
        </p:nvSpPr>
        <p:spPr>
          <a:xfrm>
            <a:off x="4511676" y="4868863"/>
            <a:ext cx="143827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100 exams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5"/>
          <p:cNvSpPr txBox="1"/>
          <p:nvPr>
            <p:ph type="title"/>
          </p:nvPr>
        </p:nvSpPr>
        <p:spPr>
          <a:xfrm>
            <a:off x="712381" y="1"/>
            <a:ext cx="9704795"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Division of work – task parallelism</a:t>
            </a:r>
            <a:endParaRPr/>
          </a:p>
        </p:txBody>
      </p:sp>
      <p:sp>
        <p:nvSpPr>
          <p:cNvPr id="390" name="Google Shape;390;p3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391" name="Google Shape;391;p35"/>
          <p:cNvSpPr txBox="1"/>
          <p:nvPr/>
        </p:nvSpPr>
        <p:spPr>
          <a:xfrm>
            <a:off x="2424114" y="1989138"/>
            <a:ext cx="113347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TA#1</a:t>
            </a:r>
            <a:endParaRPr/>
          </a:p>
        </p:txBody>
      </p:sp>
      <p:sp>
        <p:nvSpPr>
          <p:cNvPr id="392" name="Google Shape;392;p35"/>
          <p:cNvSpPr txBox="1"/>
          <p:nvPr/>
        </p:nvSpPr>
        <p:spPr>
          <a:xfrm>
            <a:off x="6959601" y="4581525"/>
            <a:ext cx="113347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TA#2</a:t>
            </a:r>
            <a:endParaRPr/>
          </a:p>
        </p:txBody>
      </p:sp>
      <p:sp>
        <p:nvSpPr>
          <p:cNvPr id="393" name="Google Shape;393;p35"/>
          <p:cNvSpPr txBox="1"/>
          <p:nvPr/>
        </p:nvSpPr>
        <p:spPr>
          <a:xfrm>
            <a:off x="8759826" y="2420938"/>
            <a:ext cx="113347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66FF"/>
                </a:solidFill>
                <a:latin typeface="Calibri"/>
                <a:ea typeface="Calibri"/>
                <a:cs typeface="Calibri"/>
                <a:sym typeface="Calibri"/>
              </a:rPr>
              <a:t>TA#3</a:t>
            </a:r>
            <a:endParaRPr/>
          </a:p>
        </p:txBody>
      </p:sp>
      <p:sp>
        <p:nvSpPr>
          <p:cNvPr id="394" name="Google Shape;394;p35"/>
          <p:cNvSpPr txBox="1"/>
          <p:nvPr/>
        </p:nvSpPr>
        <p:spPr>
          <a:xfrm>
            <a:off x="2711451" y="3429000"/>
            <a:ext cx="192087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Questions 1 - 5</a:t>
            </a:r>
            <a:endParaRPr/>
          </a:p>
        </p:txBody>
      </p:sp>
      <p:sp>
        <p:nvSpPr>
          <p:cNvPr id="395" name="Google Shape;395;p35"/>
          <p:cNvSpPr txBox="1"/>
          <p:nvPr/>
        </p:nvSpPr>
        <p:spPr>
          <a:xfrm>
            <a:off x="4656138" y="4941888"/>
            <a:ext cx="206375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Questions 6 - 10</a:t>
            </a:r>
            <a:endParaRPr/>
          </a:p>
        </p:txBody>
      </p:sp>
      <p:sp>
        <p:nvSpPr>
          <p:cNvPr id="396" name="Google Shape;396;p35"/>
          <p:cNvSpPr txBox="1"/>
          <p:nvPr/>
        </p:nvSpPr>
        <p:spPr>
          <a:xfrm>
            <a:off x="6600825" y="2997200"/>
            <a:ext cx="2185988"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Questions 11 - 15</a:t>
            </a:r>
            <a:endParaRPr/>
          </a:p>
        </p:txBody>
      </p:sp>
      <p:pic>
        <p:nvPicPr>
          <p:cNvPr descr="C:\Documents and Settings\liszka\Local Settings\Temporary Internet Files\Content.IE5\1G3WK4XC\MC900310998[1].wmf" id="397" name="Google Shape;397;p35"/>
          <p:cNvPicPr preferRelativeResize="0"/>
          <p:nvPr/>
        </p:nvPicPr>
        <p:blipFill rotWithShape="1">
          <a:blip r:embed="rId3">
            <a:alphaModFix/>
          </a:blip>
          <a:srcRect b="0" l="0" r="0" t="0"/>
          <a:stretch/>
        </p:blipFill>
        <p:spPr>
          <a:xfrm>
            <a:off x="3719513" y="1916113"/>
            <a:ext cx="1306512" cy="1270000"/>
          </a:xfrm>
          <a:prstGeom prst="rect">
            <a:avLst/>
          </a:prstGeom>
          <a:noFill/>
          <a:ln>
            <a:noFill/>
          </a:ln>
        </p:spPr>
      </p:pic>
      <p:pic>
        <p:nvPicPr>
          <p:cNvPr descr="C:\Documents and Settings\liszka\Local Settings\Temporary Internet Files\Content.IE5\1G3WK4XC\MC900310998[1].wmf" id="398" name="Google Shape;398;p35"/>
          <p:cNvPicPr preferRelativeResize="0"/>
          <p:nvPr/>
        </p:nvPicPr>
        <p:blipFill rotWithShape="1">
          <a:blip r:embed="rId3">
            <a:alphaModFix/>
          </a:blip>
          <a:srcRect b="0" l="0" r="0" t="0"/>
          <a:stretch/>
        </p:blipFill>
        <p:spPr>
          <a:xfrm>
            <a:off x="5087938" y="3573463"/>
            <a:ext cx="1306512" cy="1268412"/>
          </a:xfrm>
          <a:prstGeom prst="rect">
            <a:avLst/>
          </a:prstGeom>
          <a:noFill/>
          <a:ln>
            <a:noFill/>
          </a:ln>
        </p:spPr>
      </p:pic>
      <p:pic>
        <p:nvPicPr>
          <p:cNvPr descr="C:\Documents and Settings\liszka\Local Settings\Temporary Internet Files\Content.IE5\1G3WK4XC\MC900310998[1].wmf" id="399" name="Google Shape;399;p35"/>
          <p:cNvPicPr preferRelativeResize="0"/>
          <p:nvPr/>
        </p:nvPicPr>
        <p:blipFill rotWithShape="1">
          <a:blip r:embed="rId3">
            <a:alphaModFix/>
          </a:blip>
          <a:srcRect b="0" l="0" r="0" t="0"/>
          <a:stretch/>
        </p:blipFill>
        <p:spPr>
          <a:xfrm>
            <a:off x="7175501" y="1628775"/>
            <a:ext cx="1306513" cy="1270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6"/>
          <p:cNvSpPr txBox="1"/>
          <p:nvPr>
            <p:ph type="title"/>
          </p:nvPr>
        </p:nvSpPr>
        <p:spPr>
          <a:xfrm>
            <a:off x="595423" y="1"/>
            <a:ext cx="9821753"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Division of work – data parallelism</a:t>
            </a:r>
            <a:endParaRPr/>
          </a:p>
        </p:txBody>
      </p:sp>
      <p:sp>
        <p:nvSpPr>
          <p:cNvPr id="405" name="Google Shape;405;p3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406" name="Google Shape;406;p36"/>
          <p:cNvPicPr preferRelativeResize="0"/>
          <p:nvPr/>
        </p:nvPicPr>
        <p:blipFill rotWithShape="1">
          <a:blip r:embed="rId3">
            <a:alphaModFix/>
          </a:blip>
          <a:srcRect b="0" l="0" r="0" t="0"/>
          <a:stretch/>
        </p:blipFill>
        <p:spPr>
          <a:xfrm>
            <a:off x="3000375" y="2060575"/>
            <a:ext cx="6040438" cy="194468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7"/>
          <p:cNvSpPr txBox="1"/>
          <p:nvPr>
            <p:ph type="title"/>
          </p:nvPr>
        </p:nvSpPr>
        <p:spPr>
          <a:xfrm>
            <a:off x="838201" y="1"/>
            <a:ext cx="9578976"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Division of work – task parallelism</a:t>
            </a:r>
            <a:endParaRPr/>
          </a:p>
        </p:txBody>
      </p:sp>
      <p:sp>
        <p:nvSpPr>
          <p:cNvPr id="412" name="Google Shape;412;p3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413" name="Google Shape;413;p37"/>
          <p:cNvPicPr preferRelativeResize="0"/>
          <p:nvPr/>
        </p:nvPicPr>
        <p:blipFill rotWithShape="1">
          <a:blip r:embed="rId3">
            <a:alphaModFix/>
          </a:blip>
          <a:srcRect b="0" l="0" r="0" t="0"/>
          <a:stretch/>
        </p:blipFill>
        <p:spPr>
          <a:xfrm>
            <a:off x="1847850" y="1628776"/>
            <a:ext cx="7505700" cy="3744913"/>
          </a:xfrm>
          <a:prstGeom prst="rect">
            <a:avLst/>
          </a:prstGeom>
          <a:noFill/>
          <a:ln>
            <a:noFill/>
          </a:ln>
        </p:spPr>
      </p:pic>
      <p:sp>
        <p:nvSpPr>
          <p:cNvPr id="414" name="Google Shape;414;p37"/>
          <p:cNvSpPr txBox="1"/>
          <p:nvPr/>
        </p:nvSpPr>
        <p:spPr>
          <a:xfrm>
            <a:off x="7751763" y="3933825"/>
            <a:ext cx="2284412" cy="15573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sng" cap="none" strike="noStrike">
                <a:solidFill>
                  <a:srgbClr val="0066FF"/>
                </a:solidFill>
                <a:latin typeface="Calibri"/>
                <a:ea typeface="Calibri"/>
                <a:cs typeface="Calibri"/>
                <a:sym typeface="Calibri"/>
              </a:rPr>
              <a:t>Tasks</a:t>
            </a:r>
            <a:endParaRPr/>
          </a:p>
          <a:p>
            <a:pPr indent="-514350" lvl="0" marL="514350" marR="0" rtl="0" algn="l">
              <a:spcBef>
                <a:spcPts val="560"/>
              </a:spcBef>
              <a:spcAft>
                <a:spcPts val="0"/>
              </a:spcAft>
              <a:buClr>
                <a:schemeClr val="dk1"/>
              </a:buClr>
              <a:buSzPts val="1680"/>
              <a:buFont typeface="Noto Sans Symbols"/>
              <a:buAutoNum type="arabicParenR"/>
            </a:pPr>
            <a:r>
              <a:rPr b="0" i="0" lang="en-US" sz="2800" u="none" cap="none" strike="noStrike">
                <a:solidFill>
                  <a:srgbClr val="0066FF"/>
                </a:solidFill>
                <a:latin typeface="Calibri"/>
                <a:ea typeface="Calibri"/>
                <a:cs typeface="Calibri"/>
                <a:sym typeface="Calibri"/>
              </a:rPr>
              <a:t>Receiving</a:t>
            </a:r>
            <a:endParaRPr/>
          </a:p>
          <a:p>
            <a:pPr indent="-514350" lvl="0" marL="514350" marR="0" rtl="0" algn="l">
              <a:spcBef>
                <a:spcPts val="560"/>
              </a:spcBef>
              <a:spcAft>
                <a:spcPts val="0"/>
              </a:spcAft>
              <a:buClr>
                <a:schemeClr val="dk1"/>
              </a:buClr>
              <a:buSzPts val="1680"/>
              <a:buFont typeface="Noto Sans Symbols"/>
              <a:buAutoNum type="arabicParenR"/>
            </a:pPr>
            <a:r>
              <a:rPr b="0" i="0" lang="en-US" sz="2800" u="none" cap="none" strike="noStrike">
                <a:solidFill>
                  <a:srgbClr val="0066FF"/>
                </a:solidFill>
                <a:latin typeface="Calibri"/>
                <a:ea typeface="Calibri"/>
                <a:cs typeface="Calibri"/>
                <a:sym typeface="Calibri"/>
              </a:rPr>
              <a:t>Addition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Coordination</a:t>
            </a:r>
            <a:endParaRPr/>
          </a:p>
        </p:txBody>
      </p:sp>
      <p:sp>
        <p:nvSpPr>
          <p:cNvPr id="420" name="Google Shape;420;p38"/>
          <p:cNvSpPr txBox="1"/>
          <p:nvPr>
            <p:ph idx="1" type="body"/>
          </p:nvPr>
        </p:nvSpPr>
        <p:spPr>
          <a:xfrm>
            <a:off x="838200" y="1690687"/>
            <a:ext cx="9640888" cy="44021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Cores usually need to coordinate their work.</a:t>
            </a:r>
            <a:endParaRPr/>
          </a:p>
          <a:p>
            <a:pPr indent="-228600" lvl="0" marL="228600" rtl="0" algn="l">
              <a:lnSpc>
                <a:spcPct val="90000"/>
              </a:lnSpc>
              <a:spcBef>
                <a:spcPts val="1000"/>
              </a:spcBef>
              <a:spcAft>
                <a:spcPts val="0"/>
              </a:spcAft>
              <a:buClr>
                <a:srgbClr val="3399FF"/>
              </a:buClr>
              <a:buSzPts val="2800"/>
              <a:buChar char="•"/>
            </a:pPr>
            <a:r>
              <a:rPr lang="en-US">
                <a:solidFill>
                  <a:srgbClr val="3399FF"/>
                </a:solidFill>
              </a:rPr>
              <a:t>Communication</a:t>
            </a:r>
            <a:r>
              <a:rPr lang="en-US"/>
              <a:t> – one or more cores send their current partial sums to another core.</a:t>
            </a:r>
            <a:endParaRPr/>
          </a:p>
          <a:p>
            <a:pPr indent="-228600" lvl="0" marL="228600" rtl="0" algn="l">
              <a:lnSpc>
                <a:spcPct val="90000"/>
              </a:lnSpc>
              <a:spcBef>
                <a:spcPts val="1000"/>
              </a:spcBef>
              <a:spcAft>
                <a:spcPts val="0"/>
              </a:spcAft>
              <a:buClr>
                <a:srgbClr val="3399FF"/>
              </a:buClr>
              <a:buSzPts val="2800"/>
              <a:buChar char="•"/>
            </a:pPr>
            <a:r>
              <a:rPr lang="en-US">
                <a:solidFill>
                  <a:srgbClr val="3399FF"/>
                </a:solidFill>
              </a:rPr>
              <a:t>Load balancing </a:t>
            </a:r>
            <a:r>
              <a:rPr lang="en-US"/>
              <a:t>– share the work evenly among the cores so that one is not heavily loaded.</a:t>
            </a:r>
            <a:endParaRPr/>
          </a:p>
          <a:p>
            <a:pPr indent="-228600" lvl="0" marL="228600" rtl="0" algn="l">
              <a:lnSpc>
                <a:spcPct val="90000"/>
              </a:lnSpc>
              <a:spcBef>
                <a:spcPts val="1000"/>
              </a:spcBef>
              <a:spcAft>
                <a:spcPts val="0"/>
              </a:spcAft>
              <a:buClr>
                <a:srgbClr val="3399FF"/>
              </a:buClr>
              <a:buSzPts val="2800"/>
              <a:buChar char="•"/>
            </a:pPr>
            <a:r>
              <a:rPr lang="en-US">
                <a:solidFill>
                  <a:srgbClr val="3399FF"/>
                </a:solidFill>
              </a:rPr>
              <a:t>Synchronization</a:t>
            </a:r>
            <a:r>
              <a:rPr lang="en-US"/>
              <a:t> – because each core works at its own pace, make sure cores do not get too far ahead of the rest.</a:t>
            </a:r>
            <a:endParaRPr/>
          </a:p>
        </p:txBody>
      </p:sp>
      <p:sp>
        <p:nvSpPr>
          <p:cNvPr id="421" name="Google Shape;421;p3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we’ll be doing</a:t>
            </a:r>
            <a:endParaRPr/>
          </a:p>
        </p:txBody>
      </p:sp>
      <p:sp>
        <p:nvSpPr>
          <p:cNvPr id="427" name="Google Shape;42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Learning to write programs that are explicitly parallel.</a:t>
            </a:r>
            <a:endParaRPr/>
          </a:p>
          <a:p>
            <a:pPr indent="-228600" lvl="0" marL="228600" rtl="0" algn="l">
              <a:lnSpc>
                <a:spcPct val="90000"/>
              </a:lnSpc>
              <a:spcBef>
                <a:spcPts val="1000"/>
              </a:spcBef>
              <a:spcAft>
                <a:spcPts val="0"/>
              </a:spcAft>
              <a:buClr>
                <a:schemeClr val="dk1"/>
              </a:buClr>
              <a:buSzPts val="2800"/>
              <a:buChar char="•"/>
            </a:pPr>
            <a:r>
              <a:rPr lang="en-US"/>
              <a:t>Using the C language.</a:t>
            </a:r>
            <a:endParaRPr/>
          </a:p>
          <a:p>
            <a:pPr indent="-228600" lvl="0" marL="228600" rtl="0" algn="l">
              <a:lnSpc>
                <a:spcPct val="90000"/>
              </a:lnSpc>
              <a:spcBef>
                <a:spcPts val="1000"/>
              </a:spcBef>
              <a:spcAft>
                <a:spcPts val="0"/>
              </a:spcAft>
              <a:buClr>
                <a:schemeClr val="dk1"/>
              </a:buClr>
              <a:buSzPts val="2800"/>
              <a:buChar char="•"/>
            </a:pPr>
            <a:r>
              <a:rPr lang="en-US"/>
              <a:t>Using three different extensions to C.</a:t>
            </a:r>
            <a:endParaRPr/>
          </a:p>
          <a:p>
            <a:pPr indent="-228600" lvl="1" marL="685800" rtl="0" algn="l">
              <a:lnSpc>
                <a:spcPct val="90000"/>
              </a:lnSpc>
              <a:spcBef>
                <a:spcPts val="500"/>
              </a:spcBef>
              <a:spcAft>
                <a:spcPts val="0"/>
              </a:spcAft>
              <a:buClr>
                <a:schemeClr val="dk1"/>
              </a:buClr>
              <a:buSzPts val="2400"/>
              <a:buChar char="•"/>
            </a:pPr>
            <a:r>
              <a:rPr lang="en-US"/>
              <a:t>Message-Passing Interface (MPI)</a:t>
            </a:r>
            <a:endParaRPr/>
          </a:p>
          <a:p>
            <a:pPr indent="-228600" lvl="1" marL="685800" rtl="0" algn="l">
              <a:lnSpc>
                <a:spcPct val="90000"/>
              </a:lnSpc>
              <a:spcBef>
                <a:spcPts val="500"/>
              </a:spcBef>
              <a:spcAft>
                <a:spcPts val="0"/>
              </a:spcAft>
              <a:buClr>
                <a:schemeClr val="dk1"/>
              </a:buClr>
              <a:buSzPts val="2400"/>
              <a:buChar char="•"/>
            </a:pPr>
            <a:r>
              <a:rPr lang="en-US"/>
              <a:t>Posix Threads (Pthreads)</a:t>
            </a:r>
            <a:endParaRPr/>
          </a:p>
          <a:p>
            <a:pPr indent="-228600" lvl="1" marL="685800" rtl="0" algn="l">
              <a:lnSpc>
                <a:spcPct val="90000"/>
              </a:lnSpc>
              <a:spcBef>
                <a:spcPts val="500"/>
              </a:spcBef>
              <a:spcAft>
                <a:spcPts val="0"/>
              </a:spcAft>
              <a:buClr>
                <a:schemeClr val="dk1"/>
              </a:buClr>
              <a:buSzPts val="2400"/>
              <a:buChar char="•"/>
            </a:pPr>
            <a:r>
              <a:rPr lang="en-US"/>
              <a:t>OpenMP</a:t>
            </a:r>
            <a:endParaRPr/>
          </a:p>
        </p:txBody>
      </p:sp>
      <p:sp>
        <p:nvSpPr>
          <p:cNvPr id="428" name="Google Shape;428;p3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 of parallel systems</a:t>
            </a:r>
            <a:endParaRPr/>
          </a:p>
        </p:txBody>
      </p:sp>
      <p:sp>
        <p:nvSpPr>
          <p:cNvPr id="434" name="Google Shape;434;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Shared-memory</a:t>
            </a:r>
            <a:endParaRPr/>
          </a:p>
          <a:p>
            <a:pPr indent="-228600" lvl="1" marL="685800" rtl="0" algn="l">
              <a:lnSpc>
                <a:spcPct val="90000"/>
              </a:lnSpc>
              <a:spcBef>
                <a:spcPts val="500"/>
              </a:spcBef>
              <a:spcAft>
                <a:spcPts val="0"/>
              </a:spcAft>
              <a:buClr>
                <a:schemeClr val="dk1"/>
              </a:buClr>
              <a:buSzPts val="2400"/>
              <a:buChar char="•"/>
            </a:pPr>
            <a:r>
              <a:rPr lang="en-US"/>
              <a:t>The cores can share access to the computer’s memory.</a:t>
            </a:r>
            <a:endParaRPr/>
          </a:p>
          <a:p>
            <a:pPr indent="-228600" lvl="1" marL="685800" rtl="0" algn="l">
              <a:lnSpc>
                <a:spcPct val="90000"/>
              </a:lnSpc>
              <a:spcBef>
                <a:spcPts val="500"/>
              </a:spcBef>
              <a:spcAft>
                <a:spcPts val="0"/>
              </a:spcAft>
              <a:buClr>
                <a:schemeClr val="dk1"/>
              </a:buClr>
              <a:buSzPts val="2400"/>
              <a:buChar char="•"/>
            </a:pPr>
            <a:r>
              <a:rPr lang="en-US"/>
              <a:t>Coordinate the cores by having them examine and update shared memory locations.</a:t>
            </a:r>
            <a:endParaRPr/>
          </a:p>
          <a:p>
            <a:pPr indent="-228600" lvl="0" marL="228600" rtl="0" algn="l">
              <a:lnSpc>
                <a:spcPct val="90000"/>
              </a:lnSpc>
              <a:spcBef>
                <a:spcPts val="1000"/>
              </a:spcBef>
              <a:spcAft>
                <a:spcPts val="0"/>
              </a:spcAft>
              <a:buClr>
                <a:schemeClr val="dk1"/>
              </a:buClr>
              <a:buSzPts val="2800"/>
              <a:buChar char="•"/>
            </a:pPr>
            <a:r>
              <a:rPr lang="en-US"/>
              <a:t>Distributed-memory</a:t>
            </a:r>
            <a:endParaRPr/>
          </a:p>
          <a:p>
            <a:pPr indent="-228600" lvl="1" marL="685800" rtl="0" algn="l">
              <a:lnSpc>
                <a:spcPct val="90000"/>
              </a:lnSpc>
              <a:spcBef>
                <a:spcPts val="500"/>
              </a:spcBef>
              <a:spcAft>
                <a:spcPts val="0"/>
              </a:spcAft>
              <a:buClr>
                <a:schemeClr val="dk1"/>
              </a:buClr>
              <a:buSzPts val="2400"/>
              <a:buChar char="•"/>
            </a:pPr>
            <a:r>
              <a:rPr lang="en-US"/>
              <a:t>Each core has its own, private memory.</a:t>
            </a:r>
            <a:endParaRPr/>
          </a:p>
          <a:p>
            <a:pPr indent="-228600" lvl="1" marL="685800" rtl="0" algn="l">
              <a:lnSpc>
                <a:spcPct val="90000"/>
              </a:lnSpc>
              <a:spcBef>
                <a:spcPts val="500"/>
              </a:spcBef>
              <a:spcAft>
                <a:spcPts val="0"/>
              </a:spcAft>
              <a:buClr>
                <a:schemeClr val="dk1"/>
              </a:buClr>
              <a:buSzPts val="2400"/>
              <a:buChar char="•"/>
            </a:pPr>
            <a:r>
              <a:rPr lang="en-US"/>
              <a:t>The cores must communicate explicitly by sending messages across a network.</a:t>
            </a:r>
            <a:endParaRPr/>
          </a:p>
        </p:txBody>
      </p:sp>
      <p:sp>
        <p:nvSpPr>
          <p:cNvPr id="435" name="Google Shape;435;p4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 of parallel systems</a:t>
            </a:r>
            <a:endParaRPr/>
          </a:p>
        </p:txBody>
      </p:sp>
      <p:sp>
        <p:nvSpPr>
          <p:cNvPr id="441" name="Google Shape;441;p4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442" name="Google Shape;442;p41"/>
          <p:cNvPicPr preferRelativeResize="0"/>
          <p:nvPr/>
        </p:nvPicPr>
        <p:blipFill rotWithShape="1">
          <a:blip r:embed="rId3">
            <a:alphaModFix/>
          </a:blip>
          <a:srcRect b="0" l="0" r="0" t="0"/>
          <a:stretch/>
        </p:blipFill>
        <p:spPr>
          <a:xfrm>
            <a:off x="1858741" y="1489869"/>
            <a:ext cx="7993062" cy="3878262"/>
          </a:xfrm>
          <a:prstGeom prst="rect">
            <a:avLst/>
          </a:prstGeom>
          <a:noFill/>
          <a:ln>
            <a:noFill/>
          </a:ln>
        </p:spPr>
      </p:pic>
      <p:sp>
        <p:nvSpPr>
          <p:cNvPr id="443" name="Google Shape;443;p41"/>
          <p:cNvSpPr/>
          <p:nvPr/>
        </p:nvSpPr>
        <p:spPr>
          <a:xfrm>
            <a:off x="1992314" y="5229225"/>
            <a:ext cx="312102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Shared-memory</a:t>
            </a:r>
            <a:endParaRPr/>
          </a:p>
        </p:txBody>
      </p:sp>
      <p:sp>
        <p:nvSpPr>
          <p:cNvPr id="444" name="Google Shape;444;p41"/>
          <p:cNvSpPr/>
          <p:nvPr/>
        </p:nvSpPr>
        <p:spPr>
          <a:xfrm>
            <a:off x="5591175" y="5229225"/>
            <a:ext cx="45720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Distributed-memory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Terminology </a:t>
            </a:r>
            <a:endParaRPr/>
          </a:p>
        </p:txBody>
      </p:sp>
      <p:sp>
        <p:nvSpPr>
          <p:cNvPr id="450" name="Google Shape;45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66FF"/>
              </a:buClr>
              <a:buSzPts val="2800"/>
              <a:buChar char="•"/>
            </a:pPr>
            <a:r>
              <a:rPr lang="en-US">
                <a:solidFill>
                  <a:srgbClr val="0066FF"/>
                </a:solidFill>
              </a:rPr>
              <a:t>Concurrent computing </a:t>
            </a:r>
            <a:r>
              <a:rPr lang="en-US"/>
              <a:t>– a program is one in which multiple tasks can be </a:t>
            </a:r>
            <a:r>
              <a:rPr lang="en-US" u="sng"/>
              <a:t>in progress </a:t>
            </a:r>
            <a:r>
              <a:rPr lang="en-US"/>
              <a:t>at any instant.</a:t>
            </a:r>
            <a:endParaRPr/>
          </a:p>
          <a:p>
            <a:pPr indent="-228600" lvl="0" marL="228600" rtl="0" algn="l">
              <a:lnSpc>
                <a:spcPct val="90000"/>
              </a:lnSpc>
              <a:spcBef>
                <a:spcPts val="1000"/>
              </a:spcBef>
              <a:spcAft>
                <a:spcPts val="0"/>
              </a:spcAft>
              <a:buClr>
                <a:srgbClr val="0066FF"/>
              </a:buClr>
              <a:buSzPts val="2800"/>
              <a:buChar char="•"/>
            </a:pPr>
            <a:r>
              <a:rPr lang="en-US">
                <a:solidFill>
                  <a:srgbClr val="0066FF"/>
                </a:solidFill>
              </a:rPr>
              <a:t>Parallel computing </a:t>
            </a:r>
            <a:r>
              <a:rPr lang="en-US"/>
              <a:t>– a program is one in which multiple tasks </a:t>
            </a:r>
            <a:r>
              <a:rPr lang="en-US" u="sng"/>
              <a:t>cooperate closely </a:t>
            </a:r>
            <a:r>
              <a:rPr lang="en-US"/>
              <a:t>to solve a problem</a:t>
            </a:r>
            <a:endParaRPr/>
          </a:p>
          <a:p>
            <a:pPr indent="-228600" lvl="0" marL="228600" rtl="0" algn="l">
              <a:lnSpc>
                <a:spcPct val="90000"/>
              </a:lnSpc>
              <a:spcBef>
                <a:spcPts val="1000"/>
              </a:spcBef>
              <a:spcAft>
                <a:spcPts val="0"/>
              </a:spcAft>
              <a:buClr>
                <a:srgbClr val="0066FF"/>
              </a:buClr>
              <a:buSzPts val="2800"/>
              <a:buChar char="•"/>
            </a:pPr>
            <a:r>
              <a:rPr lang="en-US">
                <a:solidFill>
                  <a:srgbClr val="0066FF"/>
                </a:solidFill>
              </a:rPr>
              <a:t>Distributed computing </a:t>
            </a:r>
            <a:r>
              <a:rPr lang="en-US"/>
              <a:t>– a program may need to cooperate with other programs to solve a problem.</a:t>
            </a:r>
            <a:endParaRPr/>
          </a:p>
        </p:txBody>
      </p:sp>
      <p:sp>
        <p:nvSpPr>
          <p:cNvPr id="451" name="Google Shape;451;p4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Concluding Remarks (1)</a:t>
            </a:r>
            <a:endParaRPr/>
          </a:p>
        </p:txBody>
      </p:sp>
      <p:sp>
        <p:nvSpPr>
          <p:cNvPr id="457" name="Google Shape;457;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laws of physics have brought us to the doorstep of multicore technology.</a:t>
            </a:r>
            <a:endParaRPr/>
          </a:p>
          <a:p>
            <a:pPr indent="-228600" lvl="0" marL="228600" rtl="0" algn="l">
              <a:lnSpc>
                <a:spcPct val="90000"/>
              </a:lnSpc>
              <a:spcBef>
                <a:spcPts val="1000"/>
              </a:spcBef>
              <a:spcAft>
                <a:spcPts val="0"/>
              </a:spcAft>
              <a:buClr>
                <a:schemeClr val="dk1"/>
              </a:buClr>
              <a:buSzPts val="2800"/>
              <a:buChar char="•"/>
            </a:pPr>
            <a:r>
              <a:rPr lang="en-US"/>
              <a:t>Serial programs typically don’t benefit from multiple cores.</a:t>
            </a:r>
            <a:endParaRPr/>
          </a:p>
          <a:p>
            <a:pPr indent="-228600" lvl="0" marL="228600" rtl="0" algn="l">
              <a:lnSpc>
                <a:spcPct val="90000"/>
              </a:lnSpc>
              <a:spcBef>
                <a:spcPts val="1000"/>
              </a:spcBef>
              <a:spcAft>
                <a:spcPts val="0"/>
              </a:spcAft>
              <a:buClr>
                <a:schemeClr val="dk1"/>
              </a:buClr>
              <a:buSzPts val="2800"/>
              <a:buChar char="•"/>
            </a:pPr>
            <a:r>
              <a:rPr lang="en-US"/>
              <a:t>Automatic parallel program generation from serial program code isn’t the most efficient approach to get high performance from multicore computers.</a:t>
            </a:r>
            <a:endParaRPr/>
          </a:p>
        </p:txBody>
      </p:sp>
      <p:sp>
        <p:nvSpPr>
          <p:cNvPr id="458" name="Google Shape;458;p4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Concluding Remarks (2)</a:t>
            </a:r>
            <a:endParaRPr/>
          </a:p>
        </p:txBody>
      </p:sp>
      <p:sp>
        <p:nvSpPr>
          <p:cNvPr id="464" name="Google Shape;464;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Learning to write parallel programs involves learning how to coordinate the cores.</a:t>
            </a:r>
            <a:endParaRPr/>
          </a:p>
          <a:p>
            <a:pPr indent="-228600" lvl="0" marL="228600" rtl="0" algn="l">
              <a:lnSpc>
                <a:spcPct val="90000"/>
              </a:lnSpc>
              <a:spcBef>
                <a:spcPts val="1000"/>
              </a:spcBef>
              <a:spcAft>
                <a:spcPts val="0"/>
              </a:spcAft>
              <a:buClr>
                <a:schemeClr val="dk1"/>
              </a:buClr>
              <a:buSzPts val="2800"/>
              <a:buChar char="•"/>
            </a:pPr>
            <a:r>
              <a:rPr lang="en-US"/>
              <a:t>Parallel programs are usually very complex and therefore, require sound program techniques and development.</a:t>
            </a:r>
            <a:endParaRPr/>
          </a:p>
        </p:txBody>
      </p:sp>
      <p:sp>
        <p:nvSpPr>
          <p:cNvPr id="465" name="Google Shape;465;p4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475" name="Google Shape;475;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Roadmap</a:t>
            </a:r>
            <a:endParaRPr/>
          </a:p>
        </p:txBody>
      </p:sp>
      <p:sp>
        <p:nvSpPr>
          <p:cNvPr id="476" name="Google Shape;476;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sz="2800"/>
              <a:t>Some background</a:t>
            </a:r>
            <a:endParaRPr/>
          </a:p>
          <a:p>
            <a:pPr indent="-228600" lvl="0" marL="228600" rtl="0" algn="l">
              <a:lnSpc>
                <a:spcPct val="90000"/>
              </a:lnSpc>
              <a:spcBef>
                <a:spcPts val="1000"/>
              </a:spcBef>
              <a:spcAft>
                <a:spcPts val="0"/>
              </a:spcAft>
              <a:buClr>
                <a:schemeClr val="dk1"/>
              </a:buClr>
              <a:buSzPts val="2800"/>
              <a:buChar char="•"/>
            </a:pPr>
            <a:r>
              <a:rPr lang="en-US" sz="2800"/>
              <a:t>Modifications to the von Neumann model</a:t>
            </a:r>
            <a:endParaRPr/>
          </a:p>
          <a:p>
            <a:pPr indent="-228600" lvl="0" marL="228600" rtl="0" algn="l">
              <a:lnSpc>
                <a:spcPct val="90000"/>
              </a:lnSpc>
              <a:spcBef>
                <a:spcPts val="1000"/>
              </a:spcBef>
              <a:spcAft>
                <a:spcPts val="0"/>
              </a:spcAft>
              <a:buClr>
                <a:schemeClr val="dk1"/>
              </a:buClr>
              <a:buSzPts val="2800"/>
              <a:buChar char="•"/>
            </a:pPr>
            <a:r>
              <a:rPr lang="en-US" sz="2800"/>
              <a:t>Parallel hardware</a:t>
            </a:r>
            <a:endParaRPr/>
          </a:p>
          <a:p>
            <a:pPr indent="-228600" lvl="0" marL="228600" rtl="0" algn="l">
              <a:lnSpc>
                <a:spcPct val="90000"/>
              </a:lnSpc>
              <a:spcBef>
                <a:spcPts val="1000"/>
              </a:spcBef>
              <a:spcAft>
                <a:spcPts val="0"/>
              </a:spcAft>
              <a:buClr>
                <a:schemeClr val="dk1"/>
              </a:buClr>
              <a:buSzPts val="2800"/>
              <a:buChar char="•"/>
            </a:pPr>
            <a:r>
              <a:rPr lang="en-US" sz="2800"/>
              <a:t>Parallel software</a:t>
            </a:r>
            <a:endParaRPr/>
          </a:p>
          <a:p>
            <a:pPr indent="-228600" lvl="0" marL="228600" rtl="0" algn="l">
              <a:lnSpc>
                <a:spcPct val="90000"/>
              </a:lnSpc>
              <a:spcBef>
                <a:spcPts val="1000"/>
              </a:spcBef>
              <a:spcAft>
                <a:spcPts val="0"/>
              </a:spcAft>
              <a:buClr>
                <a:schemeClr val="dk1"/>
              </a:buClr>
              <a:buSzPts val="2800"/>
              <a:buChar char="•"/>
            </a:pPr>
            <a:r>
              <a:rPr lang="en-US" sz="2800"/>
              <a:t>Input and output</a:t>
            </a:r>
            <a:endParaRPr/>
          </a:p>
          <a:p>
            <a:pPr indent="-228600" lvl="0" marL="228600" rtl="0" algn="l">
              <a:lnSpc>
                <a:spcPct val="90000"/>
              </a:lnSpc>
              <a:spcBef>
                <a:spcPts val="1000"/>
              </a:spcBef>
              <a:spcAft>
                <a:spcPts val="0"/>
              </a:spcAft>
              <a:buClr>
                <a:schemeClr val="dk1"/>
              </a:buClr>
              <a:buSzPts val="2800"/>
              <a:buChar char="•"/>
            </a:pPr>
            <a:r>
              <a:rPr lang="en-US" sz="2800"/>
              <a:t>Performance</a:t>
            </a:r>
            <a:endParaRPr/>
          </a:p>
          <a:p>
            <a:pPr indent="-228600" lvl="0" marL="228600" rtl="0" algn="l">
              <a:lnSpc>
                <a:spcPct val="90000"/>
              </a:lnSpc>
              <a:spcBef>
                <a:spcPts val="1000"/>
              </a:spcBef>
              <a:spcAft>
                <a:spcPts val="0"/>
              </a:spcAft>
              <a:buClr>
                <a:schemeClr val="dk1"/>
              </a:buClr>
              <a:buSzPts val="2800"/>
              <a:buChar char="•"/>
            </a:pPr>
            <a:r>
              <a:rPr lang="en-US" sz="2800"/>
              <a:t>Parallel program design</a:t>
            </a:r>
            <a:endParaRPr/>
          </a:p>
          <a:p>
            <a:pPr indent="-228600" lvl="0" marL="228600" rtl="0" algn="l">
              <a:lnSpc>
                <a:spcPct val="90000"/>
              </a:lnSpc>
              <a:spcBef>
                <a:spcPts val="1000"/>
              </a:spcBef>
              <a:spcAft>
                <a:spcPts val="0"/>
              </a:spcAft>
              <a:buClr>
                <a:schemeClr val="dk1"/>
              </a:buClr>
              <a:buSzPts val="2800"/>
              <a:buChar char="•"/>
            </a:pPr>
            <a:r>
              <a:rPr lang="en-US" sz="2800"/>
              <a:t>Writing and running parallel programs</a:t>
            </a:r>
            <a:endParaRPr/>
          </a:p>
          <a:p>
            <a:pPr indent="-228600" lvl="0" marL="228600" rtl="0" algn="l">
              <a:lnSpc>
                <a:spcPct val="90000"/>
              </a:lnSpc>
              <a:spcBef>
                <a:spcPts val="1000"/>
              </a:spcBef>
              <a:spcAft>
                <a:spcPts val="0"/>
              </a:spcAft>
              <a:buClr>
                <a:schemeClr val="dk1"/>
              </a:buClr>
              <a:buSzPts val="2800"/>
              <a:buChar char="•"/>
            </a:pPr>
            <a:r>
              <a:rPr lang="en-US" sz="2800"/>
              <a:t>Assumptions</a:t>
            </a:r>
            <a:endParaRPr/>
          </a:p>
          <a:p>
            <a:pPr indent="-50800" lvl="0" marL="228600" rtl="0" algn="l">
              <a:lnSpc>
                <a:spcPct val="90000"/>
              </a:lnSpc>
              <a:spcBef>
                <a:spcPts val="1000"/>
              </a:spcBef>
              <a:spcAft>
                <a:spcPts val="0"/>
              </a:spcAft>
              <a:buClr>
                <a:schemeClr val="dk1"/>
              </a:buClr>
              <a:buSzPts val="2800"/>
              <a:buNone/>
            </a:pPr>
            <a:r>
              <a:t/>
            </a:r>
            <a:endParaRPr sz="28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descr="C:\Documents and Settings\liszka\Local Settings\Temporary Internet Files\Content.IE5\5W39ONER\MP900401988[1].jpg" id="481" name="Google Shape;481;p46"/>
          <p:cNvPicPr preferRelativeResize="0"/>
          <p:nvPr/>
        </p:nvPicPr>
        <p:blipFill rotWithShape="1">
          <a:blip r:embed="rId3">
            <a:alphaModFix/>
          </a:blip>
          <a:srcRect b="0" l="0" r="0" t="0"/>
          <a:stretch/>
        </p:blipFill>
        <p:spPr>
          <a:xfrm>
            <a:off x="7680326" y="1268414"/>
            <a:ext cx="2081213" cy="3121025"/>
          </a:xfrm>
          <a:prstGeom prst="rect">
            <a:avLst/>
          </a:prstGeom>
          <a:noFill/>
          <a:ln>
            <a:noFill/>
          </a:ln>
        </p:spPr>
      </p:pic>
      <p:sp>
        <p:nvSpPr>
          <p:cNvPr id="482" name="Google Shape;482;p46"/>
          <p:cNvSpPr txBox="1"/>
          <p:nvPr>
            <p:ph type="title"/>
          </p:nvPr>
        </p:nvSpPr>
        <p:spPr>
          <a:xfrm>
            <a:off x="2246313" y="4406901"/>
            <a:ext cx="7772400" cy="70802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Some background</a:t>
            </a:r>
            <a:endParaRPr/>
          </a:p>
        </p:txBody>
      </p:sp>
      <p:sp>
        <p:nvSpPr>
          <p:cNvPr id="483" name="Google Shape;483;p4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1G3WK4XC\MP900289834[1].jpg" id="484" name="Google Shape;484;p46"/>
          <p:cNvPicPr preferRelativeResize="0"/>
          <p:nvPr/>
        </p:nvPicPr>
        <p:blipFill rotWithShape="1">
          <a:blip r:embed="rId4">
            <a:alphaModFix/>
          </a:blip>
          <a:srcRect b="0" l="0" r="0" t="0"/>
          <a:stretch/>
        </p:blipFill>
        <p:spPr>
          <a:xfrm>
            <a:off x="4367213" y="836613"/>
            <a:ext cx="3657600" cy="2438400"/>
          </a:xfrm>
          <a:prstGeom prst="rect">
            <a:avLst/>
          </a:prstGeom>
          <a:noFill/>
          <a:ln>
            <a:noFill/>
          </a:ln>
        </p:spPr>
      </p:pic>
      <p:pic>
        <p:nvPicPr>
          <p:cNvPr descr="C:\Documents and Settings\liszka\Local Settings\Temporary Internet Files\Content.IE5\5W39ONER\MP900403733[1].jpg" id="485" name="Google Shape;485;p46"/>
          <p:cNvPicPr preferRelativeResize="0"/>
          <p:nvPr/>
        </p:nvPicPr>
        <p:blipFill rotWithShape="1">
          <a:blip r:embed="rId5">
            <a:alphaModFix/>
          </a:blip>
          <a:srcRect b="0" l="0" r="0" t="0"/>
          <a:stretch/>
        </p:blipFill>
        <p:spPr>
          <a:xfrm>
            <a:off x="2279651" y="1196975"/>
            <a:ext cx="2505075" cy="313213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Serial hardware and software</a:t>
            </a:r>
            <a:endParaRPr/>
          </a:p>
        </p:txBody>
      </p:sp>
      <p:sp>
        <p:nvSpPr>
          <p:cNvPr id="491" name="Google Shape;491;p4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1G3WK4XC\MC900431543[1].png" id="492" name="Google Shape;492;p47"/>
          <p:cNvPicPr preferRelativeResize="0"/>
          <p:nvPr/>
        </p:nvPicPr>
        <p:blipFill rotWithShape="1">
          <a:blip r:embed="rId3">
            <a:alphaModFix/>
          </a:blip>
          <a:srcRect b="0" l="0" r="0" t="0"/>
          <a:stretch/>
        </p:blipFill>
        <p:spPr>
          <a:xfrm>
            <a:off x="2632076" y="2270125"/>
            <a:ext cx="3097213" cy="2528888"/>
          </a:xfrm>
          <a:prstGeom prst="rect">
            <a:avLst/>
          </a:prstGeom>
          <a:noFill/>
          <a:ln>
            <a:noFill/>
          </a:ln>
        </p:spPr>
      </p:pic>
      <p:pic>
        <p:nvPicPr>
          <p:cNvPr descr="C:\Documents and Settings\liszka\Local Settings\Temporary Internet Files\Content.IE5\Q7HGDQRM\MC900024275[1].wmf" id="493" name="Google Shape;493;p47"/>
          <p:cNvPicPr preferRelativeResize="0"/>
          <p:nvPr/>
        </p:nvPicPr>
        <p:blipFill rotWithShape="1">
          <a:blip r:embed="rId4">
            <a:alphaModFix/>
          </a:blip>
          <a:srcRect b="0" l="0" r="0" t="0"/>
          <a:stretch/>
        </p:blipFill>
        <p:spPr>
          <a:xfrm>
            <a:off x="7169151" y="1693863"/>
            <a:ext cx="1947863" cy="1155700"/>
          </a:xfrm>
          <a:prstGeom prst="rect">
            <a:avLst/>
          </a:prstGeom>
          <a:noFill/>
          <a:ln>
            <a:noFill/>
          </a:ln>
        </p:spPr>
      </p:pic>
      <p:pic>
        <p:nvPicPr>
          <p:cNvPr descr="C:\Documents and Settings\liszka\Local Settings\Temporary Internet Files\Content.IE5\5W39ONER\MC900439808[1].png" id="494" name="Google Shape;494;p47"/>
          <p:cNvPicPr preferRelativeResize="0"/>
          <p:nvPr/>
        </p:nvPicPr>
        <p:blipFill rotWithShape="1">
          <a:blip r:embed="rId5">
            <a:alphaModFix/>
          </a:blip>
          <a:srcRect b="0" l="0" r="0" t="0"/>
          <a:stretch/>
        </p:blipFill>
        <p:spPr>
          <a:xfrm rot="2425461">
            <a:off x="6016625" y="1909763"/>
            <a:ext cx="1371600" cy="1371600"/>
          </a:xfrm>
          <a:prstGeom prst="rect">
            <a:avLst/>
          </a:prstGeom>
          <a:noFill/>
          <a:ln>
            <a:noFill/>
          </a:ln>
        </p:spPr>
      </p:pic>
      <p:sp>
        <p:nvSpPr>
          <p:cNvPr id="495" name="Google Shape;495;p47"/>
          <p:cNvSpPr/>
          <p:nvPr/>
        </p:nvSpPr>
        <p:spPr>
          <a:xfrm>
            <a:off x="6232525" y="1549401"/>
            <a:ext cx="9652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none" cap="none" strike="noStrike">
                <a:solidFill>
                  <a:schemeClr val="dk1"/>
                </a:solidFill>
                <a:latin typeface="Arial"/>
                <a:ea typeface="Arial"/>
                <a:cs typeface="Arial"/>
                <a:sym typeface="Arial"/>
              </a:rPr>
              <a:t>input</a:t>
            </a:r>
            <a:endParaRPr b="0" i="0" sz="3200" u="none" cap="none" strike="noStrike">
              <a:solidFill>
                <a:schemeClr val="dk1"/>
              </a:solidFill>
              <a:latin typeface="Calibri"/>
              <a:ea typeface="Calibri"/>
              <a:cs typeface="Calibri"/>
              <a:sym typeface="Calibri"/>
            </a:endParaRPr>
          </a:p>
        </p:txBody>
      </p:sp>
      <p:sp>
        <p:nvSpPr>
          <p:cNvPr id="496" name="Google Shape;496;p47"/>
          <p:cNvSpPr/>
          <p:nvPr/>
        </p:nvSpPr>
        <p:spPr>
          <a:xfrm>
            <a:off x="2560639" y="4933951"/>
            <a:ext cx="1184275"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none" cap="none" strike="noStrike">
                <a:solidFill>
                  <a:schemeClr val="dk1"/>
                </a:solidFill>
                <a:latin typeface="Arial"/>
                <a:ea typeface="Arial"/>
                <a:cs typeface="Arial"/>
                <a:sym typeface="Arial"/>
              </a:rPr>
              <a:t>output</a:t>
            </a:r>
            <a:endParaRPr b="0" i="0" sz="3200" u="none" cap="none" strike="noStrike">
              <a:solidFill>
                <a:schemeClr val="dk1"/>
              </a:solidFill>
              <a:latin typeface="Calibri"/>
              <a:ea typeface="Calibri"/>
              <a:cs typeface="Calibri"/>
              <a:sym typeface="Calibri"/>
            </a:endParaRPr>
          </a:p>
        </p:txBody>
      </p:sp>
      <p:sp>
        <p:nvSpPr>
          <p:cNvPr id="497" name="Google Shape;497;p47"/>
          <p:cNvSpPr/>
          <p:nvPr/>
        </p:nvSpPr>
        <p:spPr>
          <a:xfrm>
            <a:off x="8177213" y="1189039"/>
            <a:ext cx="1706562"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none" cap="none" strike="noStrike">
                <a:solidFill>
                  <a:schemeClr val="dk1"/>
                </a:solidFill>
                <a:latin typeface="Arial"/>
                <a:ea typeface="Arial"/>
                <a:cs typeface="Arial"/>
                <a:sym typeface="Arial"/>
              </a:rPr>
              <a:t>programs</a:t>
            </a:r>
            <a:endParaRPr b="0" i="0" sz="3200" u="none" cap="none" strike="noStrike">
              <a:solidFill>
                <a:schemeClr val="dk1"/>
              </a:solidFill>
              <a:latin typeface="Calibri"/>
              <a:ea typeface="Calibri"/>
              <a:cs typeface="Calibri"/>
              <a:sym typeface="Calibri"/>
            </a:endParaRPr>
          </a:p>
        </p:txBody>
      </p:sp>
      <p:sp>
        <p:nvSpPr>
          <p:cNvPr id="498" name="Google Shape;498;p47"/>
          <p:cNvSpPr/>
          <p:nvPr/>
        </p:nvSpPr>
        <p:spPr>
          <a:xfrm>
            <a:off x="6232525" y="4141788"/>
            <a:ext cx="3500438" cy="1039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1" i="0" lang="en-US" sz="2800" u="none" cap="none" strike="noStrike">
                <a:solidFill>
                  <a:schemeClr val="dk1"/>
                </a:solidFill>
                <a:latin typeface="Arial"/>
                <a:ea typeface="Arial"/>
                <a:cs typeface="Arial"/>
                <a:sym typeface="Arial"/>
              </a:rPr>
              <a:t>Computer runs one</a:t>
            </a:r>
            <a:endParaRPr/>
          </a:p>
          <a:p>
            <a:pPr indent="0" lvl="0" marL="0" marR="0" rtl="0" algn="l">
              <a:spcBef>
                <a:spcPts val="560"/>
              </a:spcBef>
              <a:spcAft>
                <a:spcPts val="0"/>
              </a:spcAft>
              <a:buClr>
                <a:schemeClr val="dk1"/>
              </a:buClr>
              <a:buSzPts val="1680"/>
              <a:buFont typeface="Noto Sans Symbols"/>
              <a:buNone/>
            </a:pPr>
            <a:r>
              <a:rPr b="1" i="0" lang="en-US" sz="2800" u="none" cap="none" strike="noStrike">
                <a:solidFill>
                  <a:schemeClr val="dk1"/>
                </a:solidFill>
                <a:latin typeface="Arial"/>
                <a:ea typeface="Arial"/>
                <a:cs typeface="Arial"/>
                <a:sym typeface="Arial"/>
              </a:rPr>
              <a:t>program at a time.</a:t>
            </a:r>
            <a:endParaRPr b="1" i="0" sz="320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Copyright © 2010, Elsevier Inc. All rights Reserved</a:t>
            </a:r>
            <a:endParaRPr/>
          </a:p>
        </p:txBody>
      </p:sp>
      <p:sp>
        <p:nvSpPr>
          <p:cNvPr id="504" name="Google Shape;504;p48"/>
          <p:cNvSpPr txBox="1"/>
          <p:nvPr>
            <p:ph type="title"/>
          </p:nvPr>
        </p:nvSpPr>
        <p:spPr>
          <a:xfrm>
            <a:off x="814918" y="115889"/>
            <a:ext cx="11042649" cy="7016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von Neumann Architecture</a:t>
            </a:r>
            <a:endParaRPr/>
          </a:p>
        </p:txBody>
      </p:sp>
      <p:sp>
        <p:nvSpPr>
          <p:cNvPr id="505" name="Google Shape;505;p48"/>
          <p:cNvSpPr txBox="1"/>
          <p:nvPr/>
        </p:nvSpPr>
        <p:spPr>
          <a:xfrm>
            <a:off x="5303838" y="5661025"/>
            <a:ext cx="13382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a:t>
            </a:r>
            <a:endParaRPr b="0" i="0" sz="2000" u="none" cap="none" strike="noStrike">
              <a:solidFill>
                <a:srgbClr val="000066"/>
              </a:solidFill>
              <a:latin typeface="Arial"/>
              <a:ea typeface="Arial"/>
              <a:cs typeface="Arial"/>
              <a:sym typeface="Arial"/>
            </a:endParaRPr>
          </a:p>
        </p:txBody>
      </p:sp>
      <p:pic>
        <p:nvPicPr>
          <p:cNvPr id="506" name="Google Shape;506;p48"/>
          <p:cNvPicPr preferRelativeResize="0"/>
          <p:nvPr/>
        </p:nvPicPr>
        <p:blipFill rotWithShape="1">
          <a:blip r:embed="rId3">
            <a:alphaModFix/>
          </a:blip>
          <a:srcRect b="0" l="0" r="0" t="0"/>
          <a:stretch/>
        </p:blipFill>
        <p:spPr>
          <a:xfrm>
            <a:off x="4086225" y="1233489"/>
            <a:ext cx="4019550" cy="43910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descr="C:\Documents and Settings\liszka\Local Settings\Temporary Internet Files\Content.IE5\1G3WK4XC\MP900316372[1].jpg" id="511" name="Google Shape;511;p49"/>
          <p:cNvPicPr preferRelativeResize="0"/>
          <p:nvPr/>
        </p:nvPicPr>
        <p:blipFill rotWithShape="1">
          <a:blip r:embed="rId3">
            <a:alphaModFix/>
          </a:blip>
          <a:srcRect b="0" l="0" r="0" t="0"/>
          <a:stretch/>
        </p:blipFill>
        <p:spPr>
          <a:xfrm>
            <a:off x="7680325" y="4365625"/>
            <a:ext cx="2794000" cy="1936750"/>
          </a:xfrm>
          <a:prstGeom prst="rect">
            <a:avLst/>
          </a:prstGeom>
          <a:noFill/>
          <a:ln>
            <a:noFill/>
          </a:ln>
        </p:spPr>
      </p:pic>
      <p:sp>
        <p:nvSpPr>
          <p:cNvPr id="512" name="Google Shape;512;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Main memory</a:t>
            </a:r>
            <a:endParaRPr/>
          </a:p>
        </p:txBody>
      </p:sp>
      <p:sp>
        <p:nvSpPr>
          <p:cNvPr id="513" name="Google Shape;513;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is a collection of locations, each of which is capable of storing both instructions and data.</a:t>
            </a:r>
            <a:br>
              <a:rPr lang="en-US"/>
            </a:br>
            <a:endParaRPr/>
          </a:p>
          <a:p>
            <a:pPr indent="-228600" lvl="0" marL="228600" rtl="0" algn="l">
              <a:lnSpc>
                <a:spcPct val="90000"/>
              </a:lnSpc>
              <a:spcBef>
                <a:spcPts val="1000"/>
              </a:spcBef>
              <a:spcAft>
                <a:spcPts val="0"/>
              </a:spcAft>
              <a:buClr>
                <a:schemeClr val="dk1"/>
              </a:buClr>
              <a:buSzPts val="2800"/>
              <a:buChar char="•"/>
            </a:pPr>
            <a:r>
              <a:rPr lang="en-US"/>
              <a:t>Every location consists of an address, which is used to access the location, and the contents of the location.</a:t>
            </a:r>
            <a:endParaRPr/>
          </a:p>
        </p:txBody>
      </p:sp>
      <p:sp>
        <p:nvSpPr>
          <p:cNvPr id="514" name="Google Shape;514;p4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Central processing unit (CPU)</a:t>
            </a:r>
            <a:endParaRPr/>
          </a:p>
        </p:txBody>
      </p:sp>
      <p:sp>
        <p:nvSpPr>
          <p:cNvPr id="520" name="Google Shape;520;p50"/>
          <p:cNvSpPr txBox="1"/>
          <p:nvPr>
            <p:ph idx="1" type="body"/>
          </p:nvPr>
        </p:nvSpPr>
        <p:spPr>
          <a:xfrm>
            <a:off x="838200" y="1799771"/>
            <a:ext cx="9640889" cy="429305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Divided into two parts.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Control unit </a:t>
            </a:r>
            <a:r>
              <a:rPr lang="en-US"/>
              <a:t>- responsible for </a:t>
            </a:r>
            <a:br>
              <a:rPr lang="en-US"/>
            </a:br>
            <a:r>
              <a:rPr lang="en-US"/>
              <a:t>deciding which instruction in </a:t>
            </a:r>
            <a:br>
              <a:rPr lang="en-US"/>
            </a:br>
            <a:r>
              <a:rPr lang="en-US"/>
              <a:t>a program should be </a:t>
            </a:r>
            <a:br>
              <a:rPr lang="en-US"/>
            </a:br>
            <a:r>
              <a:rPr lang="en-US"/>
              <a:t>executed. (</a:t>
            </a:r>
            <a:r>
              <a:rPr i="1" lang="en-US"/>
              <a:t>the boss</a:t>
            </a:r>
            <a:r>
              <a:rPr lang="en-US"/>
              <a:t>)</a:t>
            </a:r>
            <a:br>
              <a:rPr lang="en-US"/>
            </a:br>
            <a:endParaRPr/>
          </a:p>
          <a:p>
            <a:pPr indent="-228600" lvl="0" marL="228600" rtl="0" algn="l">
              <a:lnSpc>
                <a:spcPct val="90000"/>
              </a:lnSpc>
              <a:spcBef>
                <a:spcPts val="1000"/>
              </a:spcBef>
              <a:spcAft>
                <a:spcPts val="0"/>
              </a:spcAft>
              <a:buClr>
                <a:schemeClr val="dk1"/>
              </a:buClr>
              <a:buSzPts val="2800"/>
              <a:buChar char="•"/>
            </a:pPr>
            <a:r>
              <a:rPr b="1" lang="en-US"/>
              <a:t>Arithmetic and logic unit </a:t>
            </a:r>
            <a:r>
              <a:rPr lang="en-US"/>
              <a:t>(ALU) - responsible for executing the actual instructions. (</a:t>
            </a:r>
            <a:r>
              <a:rPr i="1" lang="en-US"/>
              <a:t>the worker</a:t>
            </a:r>
            <a:r>
              <a:rPr lang="en-US"/>
              <a:t>)</a:t>
            </a:r>
            <a:endParaRPr/>
          </a:p>
        </p:txBody>
      </p:sp>
      <p:sp>
        <p:nvSpPr>
          <p:cNvPr id="521" name="Google Shape;521;p5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Q7HGDQRM\MP900448598[1].jpg" id="522" name="Google Shape;522;p50"/>
          <p:cNvPicPr preferRelativeResize="0"/>
          <p:nvPr/>
        </p:nvPicPr>
        <p:blipFill rotWithShape="1">
          <a:blip r:embed="rId3">
            <a:alphaModFix/>
          </a:blip>
          <a:srcRect b="0" l="0" r="0" t="0"/>
          <a:stretch/>
        </p:blipFill>
        <p:spPr>
          <a:xfrm>
            <a:off x="8040688" y="765175"/>
            <a:ext cx="2303462" cy="3455988"/>
          </a:xfrm>
          <a:prstGeom prst="rect">
            <a:avLst/>
          </a:prstGeom>
          <a:noFill/>
          <a:ln>
            <a:noFill/>
          </a:ln>
        </p:spPr>
      </p:pic>
      <p:sp>
        <p:nvSpPr>
          <p:cNvPr id="523" name="Google Shape;523;p50"/>
          <p:cNvSpPr/>
          <p:nvPr/>
        </p:nvSpPr>
        <p:spPr>
          <a:xfrm>
            <a:off x="8832850" y="2781300"/>
            <a:ext cx="1023938"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080"/>
              <a:buFont typeface="Noto Sans Symbols"/>
              <a:buNone/>
            </a:pPr>
            <a:r>
              <a:rPr b="0" i="0" lang="en-US" sz="1800" u="none" cap="none" strike="noStrike">
                <a:solidFill>
                  <a:schemeClr val="dk1"/>
                </a:solidFill>
                <a:latin typeface="Arial"/>
                <a:ea typeface="Arial"/>
                <a:cs typeface="Arial"/>
                <a:sym typeface="Arial"/>
              </a:rPr>
              <a:t>add 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Key terms</a:t>
            </a:r>
            <a:endParaRPr/>
          </a:p>
        </p:txBody>
      </p:sp>
      <p:sp>
        <p:nvSpPr>
          <p:cNvPr id="529" name="Google Shape;529;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Register</a:t>
            </a:r>
            <a:r>
              <a:rPr lang="en-US"/>
              <a:t> – very fast storage, part of the CPU.</a:t>
            </a:r>
            <a:br>
              <a:rPr lang="en-US"/>
            </a:br>
            <a:endParaRPr/>
          </a:p>
          <a:p>
            <a:pPr indent="-228600" lvl="0" marL="228600" rtl="0" algn="l">
              <a:lnSpc>
                <a:spcPct val="90000"/>
              </a:lnSpc>
              <a:spcBef>
                <a:spcPts val="1000"/>
              </a:spcBef>
              <a:spcAft>
                <a:spcPts val="0"/>
              </a:spcAft>
              <a:buClr>
                <a:schemeClr val="dk1"/>
              </a:buClr>
              <a:buSzPts val="2800"/>
              <a:buChar char="•"/>
            </a:pPr>
            <a:r>
              <a:rPr b="1" lang="en-US"/>
              <a:t>Program counter </a:t>
            </a:r>
            <a:r>
              <a:rPr lang="en-US"/>
              <a:t>– stores address of the next instruction to be executed.</a:t>
            </a:r>
            <a:br>
              <a:rPr lang="en-US"/>
            </a:br>
            <a:endParaRPr/>
          </a:p>
          <a:p>
            <a:pPr indent="-228600" lvl="0" marL="228600" rtl="0" algn="l">
              <a:lnSpc>
                <a:spcPct val="90000"/>
              </a:lnSpc>
              <a:spcBef>
                <a:spcPts val="1000"/>
              </a:spcBef>
              <a:spcAft>
                <a:spcPts val="0"/>
              </a:spcAft>
              <a:buClr>
                <a:schemeClr val="dk1"/>
              </a:buClr>
              <a:buSzPts val="2800"/>
              <a:buChar char="•"/>
            </a:pPr>
            <a:r>
              <a:rPr b="1" lang="en-US"/>
              <a:t>Bus</a:t>
            </a:r>
            <a:r>
              <a:rPr lang="en-US"/>
              <a:t> – wires and hardware that connects the CPU and memory.</a:t>
            </a:r>
            <a:endParaRPr/>
          </a:p>
          <a:p>
            <a:pPr indent="-50800" lvl="0" marL="228600" rtl="0" algn="l">
              <a:lnSpc>
                <a:spcPct val="90000"/>
              </a:lnSpc>
              <a:spcBef>
                <a:spcPts val="1000"/>
              </a:spcBef>
              <a:spcAft>
                <a:spcPts val="0"/>
              </a:spcAft>
              <a:buClr>
                <a:schemeClr val="dk1"/>
              </a:buClr>
              <a:buSzPts val="2800"/>
              <a:buNone/>
            </a:pPr>
            <a:r>
              <a:t/>
            </a:r>
            <a:endParaRPr/>
          </a:p>
        </p:txBody>
      </p:sp>
      <p:sp>
        <p:nvSpPr>
          <p:cNvPr id="530" name="Google Shape;530;p5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Q7HGDQRM\MC900388730[1].wmf" id="531" name="Google Shape;531;p51"/>
          <p:cNvPicPr preferRelativeResize="0"/>
          <p:nvPr/>
        </p:nvPicPr>
        <p:blipFill rotWithShape="1">
          <a:blip r:embed="rId3">
            <a:alphaModFix/>
          </a:blip>
          <a:srcRect b="0" l="0" r="0" t="0"/>
          <a:stretch/>
        </p:blipFill>
        <p:spPr>
          <a:xfrm>
            <a:off x="7391400" y="4941888"/>
            <a:ext cx="1828800" cy="1014412"/>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5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537" name="Google Shape;537;p52"/>
          <p:cNvPicPr preferRelativeResize="0"/>
          <p:nvPr/>
        </p:nvPicPr>
        <p:blipFill rotWithShape="1">
          <a:blip r:embed="rId3">
            <a:alphaModFix/>
          </a:blip>
          <a:srcRect b="0" l="0" r="0" t="0"/>
          <a:stretch/>
        </p:blipFill>
        <p:spPr>
          <a:xfrm>
            <a:off x="2495550" y="1196975"/>
            <a:ext cx="3328988" cy="1709738"/>
          </a:xfrm>
          <a:prstGeom prst="rect">
            <a:avLst/>
          </a:prstGeom>
          <a:noFill/>
          <a:ln>
            <a:noFill/>
          </a:ln>
        </p:spPr>
      </p:pic>
      <p:pic>
        <p:nvPicPr>
          <p:cNvPr id="538" name="Google Shape;538;p52"/>
          <p:cNvPicPr preferRelativeResize="0"/>
          <p:nvPr/>
        </p:nvPicPr>
        <p:blipFill rotWithShape="1">
          <a:blip r:embed="rId4">
            <a:alphaModFix/>
          </a:blip>
          <a:srcRect b="0" l="0" r="0" t="0"/>
          <a:stretch/>
        </p:blipFill>
        <p:spPr>
          <a:xfrm>
            <a:off x="6096000" y="2492376"/>
            <a:ext cx="3962400" cy="3533775"/>
          </a:xfrm>
          <a:prstGeom prst="rect">
            <a:avLst/>
          </a:prstGeom>
          <a:noFill/>
          <a:ln>
            <a:noFill/>
          </a:ln>
        </p:spPr>
      </p:pic>
      <p:sp>
        <p:nvSpPr>
          <p:cNvPr id="539" name="Google Shape;539;p52"/>
          <p:cNvSpPr/>
          <p:nvPr/>
        </p:nvSpPr>
        <p:spPr>
          <a:xfrm>
            <a:off x="2640013" y="1052514"/>
            <a:ext cx="1484312"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none" cap="none" strike="noStrike">
                <a:solidFill>
                  <a:schemeClr val="dk1"/>
                </a:solidFill>
                <a:latin typeface="Arial"/>
                <a:ea typeface="Arial"/>
                <a:cs typeface="Arial"/>
                <a:sym typeface="Arial"/>
              </a:rPr>
              <a:t>memory</a:t>
            </a:r>
            <a:endParaRPr b="0" i="0" sz="3200" u="none" cap="none" strike="noStrike">
              <a:solidFill>
                <a:schemeClr val="dk1"/>
              </a:solidFill>
              <a:latin typeface="Calibri"/>
              <a:ea typeface="Calibri"/>
              <a:cs typeface="Calibri"/>
              <a:sym typeface="Calibri"/>
            </a:endParaRPr>
          </a:p>
        </p:txBody>
      </p:sp>
      <p:sp>
        <p:nvSpPr>
          <p:cNvPr id="540" name="Google Shape;540;p52"/>
          <p:cNvSpPr/>
          <p:nvPr/>
        </p:nvSpPr>
        <p:spPr>
          <a:xfrm>
            <a:off x="6024564" y="5084764"/>
            <a:ext cx="942975"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none" cap="none" strike="noStrike">
                <a:solidFill>
                  <a:schemeClr val="dk1"/>
                </a:solidFill>
                <a:latin typeface="Arial"/>
                <a:ea typeface="Arial"/>
                <a:cs typeface="Arial"/>
                <a:sym typeface="Arial"/>
              </a:rPr>
              <a:t>CPU</a:t>
            </a:r>
            <a:endParaRPr b="0" i="0" sz="3200" u="none" cap="none" strike="noStrike">
              <a:solidFill>
                <a:schemeClr val="dk1"/>
              </a:solidFill>
              <a:latin typeface="Calibri"/>
              <a:ea typeface="Calibri"/>
              <a:cs typeface="Calibri"/>
              <a:sym typeface="Calibri"/>
            </a:endParaRPr>
          </a:p>
        </p:txBody>
      </p:sp>
      <p:sp>
        <p:nvSpPr>
          <p:cNvPr id="541" name="Google Shape;541;p52"/>
          <p:cNvSpPr/>
          <p:nvPr/>
        </p:nvSpPr>
        <p:spPr>
          <a:xfrm>
            <a:off x="5303838" y="2349500"/>
            <a:ext cx="1905000" cy="522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1" i="0" lang="en-US" sz="2800" u="none" cap="none" strike="noStrike">
                <a:solidFill>
                  <a:srgbClr val="C00000"/>
                </a:solidFill>
                <a:latin typeface="Arial"/>
                <a:ea typeface="Arial"/>
                <a:cs typeface="Arial"/>
                <a:sym typeface="Arial"/>
              </a:rPr>
              <a:t>fetch/read</a:t>
            </a:r>
            <a:endParaRPr b="1" i="0" sz="3200" u="none" cap="none" strike="noStrike">
              <a:solidFill>
                <a:srgbClr val="C00000"/>
              </a:solidFill>
              <a:latin typeface="Calibri"/>
              <a:ea typeface="Calibri"/>
              <a:cs typeface="Calibri"/>
              <a:sym typeface="Calibri"/>
            </a:endParaRPr>
          </a:p>
        </p:txBody>
      </p:sp>
      <p:pic>
        <p:nvPicPr>
          <p:cNvPr descr="C:\Documents and Settings\liszka\Local Settings\Temporary Internet Files\Content.IE5\3X5GU20H\MC900439805[1].png" id="542" name="Google Shape;542;p52"/>
          <p:cNvPicPr preferRelativeResize="0"/>
          <p:nvPr/>
        </p:nvPicPr>
        <p:blipFill rotWithShape="1">
          <a:blip r:embed="rId5">
            <a:alphaModFix/>
          </a:blip>
          <a:srcRect b="0" l="0" r="0" t="0"/>
          <a:stretch/>
        </p:blipFill>
        <p:spPr>
          <a:xfrm>
            <a:off x="4367213" y="2060576"/>
            <a:ext cx="2671762" cy="267176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5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548" name="Google Shape;548;p53"/>
          <p:cNvPicPr preferRelativeResize="0"/>
          <p:nvPr/>
        </p:nvPicPr>
        <p:blipFill rotWithShape="1">
          <a:blip r:embed="rId3">
            <a:alphaModFix/>
          </a:blip>
          <a:srcRect b="0" l="0" r="0" t="0"/>
          <a:stretch/>
        </p:blipFill>
        <p:spPr>
          <a:xfrm>
            <a:off x="2495550" y="1268414"/>
            <a:ext cx="3328988" cy="1709737"/>
          </a:xfrm>
          <a:prstGeom prst="rect">
            <a:avLst/>
          </a:prstGeom>
          <a:noFill/>
          <a:ln>
            <a:noFill/>
          </a:ln>
        </p:spPr>
      </p:pic>
      <p:pic>
        <p:nvPicPr>
          <p:cNvPr id="549" name="Google Shape;549;p53"/>
          <p:cNvPicPr preferRelativeResize="0"/>
          <p:nvPr/>
        </p:nvPicPr>
        <p:blipFill rotWithShape="1">
          <a:blip r:embed="rId4">
            <a:alphaModFix/>
          </a:blip>
          <a:srcRect b="0" l="0" r="0" t="0"/>
          <a:stretch/>
        </p:blipFill>
        <p:spPr>
          <a:xfrm>
            <a:off x="6096000" y="2565401"/>
            <a:ext cx="3962400" cy="3533775"/>
          </a:xfrm>
          <a:prstGeom prst="rect">
            <a:avLst/>
          </a:prstGeom>
          <a:noFill/>
          <a:ln>
            <a:noFill/>
          </a:ln>
        </p:spPr>
      </p:pic>
      <p:sp>
        <p:nvSpPr>
          <p:cNvPr id="550" name="Google Shape;550;p53"/>
          <p:cNvSpPr/>
          <p:nvPr/>
        </p:nvSpPr>
        <p:spPr>
          <a:xfrm>
            <a:off x="2640013" y="1125539"/>
            <a:ext cx="1484312"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none" cap="none" strike="noStrike">
                <a:solidFill>
                  <a:schemeClr val="dk1"/>
                </a:solidFill>
                <a:latin typeface="Arial"/>
                <a:ea typeface="Arial"/>
                <a:cs typeface="Arial"/>
                <a:sym typeface="Arial"/>
              </a:rPr>
              <a:t>memory</a:t>
            </a:r>
            <a:endParaRPr b="0" i="0" sz="3200" u="none" cap="none" strike="noStrike">
              <a:solidFill>
                <a:schemeClr val="dk1"/>
              </a:solidFill>
              <a:latin typeface="Calibri"/>
              <a:ea typeface="Calibri"/>
              <a:cs typeface="Calibri"/>
              <a:sym typeface="Calibri"/>
            </a:endParaRPr>
          </a:p>
        </p:txBody>
      </p:sp>
      <p:sp>
        <p:nvSpPr>
          <p:cNvPr id="551" name="Google Shape;551;p53"/>
          <p:cNvSpPr/>
          <p:nvPr/>
        </p:nvSpPr>
        <p:spPr>
          <a:xfrm>
            <a:off x="6024564" y="5157789"/>
            <a:ext cx="942975"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0" i="0" lang="en-US" sz="2800" u="none" cap="none" strike="noStrike">
                <a:solidFill>
                  <a:schemeClr val="dk1"/>
                </a:solidFill>
                <a:latin typeface="Arial"/>
                <a:ea typeface="Arial"/>
                <a:cs typeface="Arial"/>
                <a:sym typeface="Arial"/>
              </a:rPr>
              <a:t>CPU</a:t>
            </a:r>
            <a:endParaRPr b="0" i="0" sz="3200" u="none" cap="none" strike="noStrike">
              <a:solidFill>
                <a:schemeClr val="dk1"/>
              </a:solidFill>
              <a:latin typeface="Calibri"/>
              <a:ea typeface="Calibri"/>
              <a:cs typeface="Calibri"/>
              <a:sym typeface="Calibri"/>
            </a:endParaRPr>
          </a:p>
        </p:txBody>
      </p:sp>
      <p:sp>
        <p:nvSpPr>
          <p:cNvPr id="552" name="Google Shape;552;p53"/>
          <p:cNvSpPr/>
          <p:nvPr/>
        </p:nvSpPr>
        <p:spPr>
          <a:xfrm>
            <a:off x="3792539" y="3284539"/>
            <a:ext cx="2001837"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680"/>
              <a:buFont typeface="Noto Sans Symbols"/>
              <a:buNone/>
            </a:pPr>
            <a:r>
              <a:rPr b="1" i="0" lang="en-US" sz="2800" u="none" cap="none" strike="noStrike">
                <a:solidFill>
                  <a:srgbClr val="C00000"/>
                </a:solidFill>
                <a:latin typeface="Arial"/>
                <a:ea typeface="Arial"/>
                <a:cs typeface="Arial"/>
                <a:sym typeface="Arial"/>
              </a:rPr>
              <a:t>write/store</a:t>
            </a:r>
            <a:endParaRPr b="1" i="0" sz="3200" u="none" cap="none" strike="noStrike">
              <a:solidFill>
                <a:srgbClr val="C00000"/>
              </a:solidFill>
              <a:latin typeface="Calibri"/>
              <a:ea typeface="Calibri"/>
              <a:cs typeface="Calibri"/>
              <a:sym typeface="Calibri"/>
            </a:endParaRPr>
          </a:p>
        </p:txBody>
      </p:sp>
      <p:pic>
        <p:nvPicPr>
          <p:cNvPr descr="C:\Documents and Settings\liszka\Local Settings\Temporary Internet Files\Content.IE5\3X5GU20H\MC900439805[1].png" id="553" name="Google Shape;553;p53"/>
          <p:cNvPicPr preferRelativeResize="0"/>
          <p:nvPr/>
        </p:nvPicPr>
        <p:blipFill rotWithShape="1">
          <a:blip r:embed="rId5">
            <a:alphaModFix/>
          </a:blip>
          <a:srcRect b="0" l="0" r="0" t="0"/>
          <a:stretch/>
        </p:blipFill>
        <p:spPr>
          <a:xfrm>
            <a:off x="4367213" y="1916113"/>
            <a:ext cx="2520950" cy="25209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von Neumann bottleneck</a:t>
            </a:r>
            <a:endParaRPr/>
          </a:p>
        </p:txBody>
      </p:sp>
      <p:sp>
        <p:nvSpPr>
          <p:cNvPr id="559" name="Google Shape;559;p5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5W39ONER\MC900030031[1].wmf" id="560" name="Google Shape;560;p54"/>
          <p:cNvPicPr preferRelativeResize="0"/>
          <p:nvPr/>
        </p:nvPicPr>
        <p:blipFill rotWithShape="1">
          <a:blip r:embed="rId3">
            <a:alphaModFix/>
          </a:blip>
          <a:srcRect b="0" l="0" r="0" t="0"/>
          <a:stretch/>
        </p:blipFill>
        <p:spPr>
          <a:xfrm flipH="1">
            <a:off x="2132468" y="1256903"/>
            <a:ext cx="1800225" cy="2309813"/>
          </a:xfrm>
          <a:prstGeom prst="rect">
            <a:avLst/>
          </a:prstGeom>
          <a:noFill/>
          <a:ln>
            <a:noFill/>
          </a:ln>
        </p:spPr>
      </p:pic>
      <p:pic>
        <p:nvPicPr>
          <p:cNvPr id="561" name="Google Shape;561;p54"/>
          <p:cNvPicPr preferRelativeResize="0"/>
          <p:nvPr/>
        </p:nvPicPr>
        <p:blipFill rotWithShape="1">
          <a:blip r:embed="rId4">
            <a:alphaModFix/>
          </a:blip>
          <a:srcRect b="0" l="0" r="0" t="0"/>
          <a:stretch/>
        </p:blipFill>
        <p:spPr>
          <a:xfrm>
            <a:off x="6851650" y="4581526"/>
            <a:ext cx="3816350" cy="1655763"/>
          </a:xfrm>
          <a:prstGeom prst="rect">
            <a:avLst/>
          </a:prstGeom>
          <a:noFill/>
          <a:ln>
            <a:noFill/>
          </a:ln>
        </p:spPr>
      </p:pic>
      <p:cxnSp>
        <p:nvCxnSpPr>
          <p:cNvPr id="562" name="Google Shape;562;p54"/>
          <p:cNvCxnSpPr/>
          <p:nvPr/>
        </p:nvCxnSpPr>
        <p:spPr>
          <a:xfrm>
            <a:off x="4273212" y="3711178"/>
            <a:ext cx="2735262" cy="1871663"/>
          </a:xfrm>
          <a:prstGeom prst="straightConnector1">
            <a:avLst/>
          </a:prstGeom>
          <a:noFill/>
          <a:ln cap="flat" cmpd="sng" w="9525">
            <a:solidFill>
              <a:schemeClr val="dk1"/>
            </a:solidFill>
            <a:prstDash val="solid"/>
            <a:round/>
            <a:headEnd len="med" w="med" type="none"/>
            <a:tailEnd len="med" w="med" type="none"/>
          </a:ln>
        </p:spPr>
      </p:cxnSp>
      <p:cxnSp>
        <p:nvCxnSpPr>
          <p:cNvPr id="563" name="Google Shape;563;p54"/>
          <p:cNvCxnSpPr/>
          <p:nvPr/>
        </p:nvCxnSpPr>
        <p:spPr>
          <a:xfrm>
            <a:off x="4941887" y="3056730"/>
            <a:ext cx="2736850" cy="1871663"/>
          </a:xfrm>
          <a:prstGeom prst="straightConnector1">
            <a:avLst/>
          </a:prstGeom>
          <a:noFill/>
          <a:ln cap="flat" cmpd="sng" w="9525">
            <a:solidFill>
              <a:schemeClr val="dk1"/>
            </a:solidFill>
            <a:prstDash val="solid"/>
            <a:round/>
            <a:headEnd len="med" w="med" type="none"/>
            <a:tailEnd len="med" w="med" type="none"/>
          </a:ln>
        </p:spPr>
      </p:cxnSp>
      <p:cxnSp>
        <p:nvCxnSpPr>
          <p:cNvPr id="564" name="Google Shape;564;p54"/>
          <p:cNvCxnSpPr/>
          <p:nvPr/>
        </p:nvCxnSpPr>
        <p:spPr>
          <a:xfrm>
            <a:off x="4762500" y="3144243"/>
            <a:ext cx="2736850" cy="1871663"/>
          </a:xfrm>
          <a:prstGeom prst="straightConnector1">
            <a:avLst/>
          </a:prstGeom>
          <a:noFill/>
          <a:ln cap="flat" cmpd="sng" w="9525">
            <a:solidFill>
              <a:srgbClr val="FFC000"/>
            </a:solidFill>
            <a:prstDash val="solid"/>
            <a:round/>
            <a:headEnd len="med" w="med" type="none"/>
            <a:tailEnd len="med" w="med" type="none"/>
          </a:ln>
        </p:spPr>
      </p:cxnSp>
      <p:cxnSp>
        <p:nvCxnSpPr>
          <p:cNvPr id="565" name="Google Shape;565;p54"/>
          <p:cNvCxnSpPr/>
          <p:nvPr/>
        </p:nvCxnSpPr>
        <p:spPr>
          <a:xfrm>
            <a:off x="4583113" y="3638154"/>
            <a:ext cx="2735262" cy="1873250"/>
          </a:xfrm>
          <a:prstGeom prst="straightConnector1">
            <a:avLst/>
          </a:prstGeom>
          <a:noFill/>
          <a:ln cap="flat" cmpd="sng" w="9525">
            <a:solidFill>
              <a:srgbClr val="FFC000"/>
            </a:solidFill>
            <a:prstDash val="solid"/>
            <a:round/>
            <a:headEnd len="med" w="med" type="none"/>
            <a:tailEnd len="med" w="med" type="none"/>
          </a:ln>
        </p:spPr>
      </p:cxnSp>
      <p:pic>
        <p:nvPicPr>
          <p:cNvPr descr="C:\Documents and Settings\liszka\Local Settings\Temporary Internet Files\Content.IE5\5W39ONER\MC900441741[1].png" id="566" name="Google Shape;566;p54"/>
          <p:cNvPicPr preferRelativeResize="0"/>
          <p:nvPr/>
        </p:nvPicPr>
        <p:blipFill rotWithShape="1">
          <a:blip r:embed="rId5">
            <a:alphaModFix/>
          </a:blip>
          <a:srcRect b="0" l="0" r="0" t="0"/>
          <a:stretch/>
        </p:blipFill>
        <p:spPr>
          <a:xfrm>
            <a:off x="3800136" y="2698353"/>
            <a:ext cx="1084263" cy="1084263"/>
          </a:xfrm>
          <a:prstGeom prst="rect">
            <a:avLst/>
          </a:prstGeom>
          <a:noFill/>
          <a:ln>
            <a:noFill/>
          </a:ln>
        </p:spPr>
      </p:pic>
      <p:pic>
        <p:nvPicPr>
          <p:cNvPr descr="C:\Documents and Settings\liszka\Local Settings\Temporary Internet Files\Content.IE5\Q7HGDQRM\MC900238375[1].wmf" id="567" name="Google Shape;567;p54"/>
          <p:cNvPicPr preferRelativeResize="0"/>
          <p:nvPr/>
        </p:nvPicPr>
        <p:blipFill rotWithShape="1">
          <a:blip r:embed="rId6">
            <a:alphaModFix/>
          </a:blip>
          <a:srcRect b="0" l="0" r="0" t="0"/>
          <a:stretch/>
        </p:blipFill>
        <p:spPr>
          <a:xfrm>
            <a:off x="4001411" y="1759035"/>
            <a:ext cx="1225550" cy="838200"/>
          </a:xfrm>
          <a:prstGeom prst="rect">
            <a:avLst/>
          </a:prstGeom>
          <a:noFill/>
          <a:ln>
            <a:noFill/>
          </a:ln>
        </p:spPr>
      </p:pic>
      <p:pic>
        <p:nvPicPr>
          <p:cNvPr descr="C:\Documents and Settings\liszka\Local Settings\Temporary Internet Files\Content.IE5\Q7HGDQRM\MC900238375[1].wmf" id="568" name="Google Shape;568;p54"/>
          <p:cNvPicPr preferRelativeResize="0"/>
          <p:nvPr/>
        </p:nvPicPr>
        <p:blipFill rotWithShape="1">
          <a:blip r:embed="rId7">
            <a:alphaModFix/>
          </a:blip>
          <a:srcRect b="0" l="0" r="0" t="0"/>
          <a:stretch/>
        </p:blipFill>
        <p:spPr>
          <a:xfrm>
            <a:off x="1596232" y="3717132"/>
            <a:ext cx="1746250" cy="11969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 operating system “process”</a:t>
            </a:r>
            <a:endParaRPr/>
          </a:p>
        </p:txBody>
      </p:sp>
      <p:sp>
        <p:nvSpPr>
          <p:cNvPr id="574" name="Google Shape;574;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instance of a computer program that is being executed.</a:t>
            </a:r>
            <a:endParaRPr/>
          </a:p>
          <a:p>
            <a:pPr indent="-228600" lvl="0" marL="228600" rtl="0" algn="l">
              <a:lnSpc>
                <a:spcPct val="90000"/>
              </a:lnSpc>
              <a:spcBef>
                <a:spcPts val="1000"/>
              </a:spcBef>
              <a:spcAft>
                <a:spcPts val="0"/>
              </a:spcAft>
              <a:buClr>
                <a:schemeClr val="dk1"/>
              </a:buClr>
              <a:buSzPts val="2800"/>
              <a:buChar char="•"/>
            </a:pPr>
            <a:r>
              <a:rPr lang="en-US"/>
              <a:t>Components of a process:</a:t>
            </a:r>
            <a:endParaRPr/>
          </a:p>
          <a:p>
            <a:pPr indent="-228600" lvl="1" marL="685800" rtl="0" algn="l">
              <a:lnSpc>
                <a:spcPct val="90000"/>
              </a:lnSpc>
              <a:spcBef>
                <a:spcPts val="500"/>
              </a:spcBef>
              <a:spcAft>
                <a:spcPts val="0"/>
              </a:spcAft>
              <a:buClr>
                <a:schemeClr val="dk1"/>
              </a:buClr>
              <a:buSzPts val="2400"/>
              <a:buChar char="•"/>
            </a:pPr>
            <a:r>
              <a:rPr lang="en-US"/>
              <a:t>The executable machine language program.</a:t>
            </a:r>
            <a:endParaRPr/>
          </a:p>
          <a:p>
            <a:pPr indent="-228600" lvl="1" marL="685800" rtl="0" algn="l">
              <a:lnSpc>
                <a:spcPct val="90000"/>
              </a:lnSpc>
              <a:spcBef>
                <a:spcPts val="500"/>
              </a:spcBef>
              <a:spcAft>
                <a:spcPts val="0"/>
              </a:spcAft>
              <a:buClr>
                <a:schemeClr val="dk1"/>
              </a:buClr>
              <a:buSzPts val="2400"/>
              <a:buChar char="•"/>
            </a:pPr>
            <a:r>
              <a:rPr lang="en-US"/>
              <a:t>A block of memory.</a:t>
            </a:r>
            <a:endParaRPr/>
          </a:p>
          <a:p>
            <a:pPr indent="-228600" lvl="1" marL="685800" rtl="0" algn="l">
              <a:lnSpc>
                <a:spcPct val="90000"/>
              </a:lnSpc>
              <a:spcBef>
                <a:spcPts val="500"/>
              </a:spcBef>
              <a:spcAft>
                <a:spcPts val="0"/>
              </a:spcAft>
              <a:buClr>
                <a:schemeClr val="dk1"/>
              </a:buClr>
              <a:buSzPts val="2400"/>
              <a:buChar char="•"/>
            </a:pPr>
            <a:r>
              <a:rPr lang="en-US"/>
              <a:t>Descriptors of resources the OS has allocated to the process.</a:t>
            </a:r>
            <a:endParaRPr/>
          </a:p>
          <a:p>
            <a:pPr indent="-228600" lvl="1" marL="685800" rtl="0" algn="l">
              <a:lnSpc>
                <a:spcPct val="90000"/>
              </a:lnSpc>
              <a:spcBef>
                <a:spcPts val="500"/>
              </a:spcBef>
              <a:spcAft>
                <a:spcPts val="0"/>
              </a:spcAft>
              <a:buClr>
                <a:schemeClr val="dk1"/>
              </a:buClr>
              <a:buSzPts val="2400"/>
              <a:buChar char="•"/>
            </a:pPr>
            <a:r>
              <a:rPr lang="en-US"/>
              <a:t>Security information.</a:t>
            </a:r>
            <a:endParaRPr/>
          </a:p>
          <a:p>
            <a:pPr indent="-228600" lvl="1" marL="685800" rtl="0" algn="l">
              <a:lnSpc>
                <a:spcPct val="90000"/>
              </a:lnSpc>
              <a:spcBef>
                <a:spcPts val="500"/>
              </a:spcBef>
              <a:spcAft>
                <a:spcPts val="0"/>
              </a:spcAft>
              <a:buClr>
                <a:schemeClr val="dk1"/>
              </a:buClr>
              <a:buSzPts val="2400"/>
              <a:buChar char="•"/>
            </a:pPr>
            <a:r>
              <a:rPr lang="en-US"/>
              <a:t>Information about the state of the process.</a:t>
            </a:r>
            <a:endParaRPr/>
          </a:p>
        </p:txBody>
      </p:sp>
      <p:sp>
        <p:nvSpPr>
          <p:cNvPr id="575" name="Google Shape;575;p5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Multitasking</a:t>
            </a:r>
            <a:endParaRPr/>
          </a:p>
        </p:txBody>
      </p:sp>
      <p:sp>
        <p:nvSpPr>
          <p:cNvPr id="581" name="Google Shape;581;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Gives the illusion that a single processor system is running multiple programs simultaneously.</a:t>
            </a:r>
            <a:endParaRPr/>
          </a:p>
          <a:p>
            <a:pPr indent="-228600" lvl="0" marL="228600" rtl="0" algn="l">
              <a:lnSpc>
                <a:spcPct val="90000"/>
              </a:lnSpc>
              <a:spcBef>
                <a:spcPts val="1000"/>
              </a:spcBef>
              <a:spcAft>
                <a:spcPts val="0"/>
              </a:spcAft>
              <a:buClr>
                <a:schemeClr val="dk1"/>
              </a:buClr>
              <a:buSzPts val="2800"/>
              <a:buChar char="•"/>
            </a:pPr>
            <a:r>
              <a:rPr lang="en-US"/>
              <a:t>Each process takes turns running. (</a:t>
            </a:r>
            <a:r>
              <a:rPr b="1" lang="en-US"/>
              <a:t>time slice</a:t>
            </a:r>
            <a:r>
              <a:rPr lang="en-US"/>
              <a:t>)</a:t>
            </a:r>
            <a:endParaRPr/>
          </a:p>
          <a:p>
            <a:pPr indent="-228600" lvl="0" marL="228600" rtl="0" algn="l">
              <a:lnSpc>
                <a:spcPct val="90000"/>
              </a:lnSpc>
              <a:spcBef>
                <a:spcPts val="1000"/>
              </a:spcBef>
              <a:spcAft>
                <a:spcPts val="0"/>
              </a:spcAft>
              <a:buClr>
                <a:schemeClr val="dk1"/>
              </a:buClr>
              <a:buSzPts val="2800"/>
              <a:buChar char="•"/>
            </a:pPr>
            <a:r>
              <a:rPr lang="en-US"/>
              <a:t>After its time is up, it waits until it has a turn again. (</a:t>
            </a:r>
            <a:r>
              <a:rPr b="1" lang="en-US"/>
              <a:t>blocks</a:t>
            </a:r>
            <a:r>
              <a:rPr lang="en-US"/>
              <a:t>)</a:t>
            </a:r>
            <a:endParaRPr/>
          </a:p>
        </p:txBody>
      </p:sp>
      <p:sp>
        <p:nvSpPr>
          <p:cNvPr id="582" name="Google Shape;582;p5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Threading </a:t>
            </a:r>
            <a:endParaRPr/>
          </a:p>
        </p:txBody>
      </p:sp>
      <p:sp>
        <p:nvSpPr>
          <p:cNvPr id="588" name="Google Shape;588;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Threads are contained within processes.</a:t>
            </a:r>
            <a:br>
              <a:rPr lang="en-US"/>
            </a:br>
            <a:endParaRPr/>
          </a:p>
          <a:p>
            <a:pPr indent="-228600" lvl="0" marL="228600" rtl="0" algn="l">
              <a:lnSpc>
                <a:spcPct val="90000"/>
              </a:lnSpc>
              <a:spcBef>
                <a:spcPts val="1000"/>
              </a:spcBef>
              <a:spcAft>
                <a:spcPts val="0"/>
              </a:spcAft>
              <a:buClr>
                <a:schemeClr val="dk1"/>
              </a:buClr>
              <a:buSzPts val="2800"/>
              <a:buChar char="•"/>
            </a:pPr>
            <a:r>
              <a:rPr lang="en-US"/>
              <a:t>They allow programmers to divide their programs into (more or less) independent tasks.</a:t>
            </a:r>
            <a:endParaRPr/>
          </a:p>
          <a:p>
            <a:pPr indent="-228600" lvl="0" marL="228600" rtl="0" algn="l">
              <a:lnSpc>
                <a:spcPct val="90000"/>
              </a:lnSpc>
              <a:spcBef>
                <a:spcPts val="1000"/>
              </a:spcBef>
              <a:spcAft>
                <a:spcPts val="0"/>
              </a:spcAft>
              <a:buClr>
                <a:schemeClr val="dk1"/>
              </a:buClr>
              <a:buSzPts val="2800"/>
              <a:buChar char="•"/>
            </a:pPr>
            <a:r>
              <a:rPr lang="en-US"/>
              <a:t>The hope is that when one thread blocks because it is waiting on a resource, another will have work to do and can run.</a:t>
            </a:r>
            <a:endParaRPr/>
          </a:p>
        </p:txBody>
      </p:sp>
      <p:sp>
        <p:nvSpPr>
          <p:cNvPr id="589" name="Google Shape;589;p5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pic>
        <p:nvPicPr>
          <p:cNvPr id="594" name="Google Shape;594;p58"/>
          <p:cNvPicPr preferRelativeResize="0"/>
          <p:nvPr/>
        </p:nvPicPr>
        <p:blipFill rotWithShape="1">
          <a:blip r:embed="rId3">
            <a:alphaModFix/>
          </a:blip>
          <a:srcRect b="0" l="0" r="0" t="0"/>
          <a:stretch/>
        </p:blipFill>
        <p:spPr>
          <a:xfrm>
            <a:off x="2424113" y="1916113"/>
            <a:ext cx="7180262" cy="2381250"/>
          </a:xfrm>
          <a:prstGeom prst="rect">
            <a:avLst/>
          </a:prstGeom>
          <a:noFill/>
          <a:ln>
            <a:noFill/>
          </a:ln>
        </p:spPr>
      </p:pic>
      <p:sp>
        <p:nvSpPr>
          <p:cNvPr id="595" name="Google Shape;595;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 process and two threads</a:t>
            </a:r>
            <a:endParaRPr/>
          </a:p>
        </p:txBody>
      </p:sp>
      <p:sp>
        <p:nvSpPr>
          <p:cNvPr id="596" name="Google Shape;596;p5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597" name="Google Shape;597;p58"/>
          <p:cNvSpPr txBox="1"/>
          <p:nvPr/>
        </p:nvSpPr>
        <p:spPr>
          <a:xfrm>
            <a:off x="5303838" y="5661025"/>
            <a:ext cx="13382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2.2</a:t>
            </a:r>
            <a:endParaRPr b="0" i="0" sz="2000" u="none" cap="none" strike="noStrike">
              <a:solidFill>
                <a:srgbClr val="000066"/>
              </a:solidFill>
              <a:latin typeface="Arial"/>
              <a:ea typeface="Arial"/>
              <a:cs typeface="Arial"/>
              <a:sym typeface="Arial"/>
            </a:endParaRPr>
          </a:p>
        </p:txBody>
      </p:sp>
      <p:sp>
        <p:nvSpPr>
          <p:cNvPr id="598" name="Google Shape;598;p58"/>
          <p:cNvSpPr/>
          <p:nvPr/>
        </p:nvSpPr>
        <p:spPr>
          <a:xfrm>
            <a:off x="2640014" y="1484313"/>
            <a:ext cx="23590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8296B0"/>
                </a:solidFill>
                <a:latin typeface="Arial"/>
                <a:ea typeface="Arial"/>
                <a:cs typeface="Arial"/>
                <a:sym typeface="Arial"/>
              </a:rPr>
              <a:t>the “master” thread</a:t>
            </a:r>
            <a:endParaRPr b="0" i="0" sz="2000" u="none" cap="none" strike="noStrike">
              <a:solidFill>
                <a:srgbClr val="8296B0"/>
              </a:solidFill>
              <a:latin typeface="Calibri"/>
              <a:ea typeface="Calibri"/>
              <a:cs typeface="Calibri"/>
              <a:sym typeface="Calibri"/>
            </a:endParaRPr>
          </a:p>
        </p:txBody>
      </p:sp>
      <p:cxnSp>
        <p:nvCxnSpPr>
          <p:cNvPr id="599" name="Google Shape;599;p58"/>
          <p:cNvCxnSpPr/>
          <p:nvPr/>
        </p:nvCxnSpPr>
        <p:spPr>
          <a:xfrm rot="5400000">
            <a:off x="2855913" y="2132013"/>
            <a:ext cx="792162" cy="360362"/>
          </a:xfrm>
          <a:prstGeom prst="straightConnector1">
            <a:avLst/>
          </a:prstGeom>
          <a:noFill/>
          <a:ln cap="flat" cmpd="sng" w="9525">
            <a:solidFill>
              <a:srgbClr val="0066FF"/>
            </a:solidFill>
            <a:prstDash val="solid"/>
            <a:round/>
            <a:headEnd len="med" w="med" type="none"/>
            <a:tailEnd len="med" w="med" type="stealth"/>
          </a:ln>
        </p:spPr>
      </p:cxnSp>
      <p:sp>
        <p:nvSpPr>
          <p:cNvPr id="600" name="Google Shape;600;p58"/>
          <p:cNvSpPr/>
          <p:nvPr/>
        </p:nvSpPr>
        <p:spPr>
          <a:xfrm>
            <a:off x="2135189" y="4292600"/>
            <a:ext cx="2065337" cy="769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8296B0"/>
                </a:solidFill>
                <a:latin typeface="Arial"/>
                <a:ea typeface="Arial"/>
                <a:cs typeface="Arial"/>
                <a:sym typeface="Arial"/>
              </a:rPr>
              <a:t>starting a thread</a:t>
            </a:r>
            <a:endParaRPr/>
          </a:p>
          <a:p>
            <a:pPr indent="0" lvl="0" marL="0" marR="0" rtl="0" algn="l">
              <a:spcBef>
                <a:spcPts val="400"/>
              </a:spcBef>
              <a:spcAft>
                <a:spcPts val="0"/>
              </a:spcAft>
              <a:buClr>
                <a:schemeClr val="dk1"/>
              </a:buClr>
              <a:buSzPts val="1200"/>
              <a:buFont typeface="Noto Sans Symbols"/>
              <a:buNone/>
            </a:pPr>
            <a:r>
              <a:rPr b="0" i="0" lang="en-US" sz="2000" u="none" cap="none" strike="noStrike">
                <a:solidFill>
                  <a:srgbClr val="8296B0"/>
                </a:solidFill>
                <a:latin typeface="Arial"/>
                <a:ea typeface="Arial"/>
                <a:cs typeface="Arial"/>
                <a:sym typeface="Arial"/>
              </a:rPr>
              <a:t>Is called </a:t>
            </a:r>
            <a:r>
              <a:rPr b="1" i="1" lang="en-US" sz="2000" u="sng" cap="none" strike="noStrike">
                <a:solidFill>
                  <a:srgbClr val="8296B0"/>
                </a:solidFill>
                <a:latin typeface="Arial"/>
                <a:ea typeface="Arial"/>
                <a:cs typeface="Arial"/>
                <a:sym typeface="Arial"/>
              </a:rPr>
              <a:t>fork</a:t>
            </a:r>
            <a:r>
              <a:rPr b="1" i="1" lang="en-US" sz="2000" u="none" cap="none" strike="noStrike">
                <a:solidFill>
                  <a:srgbClr val="8296B0"/>
                </a:solidFill>
                <a:latin typeface="Arial"/>
                <a:ea typeface="Arial"/>
                <a:cs typeface="Arial"/>
                <a:sym typeface="Arial"/>
              </a:rPr>
              <a:t>ing</a:t>
            </a:r>
            <a:endParaRPr b="1" i="1" sz="2000" u="none" cap="none" strike="noStrike">
              <a:solidFill>
                <a:srgbClr val="8296B0"/>
              </a:solidFill>
              <a:latin typeface="Calibri"/>
              <a:ea typeface="Calibri"/>
              <a:cs typeface="Calibri"/>
              <a:sym typeface="Calibri"/>
            </a:endParaRPr>
          </a:p>
        </p:txBody>
      </p:sp>
      <p:cxnSp>
        <p:nvCxnSpPr>
          <p:cNvPr id="601" name="Google Shape;601;p58"/>
          <p:cNvCxnSpPr/>
          <p:nvPr/>
        </p:nvCxnSpPr>
        <p:spPr>
          <a:xfrm rot="-5400000">
            <a:off x="3036094" y="3680619"/>
            <a:ext cx="1079500" cy="144462"/>
          </a:xfrm>
          <a:prstGeom prst="straightConnector1">
            <a:avLst/>
          </a:prstGeom>
          <a:noFill/>
          <a:ln cap="flat" cmpd="sng" w="9525">
            <a:solidFill>
              <a:srgbClr val="0066FF"/>
            </a:solidFill>
            <a:prstDash val="solid"/>
            <a:round/>
            <a:headEnd len="med" w="med" type="none"/>
            <a:tailEnd len="med" w="med" type="stealth"/>
          </a:ln>
        </p:spPr>
      </p:cxnSp>
      <p:cxnSp>
        <p:nvCxnSpPr>
          <p:cNvPr id="602" name="Google Shape;602;p58"/>
          <p:cNvCxnSpPr/>
          <p:nvPr/>
        </p:nvCxnSpPr>
        <p:spPr>
          <a:xfrm rot="-5400000">
            <a:off x="3215483" y="3572670"/>
            <a:ext cx="1081087" cy="504825"/>
          </a:xfrm>
          <a:prstGeom prst="straightConnector1">
            <a:avLst/>
          </a:prstGeom>
          <a:noFill/>
          <a:ln cap="flat" cmpd="sng" w="9525">
            <a:solidFill>
              <a:srgbClr val="0066FF"/>
            </a:solidFill>
            <a:prstDash val="solid"/>
            <a:round/>
            <a:headEnd len="med" w="med" type="none"/>
            <a:tailEnd len="med" w="med" type="stealth"/>
          </a:ln>
        </p:spPr>
      </p:cxnSp>
      <p:sp>
        <p:nvSpPr>
          <p:cNvPr id="603" name="Google Shape;603;p58"/>
          <p:cNvSpPr/>
          <p:nvPr/>
        </p:nvSpPr>
        <p:spPr>
          <a:xfrm>
            <a:off x="7608888" y="4076700"/>
            <a:ext cx="2462212" cy="769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8296B0"/>
                </a:solidFill>
                <a:latin typeface="Arial"/>
                <a:ea typeface="Arial"/>
                <a:cs typeface="Arial"/>
                <a:sym typeface="Arial"/>
              </a:rPr>
              <a:t>terminating a thread</a:t>
            </a:r>
            <a:endParaRPr/>
          </a:p>
          <a:p>
            <a:pPr indent="0" lvl="0" marL="0" marR="0" rtl="0" algn="l">
              <a:spcBef>
                <a:spcPts val="400"/>
              </a:spcBef>
              <a:spcAft>
                <a:spcPts val="0"/>
              </a:spcAft>
              <a:buClr>
                <a:schemeClr val="dk1"/>
              </a:buClr>
              <a:buSzPts val="1200"/>
              <a:buFont typeface="Noto Sans Symbols"/>
              <a:buNone/>
            </a:pPr>
            <a:r>
              <a:rPr b="0" i="0" lang="en-US" sz="2000" u="none" cap="none" strike="noStrike">
                <a:solidFill>
                  <a:srgbClr val="8296B0"/>
                </a:solidFill>
                <a:latin typeface="Arial"/>
                <a:ea typeface="Arial"/>
                <a:cs typeface="Arial"/>
                <a:sym typeface="Arial"/>
              </a:rPr>
              <a:t>Is called </a:t>
            </a:r>
            <a:r>
              <a:rPr b="1" i="1" lang="en-US" sz="2000" u="sng" cap="none" strike="noStrike">
                <a:solidFill>
                  <a:srgbClr val="8296B0"/>
                </a:solidFill>
                <a:latin typeface="Arial"/>
                <a:ea typeface="Arial"/>
                <a:cs typeface="Arial"/>
                <a:sym typeface="Arial"/>
              </a:rPr>
              <a:t>join</a:t>
            </a:r>
            <a:r>
              <a:rPr b="1" i="1" lang="en-US" sz="2000" u="none" cap="none" strike="noStrike">
                <a:solidFill>
                  <a:srgbClr val="8296B0"/>
                </a:solidFill>
                <a:latin typeface="Arial"/>
                <a:ea typeface="Arial"/>
                <a:cs typeface="Arial"/>
                <a:sym typeface="Arial"/>
              </a:rPr>
              <a:t>ing</a:t>
            </a:r>
            <a:endParaRPr b="1" i="1" sz="2000" u="none" cap="none" strike="noStrike">
              <a:solidFill>
                <a:srgbClr val="8296B0"/>
              </a:solidFill>
              <a:latin typeface="Calibri"/>
              <a:ea typeface="Calibri"/>
              <a:cs typeface="Calibri"/>
              <a:sym typeface="Calibri"/>
            </a:endParaRPr>
          </a:p>
        </p:txBody>
      </p:sp>
      <p:cxnSp>
        <p:nvCxnSpPr>
          <p:cNvPr id="604" name="Google Shape;604;p58"/>
          <p:cNvCxnSpPr/>
          <p:nvPr/>
        </p:nvCxnSpPr>
        <p:spPr>
          <a:xfrm flipH="1" rot="5400000">
            <a:off x="7716045" y="3248820"/>
            <a:ext cx="936625" cy="865187"/>
          </a:xfrm>
          <a:prstGeom prst="straightConnector1">
            <a:avLst/>
          </a:prstGeom>
          <a:noFill/>
          <a:ln cap="flat" cmpd="sng" w="9525">
            <a:solidFill>
              <a:srgbClr val="0066FF"/>
            </a:solidFill>
            <a:prstDash val="solid"/>
            <a:round/>
            <a:headEnd len="med" w="med" type="none"/>
            <a:tailEnd len="med" w="med" type="stealth"/>
          </a:ln>
        </p:spPr>
      </p:cxnSp>
      <p:cxnSp>
        <p:nvCxnSpPr>
          <p:cNvPr id="605" name="Google Shape;605;p58"/>
          <p:cNvCxnSpPr/>
          <p:nvPr/>
        </p:nvCxnSpPr>
        <p:spPr>
          <a:xfrm flipH="1" rot="5400000">
            <a:off x="8004176" y="3536951"/>
            <a:ext cx="865187" cy="360362"/>
          </a:xfrm>
          <a:prstGeom prst="straightConnector1">
            <a:avLst/>
          </a:prstGeom>
          <a:noFill/>
          <a:ln cap="flat" cmpd="sng" w="9525">
            <a:solidFill>
              <a:srgbClr val="0066FF"/>
            </a:solidFill>
            <a:prstDash val="solid"/>
            <a:round/>
            <a:headEnd len="med" w="med" type="none"/>
            <a:tailEnd len="med" w="med" type="stealth"/>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9"/>
          <p:cNvSpPr txBox="1"/>
          <p:nvPr>
            <p:ph type="title"/>
          </p:nvPr>
        </p:nvSpPr>
        <p:spPr>
          <a:xfrm>
            <a:off x="2246313" y="4406901"/>
            <a:ext cx="7772400" cy="132397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Modifications to the von neumann model</a:t>
            </a:r>
            <a:endParaRPr/>
          </a:p>
        </p:txBody>
      </p:sp>
      <p:sp>
        <p:nvSpPr>
          <p:cNvPr id="611" name="Google Shape;611;p5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1G3WK4XC\MC900433867[1].png" id="612" name="Google Shape;612;p59"/>
          <p:cNvPicPr preferRelativeResize="0"/>
          <p:nvPr/>
        </p:nvPicPr>
        <p:blipFill rotWithShape="1">
          <a:blip r:embed="rId3">
            <a:alphaModFix/>
          </a:blip>
          <a:srcRect b="0" l="0" r="0" t="0"/>
          <a:stretch/>
        </p:blipFill>
        <p:spPr>
          <a:xfrm>
            <a:off x="5016501" y="1628775"/>
            <a:ext cx="1827213" cy="18288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Basics of caching</a:t>
            </a:r>
            <a:endParaRPr/>
          </a:p>
        </p:txBody>
      </p:sp>
      <p:sp>
        <p:nvSpPr>
          <p:cNvPr id="618" name="Google Shape;618;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collection of memory locations that can be accessed in less time than some other memory locations.</a:t>
            </a:r>
            <a:br>
              <a:rPr lang="en-US"/>
            </a:br>
            <a:endParaRPr/>
          </a:p>
          <a:p>
            <a:pPr indent="-228600" lvl="0" marL="228600" rtl="0" algn="l">
              <a:lnSpc>
                <a:spcPct val="90000"/>
              </a:lnSpc>
              <a:spcBef>
                <a:spcPts val="1000"/>
              </a:spcBef>
              <a:spcAft>
                <a:spcPts val="0"/>
              </a:spcAft>
              <a:buClr>
                <a:schemeClr val="dk1"/>
              </a:buClr>
              <a:buSzPts val="2800"/>
              <a:buChar char="•"/>
            </a:pPr>
            <a:r>
              <a:rPr lang="en-US"/>
              <a:t>A CPU cache is typically located on the same chip, or one that can be accessed much faster than ordinary memory.</a:t>
            </a:r>
            <a:endParaRPr/>
          </a:p>
        </p:txBody>
      </p:sp>
      <p:sp>
        <p:nvSpPr>
          <p:cNvPr id="619" name="Google Shape;619;p6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1G3WK4XC\MP900448291[1].jpg" id="620" name="Google Shape;620;p60"/>
          <p:cNvPicPr preferRelativeResize="0"/>
          <p:nvPr/>
        </p:nvPicPr>
        <p:blipFill rotWithShape="1">
          <a:blip r:embed="rId3">
            <a:alphaModFix/>
          </a:blip>
          <a:srcRect b="0" l="0" r="0" t="0"/>
          <a:stretch/>
        </p:blipFill>
        <p:spPr>
          <a:xfrm>
            <a:off x="5232400" y="4797425"/>
            <a:ext cx="1943100" cy="1309688"/>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Principle of locality</a:t>
            </a:r>
            <a:endParaRPr/>
          </a:p>
        </p:txBody>
      </p:sp>
      <p:sp>
        <p:nvSpPr>
          <p:cNvPr id="626" name="Google Shape;626;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Accessing one location is followed by an access of a nearby location.</a:t>
            </a:r>
            <a:br>
              <a:rPr lang="en-US"/>
            </a:br>
            <a:endParaRPr/>
          </a:p>
          <a:p>
            <a:pPr indent="-228600" lvl="0" marL="228600" rtl="0" algn="l">
              <a:lnSpc>
                <a:spcPct val="90000"/>
              </a:lnSpc>
              <a:spcBef>
                <a:spcPts val="1000"/>
              </a:spcBef>
              <a:spcAft>
                <a:spcPts val="0"/>
              </a:spcAft>
              <a:buClr>
                <a:schemeClr val="dk1"/>
              </a:buClr>
              <a:buSzPts val="2800"/>
              <a:buChar char="•"/>
            </a:pPr>
            <a:r>
              <a:rPr b="1" lang="en-US"/>
              <a:t>Spatial locality </a:t>
            </a:r>
            <a:r>
              <a:rPr lang="en-US"/>
              <a:t>– accessing a nearby location.</a:t>
            </a:r>
            <a:br>
              <a:rPr lang="en-US"/>
            </a:br>
            <a:endParaRPr/>
          </a:p>
          <a:p>
            <a:pPr indent="-228600" lvl="0" marL="228600" rtl="0" algn="l">
              <a:lnSpc>
                <a:spcPct val="90000"/>
              </a:lnSpc>
              <a:spcBef>
                <a:spcPts val="1000"/>
              </a:spcBef>
              <a:spcAft>
                <a:spcPts val="0"/>
              </a:spcAft>
              <a:buClr>
                <a:schemeClr val="dk1"/>
              </a:buClr>
              <a:buSzPts val="2800"/>
              <a:buChar char="•"/>
            </a:pPr>
            <a:r>
              <a:rPr b="1" lang="en-US"/>
              <a:t>Temporal locality </a:t>
            </a:r>
            <a:r>
              <a:rPr lang="en-US"/>
              <a:t>– accessing in the near future.</a:t>
            </a:r>
            <a:endParaRPr/>
          </a:p>
        </p:txBody>
      </p:sp>
      <p:sp>
        <p:nvSpPr>
          <p:cNvPr id="627" name="Google Shape;627;p6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Principle of locality</a:t>
            </a:r>
            <a:endParaRPr/>
          </a:p>
        </p:txBody>
      </p:sp>
      <p:sp>
        <p:nvSpPr>
          <p:cNvPr id="633" name="Google Shape;633;p6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634" name="Google Shape;634;p62"/>
          <p:cNvSpPr txBox="1"/>
          <p:nvPr/>
        </p:nvSpPr>
        <p:spPr>
          <a:xfrm>
            <a:off x="3503614" y="1773239"/>
            <a:ext cx="4333875" cy="2947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float z[1000];</a:t>
            </a:r>
            <a:endParaRPr/>
          </a:p>
          <a:p>
            <a:pPr indent="0" lvl="0" marL="0" marR="0" rtl="0" algn="l">
              <a:spcBef>
                <a:spcPts val="64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a:t>
            </a:r>
            <a:endParaRPr/>
          </a:p>
          <a:p>
            <a:pPr indent="0" lvl="0" marL="0" marR="0" rtl="0" algn="l">
              <a:spcBef>
                <a:spcPts val="64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sum = 0.0;</a:t>
            </a:r>
            <a:endParaRPr/>
          </a:p>
          <a:p>
            <a:pPr indent="0" lvl="0" marL="0" marR="0" rtl="0" algn="l">
              <a:spcBef>
                <a:spcPts val="64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for (i = 0; i &lt; 1000; i++)</a:t>
            </a:r>
            <a:endParaRPr/>
          </a:p>
          <a:p>
            <a:pPr indent="0" lvl="0" marL="0" marR="0" rtl="0" algn="l">
              <a:spcBef>
                <a:spcPts val="64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   sum += z[i];</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Levels of Cache</a:t>
            </a:r>
            <a:endParaRPr/>
          </a:p>
        </p:txBody>
      </p:sp>
      <p:sp>
        <p:nvSpPr>
          <p:cNvPr id="640" name="Google Shape;640;p6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641" name="Google Shape;641;p63"/>
          <p:cNvSpPr/>
          <p:nvPr/>
        </p:nvSpPr>
        <p:spPr>
          <a:xfrm>
            <a:off x="3143251" y="4221164"/>
            <a:ext cx="5832475" cy="72072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42" name="Google Shape;642;p63"/>
          <p:cNvSpPr/>
          <p:nvPr/>
        </p:nvSpPr>
        <p:spPr>
          <a:xfrm>
            <a:off x="4151313" y="3213100"/>
            <a:ext cx="3816350" cy="5842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43" name="Google Shape;643;p63"/>
          <p:cNvSpPr/>
          <p:nvPr/>
        </p:nvSpPr>
        <p:spPr>
          <a:xfrm>
            <a:off x="4943475" y="2276475"/>
            <a:ext cx="2305050" cy="585788"/>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44" name="Google Shape;644;p63"/>
          <p:cNvSpPr txBox="1"/>
          <p:nvPr/>
        </p:nvSpPr>
        <p:spPr>
          <a:xfrm>
            <a:off x="5016501" y="2276475"/>
            <a:ext cx="639763"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L1</a:t>
            </a:r>
            <a:endParaRPr/>
          </a:p>
        </p:txBody>
      </p:sp>
      <p:sp>
        <p:nvSpPr>
          <p:cNvPr id="645" name="Google Shape;645;p63"/>
          <p:cNvSpPr txBox="1"/>
          <p:nvPr/>
        </p:nvSpPr>
        <p:spPr>
          <a:xfrm>
            <a:off x="4224338" y="3213100"/>
            <a:ext cx="639762"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L2</a:t>
            </a:r>
            <a:endParaRPr/>
          </a:p>
        </p:txBody>
      </p:sp>
      <p:sp>
        <p:nvSpPr>
          <p:cNvPr id="646" name="Google Shape;646;p63"/>
          <p:cNvSpPr txBox="1"/>
          <p:nvPr/>
        </p:nvSpPr>
        <p:spPr>
          <a:xfrm>
            <a:off x="3216276" y="4292600"/>
            <a:ext cx="639763"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L3</a:t>
            </a:r>
            <a:endParaRPr/>
          </a:p>
        </p:txBody>
      </p:sp>
      <p:sp>
        <p:nvSpPr>
          <p:cNvPr id="647" name="Google Shape;647;p63"/>
          <p:cNvSpPr txBox="1"/>
          <p:nvPr/>
        </p:nvSpPr>
        <p:spPr>
          <a:xfrm>
            <a:off x="2424113" y="1341439"/>
            <a:ext cx="2595562"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chemeClr val="dk1"/>
                </a:solidFill>
                <a:latin typeface="Calibri"/>
                <a:ea typeface="Calibri"/>
                <a:cs typeface="Calibri"/>
                <a:sym typeface="Calibri"/>
              </a:rPr>
              <a:t>smallest &amp; fastest</a:t>
            </a:r>
            <a:endParaRPr/>
          </a:p>
        </p:txBody>
      </p:sp>
      <p:sp>
        <p:nvSpPr>
          <p:cNvPr id="648" name="Google Shape;648;p63"/>
          <p:cNvSpPr/>
          <p:nvPr/>
        </p:nvSpPr>
        <p:spPr>
          <a:xfrm>
            <a:off x="3498850" y="1684338"/>
            <a:ext cx="1290638" cy="963612"/>
          </a:xfrm>
          <a:custGeom>
            <a:rect b="b" l="l" r="r" t="t"/>
            <a:pathLst>
              <a:path extrusionOk="0" h="962781" w="1291772">
                <a:moveTo>
                  <a:pt x="159657" y="118533"/>
                </a:moveTo>
                <a:cubicBezTo>
                  <a:pt x="649514" y="59266"/>
                  <a:pt x="1139371" y="0"/>
                  <a:pt x="1117600" y="118533"/>
                </a:cubicBezTo>
                <a:cubicBezTo>
                  <a:pt x="1095829" y="237066"/>
                  <a:pt x="0" y="696685"/>
                  <a:pt x="29029" y="829733"/>
                </a:cubicBezTo>
                <a:cubicBezTo>
                  <a:pt x="58058" y="962781"/>
                  <a:pt x="674915" y="939800"/>
                  <a:pt x="1291772" y="916819"/>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49" name="Google Shape;649;p63"/>
          <p:cNvSpPr txBox="1"/>
          <p:nvPr/>
        </p:nvSpPr>
        <p:spPr>
          <a:xfrm>
            <a:off x="7464426" y="5229226"/>
            <a:ext cx="25114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chemeClr val="dk1"/>
                </a:solidFill>
                <a:latin typeface="Calibri"/>
                <a:ea typeface="Calibri"/>
                <a:cs typeface="Calibri"/>
                <a:sym typeface="Calibri"/>
              </a:rPr>
              <a:t>largest &amp; slowest</a:t>
            </a:r>
            <a:endParaRPr/>
          </a:p>
        </p:txBody>
      </p:sp>
      <p:pic>
        <p:nvPicPr>
          <p:cNvPr descr="C:\Documents and Settings\liszka\Local Settings\Temporary Internet Files\Content.IE5\Q7HGDQRM\MC900052819[1].wmf" id="650" name="Google Shape;650;p63"/>
          <p:cNvPicPr preferRelativeResize="0"/>
          <p:nvPr/>
        </p:nvPicPr>
        <p:blipFill rotWithShape="1">
          <a:blip r:embed="rId3">
            <a:alphaModFix/>
          </a:blip>
          <a:srcRect b="0" l="0" r="0" t="0"/>
          <a:stretch/>
        </p:blipFill>
        <p:spPr>
          <a:xfrm>
            <a:off x="6383339" y="2276476"/>
            <a:ext cx="642937" cy="587375"/>
          </a:xfrm>
          <a:prstGeom prst="rect">
            <a:avLst/>
          </a:prstGeom>
          <a:noFill/>
          <a:ln>
            <a:noFill/>
          </a:ln>
        </p:spPr>
      </p:pic>
      <p:pic>
        <p:nvPicPr>
          <p:cNvPr descr="C:\Documents and Settings\liszka\Local Settings\Temporary Internet Files\Content.IE5\5W39ONER\MC900330276[1].wmf" id="651" name="Google Shape;651;p63"/>
          <p:cNvPicPr preferRelativeResize="0"/>
          <p:nvPr/>
        </p:nvPicPr>
        <p:blipFill rotWithShape="1">
          <a:blip r:embed="rId4">
            <a:alphaModFix/>
          </a:blip>
          <a:srcRect b="0" l="0" r="0" t="0"/>
          <a:stretch/>
        </p:blipFill>
        <p:spPr>
          <a:xfrm>
            <a:off x="7680326" y="4437064"/>
            <a:ext cx="936625" cy="396875"/>
          </a:xfrm>
          <a:prstGeom prst="rect">
            <a:avLst/>
          </a:prstGeom>
          <a:noFill/>
          <a:ln>
            <a:noFill/>
          </a:ln>
        </p:spPr>
      </p:pic>
      <p:sp>
        <p:nvSpPr>
          <p:cNvPr id="652" name="Google Shape;652;p63"/>
          <p:cNvSpPr/>
          <p:nvPr/>
        </p:nvSpPr>
        <p:spPr>
          <a:xfrm>
            <a:off x="6016626" y="5040314"/>
            <a:ext cx="1414463" cy="473075"/>
          </a:xfrm>
          <a:custGeom>
            <a:rect b="b" l="l" r="r" t="t"/>
            <a:pathLst>
              <a:path extrusionOk="0" h="474133" w="1415144">
                <a:moveTo>
                  <a:pt x="1415144" y="406400"/>
                </a:moveTo>
                <a:cubicBezTo>
                  <a:pt x="889001" y="440266"/>
                  <a:pt x="362858" y="474133"/>
                  <a:pt x="181429" y="406400"/>
                </a:cubicBezTo>
                <a:cubicBezTo>
                  <a:pt x="0" y="338667"/>
                  <a:pt x="163286" y="169333"/>
                  <a:pt x="326572" y="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Cache hit</a:t>
            </a:r>
            <a:endParaRPr/>
          </a:p>
        </p:txBody>
      </p:sp>
      <p:sp>
        <p:nvSpPr>
          <p:cNvPr id="658" name="Google Shape;658;p6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659" name="Google Shape;659;p64"/>
          <p:cNvSpPr/>
          <p:nvPr/>
        </p:nvSpPr>
        <p:spPr>
          <a:xfrm>
            <a:off x="3143251" y="4221164"/>
            <a:ext cx="5832475" cy="72072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60" name="Google Shape;660;p64"/>
          <p:cNvSpPr/>
          <p:nvPr/>
        </p:nvSpPr>
        <p:spPr>
          <a:xfrm>
            <a:off x="4151313" y="3213100"/>
            <a:ext cx="3816350" cy="5842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61" name="Google Shape;661;p64"/>
          <p:cNvSpPr/>
          <p:nvPr/>
        </p:nvSpPr>
        <p:spPr>
          <a:xfrm>
            <a:off x="4943475" y="2276475"/>
            <a:ext cx="2305050" cy="585788"/>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62" name="Google Shape;662;p64"/>
          <p:cNvSpPr txBox="1"/>
          <p:nvPr/>
        </p:nvSpPr>
        <p:spPr>
          <a:xfrm>
            <a:off x="5016501" y="2276475"/>
            <a:ext cx="639763"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L1</a:t>
            </a:r>
            <a:endParaRPr/>
          </a:p>
        </p:txBody>
      </p:sp>
      <p:sp>
        <p:nvSpPr>
          <p:cNvPr id="663" name="Google Shape;663;p64"/>
          <p:cNvSpPr txBox="1"/>
          <p:nvPr/>
        </p:nvSpPr>
        <p:spPr>
          <a:xfrm>
            <a:off x="4224338" y="3213100"/>
            <a:ext cx="639762"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L2</a:t>
            </a:r>
            <a:endParaRPr/>
          </a:p>
        </p:txBody>
      </p:sp>
      <p:sp>
        <p:nvSpPr>
          <p:cNvPr id="664" name="Google Shape;664;p64"/>
          <p:cNvSpPr txBox="1"/>
          <p:nvPr/>
        </p:nvSpPr>
        <p:spPr>
          <a:xfrm>
            <a:off x="3216276" y="4292600"/>
            <a:ext cx="639763"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L3</a:t>
            </a:r>
            <a:endParaRPr/>
          </a:p>
        </p:txBody>
      </p:sp>
      <p:pic>
        <p:nvPicPr>
          <p:cNvPr descr="C:\Documents and Settings\liszka\Local Settings\Temporary Internet Files\Content.IE5\5W39ONER\MC900433834[1].png" id="665" name="Google Shape;665;p64"/>
          <p:cNvPicPr preferRelativeResize="0"/>
          <p:nvPr/>
        </p:nvPicPr>
        <p:blipFill rotWithShape="1">
          <a:blip r:embed="rId3">
            <a:alphaModFix/>
          </a:blip>
          <a:srcRect b="0" l="0" r="0" t="0"/>
          <a:stretch/>
        </p:blipFill>
        <p:spPr>
          <a:xfrm>
            <a:off x="1919288" y="765175"/>
            <a:ext cx="1828800" cy="1828800"/>
          </a:xfrm>
          <a:prstGeom prst="rect">
            <a:avLst/>
          </a:prstGeom>
          <a:noFill/>
          <a:ln>
            <a:noFill/>
          </a:ln>
        </p:spPr>
      </p:pic>
      <p:sp>
        <p:nvSpPr>
          <p:cNvPr id="666" name="Google Shape;666;p64"/>
          <p:cNvSpPr/>
          <p:nvPr/>
        </p:nvSpPr>
        <p:spPr>
          <a:xfrm>
            <a:off x="3846513" y="1408113"/>
            <a:ext cx="2379662" cy="711200"/>
          </a:xfrm>
          <a:custGeom>
            <a:rect b="b" l="l" r="r" t="t"/>
            <a:pathLst>
              <a:path extrusionOk="0" h="711200" w="2380343">
                <a:moveTo>
                  <a:pt x="0" y="0"/>
                </a:moveTo>
                <a:cubicBezTo>
                  <a:pt x="549123" y="6047"/>
                  <a:pt x="1098247" y="12095"/>
                  <a:pt x="1494971" y="130628"/>
                </a:cubicBezTo>
                <a:cubicBezTo>
                  <a:pt x="1891695" y="249161"/>
                  <a:pt x="2136019" y="480180"/>
                  <a:pt x="2380343" y="71120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67" name="Google Shape;667;p64"/>
          <p:cNvSpPr txBox="1"/>
          <p:nvPr/>
        </p:nvSpPr>
        <p:spPr>
          <a:xfrm>
            <a:off x="6024563" y="2349501"/>
            <a:ext cx="1174750"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8296B0"/>
                </a:solidFill>
                <a:latin typeface="Calibri"/>
                <a:ea typeface="Calibri"/>
                <a:cs typeface="Calibri"/>
                <a:sym typeface="Calibri"/>
              </a:rPr>
              <a:t>x   sum</a:t>
            </a:r>
            <a:endParaRPr/>
          </a:p>
        </p:txBody>
      </p:sp>
      <p:sp>
        <p:nvSpPr>
          <p:cNvPr id="668" name="Google Shape;668;p64"/>
          <p:cNvSpPr txBox="1"/>
          <p:nvPr/>
        </p:nvSpPr>
        <p:spPr>
          <a:xfrm>
            <a:off x="5808663" y="3284538"/>
            <a:ext cx="17526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8296B0"/>
                </a:solidFill>
                <a:latin typeface="Calibri"/>
                <a:ea typeface="Calibri"/>
                <a:cs typeface="Calibri"/>
                <a:sym typeface="Calibri"/>
              </a:rPr>
              <a:t>y    z    total</a:t>
            </a:r>
            <a:endParaRPr/>
          </a:p>
        </p:txBody>
      </p:sp>
      <p:sp>
        <p:nvSpPr>
          <p:cNvPr id="669" name="Google Shape;669;p64"/>
          <p:cNvSpPr txBox="1"/>
          <p:nvPr/>
        </p:nvSpPr>
        <p:spPr>
          <a:xfrm>
            <a:off x="4727576" y="4365626"/>
            <a:ext cx="3463925"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8296B0"/>
                </a:solidFill>
                <a:latin typeface="Calibri"/>
                <a:ea typeface="Calibri"/>
                <a:cs typeface="Calibri"/>
                <a:sym typeface="Calibri"/>
              </a:rPr>
              <a:t>A[ ]   radius   r1    center</a:t>
            </a:r>
            <a:endParaRPr/>
          </a:p>
        </p:txBody>
      </p:sp>
      <p:sp>
        <p:nvSpPr>
          <p:cNvPr id="670" name="Google Shape;670;p64"/>
          <p:cNvSpPr txBox="1"/>
          <p:nvPr/>
        </p:nvSpPr>
        <p:spPr>
          <a:xfrm>
            <a:off x="4079875" y="1484313"/>
            <a:ext cx="117475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chemeClr val="dk1"/>
                </a:solidFill>
                <a:latin typeface="Calibri"/>
                <a:ea typeface="Calibri"/>
                <a:cs typeface="Calibri"/>
                <a:sym typeface="Calibri"/>
              </a:rPr>
              <a:t>fetch  x</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65"/>
          <p:cNvSpPr txBox="1"/>
          <p:nvPr>
            <p:ph type="title"/>
          </p:nvPr>
        </p:nvSpPr>
        <p:spPr>
          <a:xfrm>
            <a:off x="838200" y="365125"/>
            <a:ext cx="10515600" cy="56991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Cache miss</a:t>
            </a:r>
            <a:endParaRPr/>
          </a:p>
        </p:txBody>
      </p:sp>
      <p:sp>
        <p:nvSpPr>
          <p:cNvPr id="676" name="Google Shape;676;p6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677" name="Google Shape;677;p65"/>
          <p:cNvSpPr/>
          <p:nvPr/>
        </p:nvSpPr>
        <p:spPr>
          <a:xfrm>
            <a:off x="3143251" y="4221164"/>
            <a:ext cx="5832475" cy="720725"/>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78" name="Google Shape;678;p65"/>
          <p:cNvSpPr/>
          <p:nvPr/>
        </p:nvSpPr>
        <p:spPr>
          <a:xfrm>
            <a:off x="4151313" y="3213100"/>
            <a:ext cx="3816350" cy="5842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79" name="Google Shape;679;p65"/>
          <p:cNvSpPr/>
          <p:nvPr/>
        </p:nvSpPr>
        <p:spPr>
          <a:xfrm>
            <a:off x="4943475" y="2276475"/>
            <a:ext cx="2305050" cy="585788"/>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80" name="Google Shape;680;p65"/>
          <p:cNvSpPr txBox="1"/>
          <p:nvPr/>
        </p:nvSpPr>
        <p:spPr>
          <a:xfrm>
            <a:off x="5016501" y="2276475"/>
            <a:ext cx="639763"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L1</a:t>
            </a:r>
            <a:endParaRPr/>
          </a:p>
        </p:txBody>
      </p:sp>
      <p:sp>
        <p:nvSpPr>
          <p:cNvPr id="681" name="Google Shape;681;p65"/>
          <p:cNvSpPr txBox="1"/>
          <p:nvPr/>
        </p:nvSpPr>
        <p:spPr>
          <a:xfrm>
            <a:off x="4224338" y="3213100"/>
            <a:ext cx="639762"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L2</a:t>
            </a:r>
            <a:endParaRPr/>
          </a:p>
        </p:txBody>
      </p:sp>
      <p:sp>
        <p:nvSpPr>
          <p:cNvPr id="682" name="Google Shape;682;p65"/>
          <p:cNvSpPr txBox="1"/>
          <p:nvPr/>
        </p:nvSpPr>
        <p:spPr>
          <a:xfrm>
            <a:off x="3216276" y="4292600"/>
            <a:ext cx="639763"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chemeClr val="dk1"/>
                </a:solidFill>
                <a:latin typeface="Calibri"/>
                <a:ea typeface="Calibri"/>
                <a:cs typeface="Calibri"/>
                <a:sym typeface="Calibri"/>
              </a:rPr>
              <a:t>L3</a:t>
            </a:r>
            <a:endParaRPr/>
          </a:p>
        </p:txBody>
      </p:sp>
      <p:pic>
        <p:nvPicPr>
          <p:cNvPr descr="C:\Documents and Settings\liszka\Local Settings\Temporary Internet Files\Content.IE5\5W39ONER\MC900433834[1].png" id="683" name="Google Shape;683;p65"/>
          <p:cNvPicPr preferRelativeResize="0"/>
          <p:nvPr/>
        </p:nvPicPr>
        <p:blipFill rotWithShape="1">
          <a:blip r:embed="rId3">
            <a:alphaModFix/>
          </a:blip>
          <a:srcRect b="0" l="0" r="0" t="0"/>
          <a:stretch/>
        </p:blipFill>
        <p:spPr>
          <a:xfrm>
            <a:off x="1919288" y="765175"/>
            <a:ext cx="1828800" cy="1828800"/>
          </a:xfrm>
          <a:prstGeom prst="rect">
            <a:avLst/>
          </a:prstGeom>
          <a:noFill/>
          <a:ln>
            <a:noFill/>
          </a:ln>
        </p:spPr>
      </p:pic>
      <p:sp>
        <p:nvSpPr>
          <p:cNvPr id="684" name="Google Shape;684;p65"/>
          <p:cNvSpPr/>
          <p:nvPr/>
        </p:nvSpPr>
        <p:spPr>
          <a:xfrm>
            <a:off x="3846513" y="1408113"/>
            <a:ext cx="2379662" cy="711200"/>
          </a:xfrm>
          <a:custGeom>
            <a:rect b="b" l="l" r="r" t="t"/>
            <a:pathLst>
              <a:path extrusionOk="0" h="711200" w="2380343">
                <a:moveTo>
                  <a:pt x="0" y="0"/>
                </a:moveTo>
                <a:cubicBezTo>
                  <a:pt x="549123" y="6047"/>
                  <a:pt x="1098247" y="12095"/>
                  <a:pt x="1494971" y="130628"/>
                </a:cubicBezTo>
                <a:cubicBezTo>
                  <a:pt x="1891695" y="249161"/>
                  <a:pt x="2136019" y="480180"/>
                  <a:pt x="2380343" y="711200"/>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85" name="Google Shape;685;p65"/>
          <p:cNvSpPr txBox="1"/>
          <p:nvPr/>
        </p:nvSpPr>
        <p:spPr>
          <a:xfrm>
            <a:off x="6024563" y="2349501"/>
            <a:ext cx="1174750"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8296B0"/>
                </a:solidFill>
                <a:latin typeface="Calibri"/>
                <a:ea typeface="Calibri"/>
                <a:cs typeface="Calibri"/>
                <a:sym typeface="Calibri"/>
              </a:rPr>
              <a:t>y   sum</a:t>
            </a:r>
            <a:endParaRPr/>
          </a:p>
        </p:txBody>
      </p:sp>
      <p:sp>
        <p:nvSpPr>
          <p:cNvPr id="686" name="Google Shape;686;p65"/>
          <p:cNvSpPr txBox="1"/>
          <p:nvPr/>
        </p:nvSpPr>
        <p:spPr>
          <a:xfrm>
            <a:off x="5808663" y="3284538"/>
            <a:ext cx="187325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8296B0"/>
                </a:solidFill>
                <a:latin typeface="Calibri"/>
                <a:ea typeface="Calibri"/>
                <a:cs typeface="Calibri"/>
                <a:sym typeface="Calibri"/>
              </a:rPr>
              <a:t>r1    z    total</a:t>
            </a:r>
            <a:endParaRPr/>
          </a:p>
        </p:txBody>
      </p:sp>
      <p:sp>
        <p:nvSpPr>
          <p:cNvPr id="687" name="Google Shape;687;p65"/>
          <p:cNvSpPr txBox="1"/>
          <p:nvPr/>
        </p:nvSpPr>
        <p:spPr>
          <a:xfrm>
            <a:off x="4727575" y="4365626"/>
            <a:ext cx="2935288"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8296B0"/>
                </a:solidFill>
                <a:latin typeface="Calibri"/>
                <a:ea typeface="Calibri"/>
                <a:cs typeface="Calibri"/>
                <a:sym typeface="Calibri"/>
              </a:rPr>
              <a:t>A[ ]   radius    center</a:t>
            </a:r>
            <a:endParaRPr/>
          </a:p>
        </p:txBody>
      </p:sp>
      <p:sp>
        <p:nvSpPr>
          <p:cNvPr id="688" name="Google Shape;688;p65"/>
          <p:cNvSpPr txBox="1"/>
          <p:nvPr/>
        </p:nvSpPr>
        <p:spPr>
          <a:xfrm>
            <a:off x="4079875" y="1484313"/>
            <a:ext cx="117475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chemeClr val="dk1"/>
                </a:solidFill>
                <a:latin typeface="Calibri"/>
                <a:ea typeface="Calibri"/>
                <a:cs typeface="Calibri"/>
                <a:sym typeface="Calibri"/>
              </a:rPr>
              <a:t>fetch  x</a:t>
            </a:r>
            <a:endParaRPr/>
          </a:p>
        </p:txBody>
      </p:sp>
      <p:sp>
        <p:nvSpPr>
          <p:cNvPr id="689" name="Google Shape;689;p65"/>
          <p:cNvSpPr/>
          <p:nvPr/>
        </p:nvSpPr>
        <p:spPr>
          <a:xfrm>
            <a:off x="8832851" y="836613"/>
            <a:ext cx="1008063" cy="1162050"/>
          </a:xfrm>
          <a:prstGeom prst="flowChartMagneticDisk">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690" name="Google Shape;690;p65"/>
          <p:cNvSpPr/>
          <p:nvPr/>
        </p:nvSpPr>
        <p:spPr>
          <a:xfrm>
            <a:off x="9191626" y="1412876"/>
            <a:ext cx="3397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177FF"/>
                </a:solidFill>
                <a:latin typeface="Arial"/>
                <a:ea typeface="Arial"/>
                <a:cs typeface="Arial"/>
                <a:sym typeface="Arial"/>
              </a:rPr>
              <a:t>x</a:t>
            </a:r>
            <a:endParaRPr b="0" i="0" sz="3200" u="none" cap="none" strike="noStrike">
              <a:solidFill>
                <a:schemeClr val="dk1"/>
              </a:solidFill>
              <a:latin typeface="Arial Black"/>
              <a:ea typeface="Arial Black"/>
              <a:cs typeface="Arial Black"/>
              <a:sym typeface="Arial Black"/>
            </a:endParaRPr>
          </a:p>
        </p:txBody>
      </p:sp>
      <p:sp>
        <p:nvSpPr>
          <p:cNvPr id="691" name="Google Shape;691;p65"/>
          <p:cNvSpPr/>
          <p:nvPr/>
        </p:nvSpPr>
        <p:spPr>
          <a:xfrm>
            <a:off x="8832850" y="1989138"/>
            <a:ext cx="1150938" cy="7683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main</a:t>
            </a:r>
            <a:endParaRPr/>
          </a:p>
          <a:p>
            <a:pPr indent="0" lvl="0" marL="0" marR="0" rtl="0" algn="ctr">
              <a:spcBef>
                <a:spcPts val="400"/>
              </a:spcBef>
              <a:spcAft>
                <a:spcPts val="0"/>
              </a:spcAft>
              <a:buNone/>
            </a:pPr>
            <a:r>
              <a:rPr b="0" i="0" lang="en-US" sz="2000" u="none" cap="none" strike="noStrike">
                <a:solidFill>
                  <a:schemeClr val="dk1"/>
                </a:solidFill>
                <a:latin typeface="Arial"/>
                <a:ea typeface="Arial"/>
                <a:cs typeface="Arial"/>
                <a:sym typeface="Arial"/>
              </a:rPr>
              <a:t>memory</a:t>
            </a:r>
            <a:endParaRPr b="0" i="0" sz="28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Issues with cache</a:t>
            </a:r>
            <a:endParaRPr/>
          </a:p>
        </p:txBody>
      </p:sp>
      <p:sp>
        <p:nvSpPr>
          <p:cNvPr id="697" name="Google Shape;697;p66"/>
          <p:cNvSpPr txBox="1"/>
          <p:nvPr>
            <p:ph idx="1" type="body"/>
          </p:nvPr>
        </p:nvSpPr>
        <p:spPr>
          <a:xfrm>
            <a:off x="1436914" y="1930399"/>
            <a:ext cx="9739085" cy="42338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When a CPU writes data to cache, the value in cache may be inconsistent with the value in main memory.</a:t>
            </a:r>
            <a:endParaRPr/>
          </a:p>
          <a:p>
            <a:pPr indent="-228600" lvl="0" marL="228600" rtl="0" algn="l">
              <a:lnSpc>
                <a:spcPct val="90000"/>
              </a:lnSpc>
              <a:spcBef>
                <a:spcPts val="1000"/>
              </a:spcBef>
              <a:spcAft>
                <a:spcPts val="0"/>
              </a:spcAft>
              <a:buClr>
                <a:schemeClr val="dk1"/>
              </a:buClr>
              <a:buSzPts val="2800"/>
              <a:buChar char="•"/>
            </a:pPr>
            <a:r>
              <a:rPr b="1" lang="en-US"/>
              <a:t>Write-through</a:t>
            </a:r>
            <a:r>
              <a:rPr lang="en-US"/>
              <a:t> caches handle this by updating the data in main memory at the time it is written to cache.</a:t>
            </a:r>
            <a:endParaRPr/>
          </a:p>
          <a:p>
            <a:pPr indent="-228600" lvl="0" marL="228600" rtl="0" algn="l">
              <a:lnSpc>
                <a:spcPct val="90000"/>
              </a:lnSpc>
              <a:spcBef>
                <a:spcPts val="1000"/>
              </a:spcBef>
              <a:spcAft>
                <a:spcPts val="0"/>
              </a:spcAft>
              <a:buClr>
                <a:schemeClr val="dk1"/>
              </a:buClr>
              <a:buSzPts val="2800"/>
              <a:buChar char="•"/>
            </a:pPr>
            <a:r>
              <a:rPr b="1" lang="en-US"/>
              <a:t>Write-back</a:t>
            </a:r>
            <a:r>
              <a:rPr lang="en-US"/>
              <a:t> caches mark data in the cache as </a:t>
            </a:r>
            <a:r>
              <a:rPr lang="en-US">
                <a:solidFill>
                  <a:srgbClr val="C00000"/>
                </a:solidFill>
              </a:rPr>
              <a:t>dirty</a:t>
            </a:r>
            <a:r>
              <a:rPr lang="en-US"/>
              <a:t>. When the cache line is replaced by a new cache line from memory, the </a:t>
            </a:r>
            <a:r>
              <a:rPr lang="en-US">
                <a:solidFill>
                  <a:srgbClr val="C00000"/>
                </a:solidFill>
              </a:rPr>
              <a:t>dirty</a:t>
            </a:r>
            <a:r>
              <a:rPr lang="en-US"/>
              <a:t> line is written to memory.</a:t>
            </a:r>
            <a:endParaRPr/>
          </a:p>
        </p:txBody>
      </p:sp>
      <p:sp>
        <p:nvSpPr>
          <p:cNvPr id="698" name="Google Shape;698;p6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Cache mappings</a:t>
            </a:r>
            <a:endParaRPr/>
          </a:p>
        </p:txBody>
      </p:sp>
      <p:sp>
        <p:nvSpPr>
          <p:cNvPr id="704" name="Google Shape;704;p67"/>
          <p:cNvSpPr txBox="1"/>
          <p:nvPr>
            <p:ph idx="1" type="body"/>
          </p:nvPr>
        </p:nvSpPr>
        <p:spPr>
          <a:xfrm>
            <a:off x="2208214" y="1690687"/>
            <a:ext cx="8270875" cy="44021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Full associative </a:t>
            </a:r>
            <a:r>
              <a:rPr lang="en-US"/>
              <a:t>– a new line can be placed at any location in the cache.</a:t>
            </a:r>
            <a:br>
              <a:rPr lang="en-US"/>
            </a:br>
            <a:endParaRPr/>
          </a:p>
          <a:p>
            <a:pPr indent="-228600" lvl="0" marL="228600" rtl="0" algn="l">
              <a:lnSpc>
                <a:spcPct val="90000"/>
              </a:lnSpc>
              <a:spcBef>
                <a:spcPts val="1000"/>
              </a:spcBef>
              <a:spcAft>
                <a:spcPts val="0"/>
              </a:spcAft>
              <a:buClr>
                <a:schemeClr val="dk1"/>
              </a:buClr>
              <a:buSzPts val="2800"/>
              <a:buChar char="•"/>
            </a:pPr>
            <a:r>
              <a:rPr b="1" lang="en-US"/>
              <a:t>Direct mapped </a:t>
            </a:r>
            <a:r>
              <a:rPr lang="en-US"/>
              <a:t>– each cache line has a unique location in the cache to which it will be assigned.</a:t>
            </a:r>
            <a:br>
              <a:rPr lang="en-US"/>
            </a:br>
            <a:endParaRPr/>
          </a:p>
          <a:p>
            <a:pPr indent="-228600" lvl="0" marL="228600" rtl="0" algn="l">
              <a:lnSpc>
                <a:spcPct val="90000"/>
              </a:lnSpc>
              <a:spcBef>
                <a:spcPts val="1000"/>
              </a:spcBef>
              <a:spcAft>
                <a:spcPts val="0"/>
              </a:spcAft>
              <a:buClr>
                <a:schemeClr val="dk1"/>
              </a:buClr>
              <a:buSzPts val="2800"/>
              <a:buChar char="•"/>
            </a:pPr>
            <a:r>
              <a:rPr b="1" i="1" lang="en-US"/>
              <a:t>n</a:t>
            </a:r>
            <a:r>
              <a:rPr b="1" lang="en-US"/>
              <a:t>-way set associative </a:t>
            </a:r>
            <a:r>
              <a:rPr lang="en-US"/>
              <a:t>– each cache line can be place in one of </a:t>
            </a:r>
            <a:r>
              <a:rPr i="1" lang="en-US"/>
              <a:t>n</a:t>
            </a:r>
            <a:r>
              <a:rPr lang="en-US"/>
              <a:t> different locations in the cache.</a:t>
            </a:r>
            <a:endParaRPr/>
          </a:p>
        </p:txBody>
      </p:sp>
      <p:sp>
        <p:nvSpPr>
          <p:cNvPr id="705" name="Google Shape;705;p6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i="1" lang="en-US"/>
              <a:t>n</a:t>
            </a:r>
            <a:r>
              <a:rPr lang="en-US"/>
              <a:t>-way set associative</a:t>
            </a:r>
            <a:endParaRPr/>
          </a:p>
        </p:txBody>
      </p:sp>
      <p:sp>
        <p:nvSpPr>
          <p:cNvPr id="711" name="Google Shape;711;p68"/>
          <p:cNvSpPr txBox="1"/>
          <p:nvPr>
            <p:ph idx="1" type="body"/>
          </p:nvPr>
        </p:nvSpPr>
        <p:spPr>
          <a:xfrm>
            <a:off x="2208214" y="1973942"/>
            <a:ext cx="7775575" cy="426334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When more than one line in memory can be mapped to several different locations in cache we also need to be able to decide which line should be replaced or </a:t>
            </a:r>
            <a:r>
              <a:rPr lang="en-US">
                <a:solidFill>
                  <a:srgbClr val="C00000"/>
                </a:solidFill>
              </a:rPr>
              <a:t>evicted</a:t>
            </a:r>
            <a:r>
              <a:rPr lang="en-US"/>
              <a:t>.</a:t>
            </a:r>
            <a:endParaRPr/>
          </a:p>
        </p:txBody>
      </p:sp>
      <p:sp>
        <p:nvSpPr>
          <p:cNvPr id="712" name="Google Shape;712;p6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grpSp>
        <p:nvGrpSpPr>
          <p:cNvPr id="713" name="Google Shape;713;p68"/>
          <p:cNvGrpSpPr/>
          <p:nvPr/>
        </p:nvGrpSpPr>
        <p:grpSpPr>
          <a:xfrm>
            <a:off x="7889875" y="3500439"/>
            <a:ext cx="2133600" cy="2370137"/>
            <a:chOff x="6365476" y="3501008"/>
            <a:chExt cx="2134619" cy="2370212"/>
          </a:xfrm>
        </p:grpSpPr>
        <p:pic>
          <p:nvPicPr>
            <p:cNvPr descr="C:\Documents and Settings\liszka\Local Settings\Temporary Internet Files\Content.IE5\3X5GU20H\MC900078823[1].wmf" id="714" name="Google Shape;714;p68"/>
            <p:cNvPicPr preferRelativeResize="0"/>
            <p:nvPr/>
          </p:nvPicPr>
          <p:blipFill rotWithShape="1">
            <a:blip r:embed="rId3">
              <a:alphaModFix/>
            </a:blip>
            <a:srcRect b="0" l="0" r="0" t="0"/>
            <a:stretch/>
          </p:blipFill>
          <p:spPr>
            <a:xfrm>
              <a:off x="6365476" y="3501008"/>
              <a:ext cx="2134619" cy="2370212"/>
            </a:xfrm>
            <a:prstGeom prst="rect">
              <a:avLst/>
            </a:prstGeom>
            <a:noFill/>
            <a:ln>
              <a:noFill/>
            </a:ln>
          </p:spPr>
        </p:pic>
        <p:sp>
          <p:nvSpPr>
            <p:cNvPr id="715" name="Google Shape;715;p68"/>
            <p:cNvSpPr/>
            <p:nvPr/>
          </p:nvSpPr>
          <p:spPr>
            <a:xfrm>
              <a:off x="7020272" y="4005064"/>
              <a:ext cx="216024" cy="36004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grpSp>
      <p:sp>
        <p:nvSpPr>
          <p:cNvPr id="716" name="Google Shape;716;p68"/>
          <p:cNvSpPr txBox="1"/>
          <p:nvPr/>
        </p:nvSpPr>
        <p:spPr>
          <a:xfrm>
            <a:off x="8328025" y="3860800"/>
            <a:ext cx="490538" cy="7699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4400" u="none" cap="none" strike="noStrike">
                <a:solidFill>
                  <a:srgbClr val="C00000"/>
                </a:solidFill>
                <a:latin typeface="Bell MT"/>
                <a:ea typeface="Bell MT"/>
                <a:cs typeface="Bell MT"/>
                <a:sym typeface="Bell MT"/>
              </a:rPr>
              <a:t>x</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a:t>
            </a:r>
            <a:endParaRPr/>
          </a:p>
        </p:txBody>
      </p:sp>
      <p:sp>
        <p:nvSpPr>
          <p:cNvPr id="722" name="Google Shape;722;p6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723" name="Google Shape;723;p69"/>
          <p:cNvPicPr preferRelativeResize="0"/>
          <p:nvPr/>
        </p:nvPicPr>
        <p:blipFill rotWithShape="1">
          <a:blip r:embed="rId3">
            <a:alphaModFix/>
          </a:blip>
          <a:srcRect b="0" l="0" r="0" t="0"/>
          <a:stretch/>
        </p:blipFill>
        <p:spPr>
          <a:xfrm>
            <a:off x="3792538" y="1052514"/>
            <a:ext cx="4381500" cy="4181475"/>
          </a:xfrm>
          <a:prstGeom prst="rect">
            <a:avLst/>
          </a:prstGeom>
          <a:noFill/>
          <a:ln>
            <a:noFill/>
          </a:ln>
        </p:spPr>
      </p:pic>
      <p:sp>
        <p:nvSpPr>
          <p:cNvPr id="724" name="Google Shape;724;p69"/>
          <p:cNvSpPr/>
          <p:nvPr/>
        </p:nvSpPr>
        <p:spPr>
          <a:xfrm>
            <a:off x="3863975" y="5373689"/>
            <a:ext cx="4572000"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Table 2.1: Assignments of a 16-line main memory to a 4-line cache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Caches and programs</a:t>
            </a:r>
            <a:endParaRPr/>
          </a:p>
        </p:txBody>
      </p:sp>
      <p:sp>
        <p:nvSpPr>
          <p:cNvPr id="730" name="Google Shape;730;p7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731" name="Google Shape;731;p70"/>
          <p:cNvPicPr preferRelativeResize="0"/>
          <p:nvPr/>
        </p:nvPicPr>
        <p:blipFill rotWithShape="1">
          <a:blip r:embed="rId3">
            <a:alphaModFix/>
          </a:blip>
          <a:srcRect b="0" l="0" r="0" t="0"/>
          <a:stretch/>
        </p:blipFill>
        <p:spPr>
          <a:xfrm>
            <a:off x="1453017" y="1674019"/>
            <a:ext cx="4824412" cy="3748088"/>
          </a:xfrm>
          <a:prstGeom prst="rect">
            <a:avLst/>
          </a:prstGeom>
          <a:noFill/>
          <a:ln>
            <a:noFill/>
          </a:ln>
        </p:spPr>
      </p:pic>
      <p:pic>
        <p:nvPicPr>
          <p:cNvPr id="732" name="Google Shape;732;p70"/>
          <p:cNvPicPr preferRelativeResize="0"/>
          <p:nvPr/>
        </p:nvPicPr>
        <p:blipFill rotWithShape="1">
          <a:blip r:embed="rId4">
            <a:alphaModFix/>
          </a:blip>
          <a:srcRect b="0" l="0" r="0" t="0"/>
          <a:stretch/>
        </p:blipFill>
        <p:spPr>
          <a:xfrm>
            <a:off x="5808664" y="2852738"/>
            <a:ext cx="4581525" cy="13906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Virtual memory (1)</a:t>
            </a:r>
            <a:endParaRPr/>
          </a:p>
        </p:txBody>
      </p:sp>
      <p:sp>
        <p:nvSpPr>
          <p:cNvPr id="738" name="Google Shape;738;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we run a very large program or a program that accesses very large data sets, all of the instructions and data may not fit into main memory.</a:t>
            </a:r>
            <a:br>
              <a:rPr lang="en-US"/>
            </a:br>
            <a:endParaRPr/>
          </a:p>
          <a:p>
            <a:pPr indent="-228600" lvl="0" marL="228600" rtl="0" algn="l">
              <a:lnSpc>
                <a:spcPct val="90000"/>
              </a:lnSpc>
              <a:spcBef>
                <a:spcPts val="1000"/>
              </a:spcBef>
              <a:spcAft>
                <a:spcPts val="0"/>
              </a:spcAft>
              <a:buClr>
                <a:schemeClr val="dk1"/>
              </a:buClr>
              <a:buSzPts val="2800"/>
              <a:buChar char="•"/>
            </a:pPr>
            <a:r>
              <a:rPr lang="en-US"/>
              <a:t>Virtual memory functions as a cache for secondary storage.</a:t>
            </a:r>
            <a:endParaRPr/>
          </a:p>
        </p:txBody>
      </p:sp>
      <p:sp>
        <p:nvSpPr>
          <p:cNvPr id="739" name="Google Shape;739;p7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Virtual memory (2)</a:t>
            </a:r>
            <a:endParaRPr/>
          </a:p>
        </p:txBody>
      </p:sp>
      <p:sp>
        <p:nvSpPr>
          <p:cNvPr id="745" name="Google Shape;745;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exploits the principle of spatial and temporal locality.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It only keeps the active parts of running programs in main memory.</a:t>
            </a:r>
            <a:endParaRPr/>
          </a:p>
        </p:txBody>
      </p:sp>
      <p:sp>
        <p:nvSpPr>
          <p:cNvPr id="746" name="Google Shape;746;p7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Virtual memory (3)</a:t>
            </a:r>
            <a:endParaRPr/>
          </a:p>
        </p:txBody>
      </p:sp>
      <p:sp>
        <p:nvSpPr>
          <p:cNvPr id="752" name="Google Shape;752;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Swap space </a:t>
            </a:r>
            <a:r>
              <a:rPr lang="en-US"/>
              <a:t>- those parts that are idle are kept in a block of secondary storage.</a:t>
            </a:r>
            <a:br>
              <a:rPr lang="en-US"/>
            </a:br>
            <a:endParaRPr/>
          </a:p>
          <a:p>
            <a:pPr indent="-228600" lvl="0" marL="228600" rtl="0" algn="l">
              <a:lnSpc>
                <a:spcPct val="90000"/>
              </a:lnSpc>
              <a:spcBef>
                <a:spcPts val="1000"/>
              </a:spcBef>
              <a:spcAft>
                <a:spcPts val="0"/>
              </a:spcAft>
              <a:buClr>
                <a:schemeClr val="dk1"/>
              </a:buClr>
              <a:buSzPts val="2800"/>
              <a:buChar char="•"/>
            </a:pPr>
            <a:r>
              <a:rPr b="1" lang="en-US"/>
              <a:t>Pages</a:t>
            </a:r>
            <a:r>
              <a:rPr lang="en-US"/>
              <a:t> – blocks of data and instructions.</a:t>
            </a:r>
            <a:endParaRPr/>
          </a:p>
          <a:p>
            <a:pPr indent="-228600" lvl="1" marL="685800" rtl="0" algn="l">
              <a:lnSpc>
                <a:spcPct val="90000"/>
              </a:lnSpc>
              <a:spcBef>
                <a:spcPts val="500"/>
              </a:spcBef>
              <a:spcAft>
                <a:spcPts val="0"/>
              </a:spcAft>
              <a:buClr>
                <a:schemeClr val="dk1"/>
              </a:buClr>
              <a:buSzPts val="2400"/>
              <a:buChar char="•"/>
            </a:pPr>
            <a:r>
              <a:rPr lang="en-US"/>
              <a:t>Usually these are relatively large.</a:t>
            </a:r>
            <a:endParaRPr/>
          </a:p>
          <a:p>
            <a:pPr indent="-228600" lvl="1" marL="685800" rtl="0" algn="l">
              <a:lnSpc>
                <a:spcPct val="90000"/>
              </a:lnSpc>
              <a:spcBef>
                <a:spcPts val="500"/>
              </a:spcBef>
              <a:spcAft>
                <a:spcPts val="0"/>
              </a:spcAft>
              <a:buClr>
                <a:schemeClr val="dk1"/>
              </a:buClr>
              <a:buSzPts val="2400"/>
              <a:buChar char="•"/>
            </a:pPr>
            <a:r>
              <a:rPr lang="en-US"/>
              <a:t>Most systems have a fixed page </a:t>
            </a:r>
            <a:br>
              <a:rPr lang="en-US"/>
            </a:br>
            <a:r>
              <a:rPr lang="en-US"/>
              <a:t>size that currently ranges from </a:t>
            </a:r>
            <a:br>
              <a:rPr lang="en-US"/>
            </a:br>
            <a:r>
              <a:rPr lang="en-US"/>
              <a:t>4 to 16 kilobytes.</a:t>
            </a:r>
            <a:endParaRPr/>
          </a:p>
        </p:txBody>
      </p:sp>
      <p:sp>
        <p:nvSpPr>
          <p:cNvPr id="753" name="Google Shape;753;p7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754" name="Google Shape;754;p73"/>
          <p:cNvSpPr/>
          <p:nvPr/>
        </p:nvSpPr>
        <p:spPr>
          <a:xfrm>
            <a:off x="8759826" y="3573464"/>
            <a:ext cx="892175" cy="1120775"/>
          </a:xfrm>
          <a:custGeom>
            <a:rect b="b" l="l" r="r" t="t"/>
            <a:pathLst>
              <a:path extrusionOk="0" h="21600" w="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extrusionOk="0" h="21600" w="21600">
                <a:moveTo>
                  <a:pt x="3486" y="1428"/>
                </a:moveTo>
                <a:lnTo>
                  <a:pt x="19954" y="1428"/>
                </a:lnTo>
                <a:lnTo>
                  <a:pt x="19954" y="20214"/>
                </a:lnTo>
                <a:lnTo>
                  <a:pt x="18256" y="20214"/>
                </a:lnTo>
                <a:lnTo>
                  <a:pt x="18256" y="2800"/>
                </a:lnTo>
                <a:lnTo>
                  <a:pt x="1645" y="2800"/>
                </a:lnTo>
                <a:lnTo>
                  <a:pt x="1645" y="1428"/>
                </a:lnTo>
                <a:lnTo>
                  <a:pt x="3486" y="1428"/>
                </a:lnTo>
                <a:close/>
              </a:path>
              <a:path extrusionOk="0" h="21600" w="21600">
                <a:moveTo>
                  <a:pt x="0" y="18014"/>
                </a:moveTo>
                <a:lnTo>
                  <a:pt x="4434" y="18000"/>
                </a:lnTo>
                <a:lnTo>
                  <a:pt x="4434" y="21600"/>
                </a:lnTo>
                <a:lnTo>
                  <a:pt x="0" y="18014"/>
                </a:lnTo>
                <a:close/>
              </a:path>
            </a:pathLst>
          </a:custGeom>
          <a:solidFill>
            <a:schemeClr val="lt1"/>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74"/>
          <p:cNvSpPr txBox="1"/>
          <p:nvPr>
            <p:ph type="title"/>
          </p:nvPr>
        </p:nvSpPr>
        <p:spPr>
          <a:xfrm>
            <a:off x="838200" y="365126"/>
            <a:ext cx="10515600" cy="65722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Virtual memory (4)</a:t>
            </a:r>
            <a:endParaRPr/>
          </a:p>
        </p:txBody>
      </p:sp>
      <p:sp>
        <p:nvSpPr>
          <p:cNvPr id="760" name="Google Shape;760;p7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761" name="Google Shape;761;p74"/>
          <p:cNvSpPr/>
          <p:nvPr/>
        </p:nvSpPr>
        <p:spPr>
          <a:xfrm>
            <a:off x="2927350" y="1412875"/>
            <a:ext cx="1036638" cy="1265238"/>
          </a:xfrm>
          <a:custGeom>
            <a:rect b="b" l="l" r="r" t="t"/>
            <a:pathLst>
              <a:path extrusionOk="0" h="21600" w="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extrusionOk="0" h="21600" w="21600">
                <a:moveTo>
                  <a:pt x="3486" y="1428"/>
                </a:moveTo>
                <a:lnTo>
                  <a:pt x="19954" y="1428"/>
                </a:lnTo>
                <a:lnTo>
                  <a:pt x="19954" y="20214"/>
                </a:lnTo>
                <a:lnTo>
                  <a:pt x="18256" y="20214"/>
                </a:lnTo>
                <a:lnTo>
                  <a:pt x="18256" y="2800"/>
                </a:lnTo>
                <a:lnTo>
                  <a:pt x="1645" y="2800"/>
                </a:lnTo>
                <a:lnTo>
                  <a:pt x="1645" y="1428"/>
                </a:lnTo>
                <a:lnTo>
                  <a:pt x="3486" y="1428"/>
                </a:lnTo>
                <a:close/>
              </a:path>
              <a:path extrusionOk="0" h="21600" w="21600">
                <a:moveTo>
                  <a:pt x="0" y="18014"/>
                </a:moveTo>
                <a:lnTo>
                  <a:pt x="4434" y="18000"/>
                </a:lnTo>
                <a:lnTo>
                  <a:pt x="4434" y="21600"/>
                </a:lnTo>
                <a:lnTo>
                  <a:pt x="0" y="18014"/>
                </a:lnTo>
                <a:close/>
              </a:path>
            </a:pathLst>
          </a:custGeom>
          <a:solidFill>
            <a:srgbClr val="D8EBB3"/>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762" name="Google Shape;762;p74"/>
          <p:cNvSpPr/>
          <p:nvPr/>
        </p:nvSpPr>
        <p:spPr>
          <a:xfrm>
            <a:off x="2208213" y="3429000"/>
            <a:ext cx="1035050" cy="1265238"/>
          </a:xfrm>
          <a:custGeom>
            <a:rect b="b" l="l" r="r" t="t"/>
            <a:pathLst>
              <a:path extrusionOk="0" h="21600" w="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extrusionOk="0" h="21600" w="21600">
                <a:moveTo>
                  <a:pt x="3486" y="1428"/>
                </a:moveTo>
                <a:lnTo>
                  <a:pt x="19954" y="1428"/>
                </a:lnTo>
                <a:lnTo>
                  <a:pt x="19954" y="20214"/>
                </a:lnTo>
                <a:lnTo>
                  <a:pt x="18256" y="20214"/>
                </a:lnTo>
                <a:lnTo>
                  <a:pt x="18256" y="2800"/>
                </a:lnTo>
                <a:lnTo>
                  <a:pt x="1645" y="2800"/>
                </a:lnTo>
                <a:lnTo>
                  <a:pt x="1645" y="1428"/>
                </a:lnTo>
                <a:lnTo>
                  <a:pt x="3486" y="1428"/>
                </a:lnTo>
                <a:close/>
              </a:path>
              <a:path extrusionOk="0" h="21600" w="21600">
                <a:moveTo>
                  <a:pt x="0" y="18014"/>
                </a:moveTo>
                <a:lnTo>
                  <a:pt x="4434" y="18000"/>
                </a:lnTo>
                <a:lnTo>
                  <a:pt x="4434" y="21600"/>
                </a:lnTo>
                <a:lnTo>
                  <a:pt x="0" y="18014"/>
                </a:lnTo>
                <a:close/>
              </a:path>
            </a:pathLst>
          </a:custGeom>
          <a:solidFill>
            <a:srgbClr val="D8EBB3"/>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763" name="Google Shape;763;p74"/>
          <p:cNvSpPr/>
          <p:nvPr/>
        </p:nvSpPr>
        <p:spPr>
          <a:xfrm>
            <a:off x="4151314" y="4437064"/>
            <a:ext cx="1036637" cy="1265237"/>
          </a:xfrm>
          <a:custGeom>
            <a:rect b="b" l="l" r="r" t="t"/>
            <a:pathLst>
              <a:path extrusionOk="0" h="21600" w="2160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extrusionOk="0" h="21600" w="21600">
                <a:moveTo>
                  <a:pt x="3486" y="1428"/>
                </a:moveTo>
                <a:lnTo>
                  <a:pt x="19954" y="1428"/>
                </a:lnTo>
                <a:lnTo>
                  <a:pt x="19954" y="20214"/>
                </a:lnTo>
                <a:lnTo>
                  <a:pt x="18256" y="20214"/>
                </a:lnTo>
                <a:lnTo>
                  <a:pt x="18256" y="2800"/>
                </a:lnTo>
                <a:lnTo>
                  <a:pt x="1645" y="2800"/>
                </a:lnTo>
                <a:lnTo>
                  <a:pt x="1645" y="1428"/>
                </a:lnTo>
                <a:lnTo>
                  <a:pt x="3486" y="1428"/>
                </a:lnTo>
                <a:close/>
              </a:path>
              <a:path extrusionOk="0" h="21600" w="21600">
                <a:moveTo>
                  <a:pt x="0" y="18014"/>
                </a:moveTo>
                <a:lnTo>
                  <a:pt x="4434" y="18000"/>
                </a:lnTo>
                <a:lnTo>
                  <a:pt x="4434" y="21600"/>
                </a:lnTo>
                <a:lnTo>
                  <a:pt x="0" y="18014"/>
                </a:lnTo>
                <a:close/>
              </a:path>
            </a:pathLst>
          </a:custGeom>
          <a:solidFill>
            <a:srgbClr val="D8EBB3"/>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764" name="Google Shape;764;p74"/>
          <p:cNvSpPr txBox="1"/>
          <p:nvPr/>
        </p:nvSpPr>
        <p:spPr>
          <a:xfrm>
            <a:off x="2782889" y="981075"/>
            <a:ext cx="1366837"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program A</a:t>
            </a:r>
            <a:endParaRPr/>
          </a:p>
        </p:txBody>
      </p:sp>
      <p:sp>
        <p:nvSpPr>
          <p:cNvPr id="765" name="Google Shape;765;p74"/>
          <p:cNvSpPr txBox="1"/>
          <p:nvPr/>
        </p:nvSpPr>
        <p:spPr>
          <a:xfrm>
            <a:off x="2135189" y="2924175"/>
            <a:ext cx="1381125" cy="4016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program B</a:t>
            </a:r>
            <a:endParaRPr/>
          </a:p>
        </p:txBody>
      </p:sp>
      <p:sp>
        <p:nvSpPr>
          <p:cNvPr id="766" name="Google Shape;766;p74"/>
          <p:cNvSpPr txBox="1"/>
          <p:nvPr/>
        </p:nvSpPr>
        <p:spPr>
          <a:xfrm>
            <a:off x="4008439" y="3933825"/>
            <a:ext cx="13938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program C</a:t>
            </a:r>
            <a:endParaRPr/>
          </a:p>
        </p:txBody>
      </p:sp>
      <p:sp>
        <p:nvSpPr>
          <p:cNvPr id="767" name="Google Shape;767;p74"/>
          <p:cNvSpPr/>
          <p:nvPr/>
        </p:nvSpPr>
        <p:spPr>
          <a:xfrm>
            <a:off x="8183563" y="1484314"/>
            <a:ext cx="1568450" cy="3673475"/>
          </a:xfrm>
          <a:custGeom>
            <a:rect b="b" l="l" r="r" t="t"/>
            <a:pathLst>
              <a:path extrusionOk="0" h="21600" w="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extrusionOk="0" h="21600" w="21600">
                <a:moveTo>
                  <a:pt x="85" y="17509"/>
                </a:moveTo>
                <a:lnTo>
                  <a:pt x="5187" y="17509"/>
                </a:lnTo>
                <a:lnTo>
                  <a:pt x="5187" y="21632"/>
                </a:lnTo>
                <a:lnTo>
                  <a:pt x="85" y="17509"/>
                </a:lnTo>
                <a:close/>
              </a:path>
            </a:pathLst>
          </a:custGeom>
          <a:solidFill>
            <a:srgbClr val="00B050"/>
          </a:solidFill>
          <a:ln cap="flat" cmpd="sng" w="9525">
            <a:solidFill>
              <a:srgbClr val="000000"/>
            </a:solidFill>
            <a:prstDash val="solid"/>
            <a:miter lim="800000"/>
            <a:headEnd len="sm" w="sm" type="none"/>
            <a:tailEnd len="sm" w="sm" type="none"/>
          </a:ln>
          <a:effectLst>
            <a:outerShdw rotWithShape="0" algn="ctr" dir="2700000" dist="107763">
              <a:srgbClr val="808080"/>
            </a:outerShdw>
          </a:effectLst>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92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768" name="Google Shape;768;p74"/>
          <p:cNvSpPr txBox="1"/>
          <p:nvPr/>
        </p:nvSpPr>
        <p:spPr>
          <a:xfrm>
            <a:off x="8183564" y="981075"/>
            <a:ext cx="17367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main memory</a:t>
            </a:r>
            <a:endParaRPr/>
          </a:p>
        </p:txBody>
      </p:sp>
      <p:cxnSp>
        <p:nvCxnSpPr>
          <p:cNvPr id="769" name="Google Shape;769;p74"/>
          <p:cNvCxnSpPr/>
          <p:nvPr/>
        </p:nvCxnSpPr>
        <p:spPr>
          <a:xfrm>
            <a:off x="8183563" y="2420938"/>
            <a:ext cx="1657350" cy="0"/>
          </a:xfrm>
          <a:prstGeom prst="straightConnector1">
            <a:avLst/>
          </a:prstGeom>
          <a:noFill/>
          <a:ln cap="flat" cmpd="sng" w="9525">
            <a:solidFill>
              <a:schemeClr val="dk1"/>
            </a:solidFill>
            <a:prstDash val="solid"/>
            <a:round/>
            <a:headEnd len="med" w="med" type="none"/>
            <a:tailEnd len="med" w="med" type="none"/>
          </a:ln>
        </p:spPr>
      </p:cxnSp>
      <p:cxnSp>
        <p:nvCxnSpPr>
          <p:cNvPr id="770" name="Google Shape;770;p74"/>
          <p:cNvCxnSpPr/>
          <p:nvPr/>
        </p:nvCxnSpPr>
        <p:spPr>
          <a:xfrm>
            <a:off x="8183563" y="3357563"/>
            <a:ext cx="1657350" cy="0"/>
          </a:xfrm>
          <a:prstGeom prst="straightConnector1">
            <a:avLst/>
          </a:prstGeom>
          <a:noFill/>
          <a:ln cap="flat" cmpd="sng" w="9525">
            <a:solidFill>
              <a:schemeClr val="dk1"/>
            </a:solidFill>
            <a:prstDash val="solid"/>
            <a:round/>
            <a:headEnd len="med" w="med" type="none"/>
            <a:tailEnd len="med" w="med" type="none"/>
          </a:ln>
        </p:spPr>
      </p:cxnSp>
      <p:sp>
        <p:nvSpPr>
          <p:cNvPr id="771" name="Google Shape;771;p74"/>
          <p:cNvSpPr/>
          <p:nvPr/>
        </p:nvSpPr>
        <p:spPr>
          <a:xfrm>
            <a:off x="8183564" y="2349500"/>
            <a:ext cx="1584325" cy="1150938"/>
          </a:xfrm>
          <a:prstGeom prst="rect">
            <a:avLst/>
          </a:prstGeom>
          <a:solidFill>
            <a:srgbClr val="92D05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cxnSp>
        <p:nvCxnSpPr>
          <p:cNvPr id="772" name="Google Shape;772;p74"/>
          <p:cNvCxnSpPr/>
          <p:nvPr/>
        </p:nvCxnSpPr>
        <p:spPr>
          <a:xfrm>
            <a:off x="4224338" y="1844676"/>
            <a:ext cx="4248150" cy="1008063"/>
          </a:xfrm>
          <a:prstGeom prst="straightConnector1">
            <a:avLst/>
          </a:prstGeom>
          <a:noFill/>
          <a:ln cap="flat" cmpd="sng" w="9525">
            <a:solidFill>
              <a:schemeClr val="dk1"/>
            </a:solidFill>
            <a:prstDash val="solid"/>
            <a:round/>
            <a:headEnd len="med" w="med" type="none"/>
            <a:tailEnd len="med" w="med" type="stealth"/>
          </a:ln>
        </p:spPr>
      </p:cxnSp>
      <p:cxnSp>
        <p:nvCxnSpPr>
          <p:cNvPr id="773" name="Google Shape;773;p74"/>
          <p:cNvCxnSpPr/>
          <p:nvPr/>
        </p:nvCxnSpPr>
        <p:spPr>
          <a:xfrm flipH="1" rot="10800000">
            <a:off x="3648076" y="3068639"/>
            <a:ext cx="4824413" cy="720725"/>
          </a:xfrm>
          <a:prstGeom prst="straightConnector1">
            <a:avLst/>
          </a:prstGeom>
          <a:noFill/>
          <a:ln cap="flat" cmpd="sng" w="9525">
            <a:solidFill>
              <a:schemeClr val="dk1"/>
            </a:solidFill>
            <a:prstDash val="solid"/>
            <a:round/>
            <a:headEnd len="med" w="med" type="none"/>
            <a:tailEnd len="med" w="med" type="stealth"/>
          </a:ln>
        </p:spPr>
      </p:cxnSp>
      <p:cxnSp>
        <p:nvCxnSpPr>
          <p:cNvPr id="774" name="Google Shape;774;p74"/>
          <p:cNvCxnSpPr/>
          <p:nvPr/>
        </p:nvCxnSpPr>
        <p:spPr>
          <a:xfrm flipH="1" rot="10800000">
            <a:off x="5519739" y="3357564"/>
            <a:ext cx="3024187" cy="1584325"/>
          </a:xfrm>
          <a:prstGeom prst="straightConnector1">
            <a:avLst/>
          </a:prstGeom>
          <a:noFill/>
          <a:ln cap="flat" cmpd="sng" w="9525">
            <a:solidFill>
              <a:schemeClr val="dk1"/>
            </a:solidFill>
            <a:prstDash val="solid"/>
            <a:round/>
            <a:headEnd len="med" w="med" type="none"/>
            <a:tailEnd len="med" w="med" type="stealth"/>
          </a:ln>
        </p:spPr>
      </p:cxn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Virtual page numbers</a:t>
            </a:r>
            <a:endParaRPr/>
          </a:p>
        </p:txBody>
      </p:sp>
      <p:sp>
        <p:nvSpPr>
          <p:cNvPr id="780" name="Google Shape;780;p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When a program is compiled its pages are assigned </a:t>
            </a:r>
            <a:r>
              <a:rPr i="1" lang="en-US">
                <a:solidFill>
                  <a:srgbClr val="3399FF"/>
                </a:solidFill>
              </a:rPr>
              <a:t>virtual</a:t>
            </a:r>
            <a:r>
              <a:rPr lang="en-US"/>
              <a:t> page numbers.</a:t>
            </a:r>
            <a:br>
              <a:rPr lang="en-US"/>
            </a:br>
            <a:endParaRPr/>
          </a:p>
          <a:p>
            <a:pPr indent="-228600" lvl="0" marL="228600" rtl="0" algn="l">
              <a:lnSpc>
                <a:spcPct val="90000"/>
              </a:lnSpc>
              <a:spcBef>
                <a:spcPts val="1000"/>
              </a:spcBef>
              <a:spcAft>
                <a:spcPts val="0"/>
              </a:spcAft>
              <a:buClr>
                <a:schemeClr val="dk1"/>
              </a:buClr>
              <a:buSzPts val="2800"/>
              <a:buChar char="•"/>
            </a:pPr>
            <a:r>
              <a:rPr lang="en-US"/>
              <a:t>When the program is run, a table is created that maps the virtual page numbers to physical addresses.</a:t>
            </a:r>
            <a:br>
              <a:rPr lang="en-US"/>
            </a:br>
            <a:endParaRPr/>
          </a:p>
          <a:p>
            <a:pPr indent="-228600" lvl="0" marL="228600" rtl="0" algn="l">
              <a:lnSpc>
                <a:spcPct val="90000"/>
              </a:lnSpc>
              <a:spcBef>
                <a:spcPts val="1000"/>
              </a:spcBef>
              <a:spcAft>
                <a:spcPts val="0"/>
              </a:spcAft>
              <a:buClr>
                <a:schemeClr val="dk1"/>
              </a:buClr>
              <a:buSzPts val="2800"/>
              <a:buChar char="•"/>
            </a:pPr>
            <a:r>
              <a:rPr lang="en-US"/>
              <a:t>A </a:t>
            </a:r>
            <a:r>
              <a:rPr b="1" lang="en-US"/>
              <a:t>page table </a:t>
            </a:r>
            <a:r>
              <a:rPr lang="en-US"/>
              <a:t>is used to translate the virtual address into a physical address.</a:t>
            </a:r>
            <a:endParaRPr/>
          </a:p>
        </p:txBody>
      </p:sp>
      <p:sp>
        <p:nvSpPr>
          <p:cNvPr id="781" name="Google Shape;781;p7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Page table</a:t>
            </a:r>
            <a:endParaRPr/>
          </a:p>
        </p:txBody>
      </p:sp>
      <p:sp>
        <p:nvSpPr>
          <p:cNvPr id="787" name="Google Shape;787;p7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788" name="Google Shape;788;p76"/>
          <p:cNvSpPr/>
          <p:nvPr/>
        </p:nvSpPr>
        <p:spPr>
          <a:xfrm>
            <a:off x="3719513" y="4292601"/>
            <a:ext cx="4572000"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Table 2.2: Virtual Address Divided into Virtual Page Number and Byte Offset</a:t>
            </a:r>
            <a:endParaRPr/>
          </a:p>
        </p:txBody>
      </p:sp>
      <p:pic>
        <p:nvPicPr>
          <p:cNvPr id="789" name="Google Shape;789;p76"/>
          <p:cNvPicPr preferRelativeResize="0"/>
          <p:nvPr/>
        </p:nvPicPr>
        <p:blipFill rotWithShape="1">
          <a:blip r:embed="rId3">
            <a:alphaModFix/>
          </a:blip>
          <a:srcRect b="0" l="0" r="0" t="0"/>
          <a:stretch/>
        </p:blipFill>
        <p:spPr>
          <a:xfrm>
            <a:off x="2495550" y="1773238"/>
            <a:ext cx="7232650" cy="2303462"/>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77"/>
          <p:cNvSpPr txBox="1"/>
          <p:nvPr>
            <p:ph type="title"/>
          </p:nvPr>
        </p:nvSpPr>
        <p:spPr>
          <a:xfrm>
            <a:off x="1829594" y="136525"/>
            <a:ext cx="8532812" cy="13239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Translation-lookaside buffer (TLB)</a:t>
            </a:r>
            <a:endParaRPr/>
          </a:p>
        </p:txBody>
      </p:sp>
      <p:sp>
        <p:nvSpPr>
          <p:cNvPr id="795" name="Google Shape;795;p7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Using a page table has the potential to significantly increase each program’s overall run-time.</a:t>
            </a:r>
            <a:br>
              <a:rPr lang="en-US"/>
            </a:br>
            <a:endParaRPr/>
          </a:p>
          <a:p>
            <a:pPr indent="-228600" lvl="0" marL="228600" rtl="0" algn="l">
              <a:lnSpc>
                <a:spcPct val="90000"/>
              </a:lnSpc>
              <a:spcBef>
                <a:spcPts val="1000"/>
              </a:spcBef>
              <a:spcAft>
                <a:spcPts val="0"/>
              </a:spcAft>
              <a:buClr>
                <a:schemeClr val="dk1"/>
              </a:buClr>
              <a:buSzPts val="2800"/>
              <a:buChar char="•"/>
            </a:pPr>
            <a:r>
              <a:rPr lang="en-US"/>
              <a:t>A special address translation cache in the processor.</a:t>
            </a:r>
            <a:endParaRPr/>
          </a:p>
        </p:txBody>
      </p:sp>
      <p:sp>
        <p:nvSpPr>
          <p:cNvPr id="796" name="Google Shape;796;p7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8"/>
          <p:cNvSpPr txBox="1"/>
          <p:nvPr>
            <p:ph type="title"/>
          </p:nvPr>
        </p:nvSpPr>
        <p:spPr>
          <a:xfrm>
            <a:off x="1955006" y="472396"/>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Translation-lookaside buffer (2)</a:t>
            </a:r>
            <a:endParaRPr/>
          </a:p>
        </p:txBody>
      </p:sp>
      <p:sp>
        <p:nvSpPr>
          <p:cNvPr id="802" name="Google Shape;802;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caches a small number of entries (typically 16–512) from the page table in very fast memory.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Page fault </a:t>
            </a:r>
            <a:r>
              <a:rPr lang="en-US"/>
              <a:t>– attempting to access a valid physical address for a page in the page table but the page is only stored on disk.</a:t>
            </a:r>
            <a:endParaRPr/>
          </a:p>
        </p:txBody>
      </p:sp>
      <p:sp>
        <p:nvSpPr>
          <p:cNvPr id="803" name="Google Shape;803;p7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79"/>
          <p:cNvSpPr txBox="1"/>
          <p:nvPr>
            <p:ph type="title"/>
          </p:nvPr>
        </p:nvSpPr>
        <p:spPr>
          <a:xfrm>
            <a:off x="1946502" y="136525"/>
            <a:ext cx="8532812" cy="13239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Instruction Level Parallelism (ILP)</a:t>
            </a:r>
            <a:endParaRPr/>
          </a:p>
        </p:txBody>
      </p:sp>
      <p:sp>
        <p:nvSpPr>
          <p:cNvPr id="809" name="Google Shape;809;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Attempts to improve processor performance by having multiple processor components or </a:t>
            </a:r>
            <a:r>
              <a:rPr b="1" lang="en-US"/>
              <a:t>functional units </a:t>
            </a:r>
            <a:r>
              <a:rPr lang="en-US"/>
              <a:t>simultaneously executing instructions.</a:t>
            </a:r>
            <a:endParaRPr/>
          </a:p>
        </p:txBody>
      </p:sp>
      <p:sp>
        <p:nvSpPr>
          <p:cNvPr id="810" name="Google Shape;810;p7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80"/>
          <p:cNvSpPr txBox="1"/>
          <p:nvPr>
            <p:ph type="title"/>
          </p:nvPr>
        </p:nvSpPr>
        <p:spPr>
          <a:xfrm>
            <a:off x="1728789" y="501424"/>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Instruction Level Parallelism (2)</a:t>
            </a:r>
            <a:endParaRPr/>
          </a:p>
        </p:txBody>
      </p:sp>
      <p:sp>
        <p:nvSpPr>
          <p:cNvPr id="816" name="Google Shape;816;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Pipelining</a:t>
            </a:r>
            <a:r>
              <a:rPr lang="en-US"/>
              <a:t> - functional units are arranged in stages.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Multiple issue </a:t>
            </a:r>
            <a:r>
              <a:rPr lang="en-US"/>
              <a:t>- multiple instructions can be simultaneously initiated.</a:t>
            </a:r>
            <a:endParaRPr/>
          </a:p>
        </p:txBody>
      </p:sp>
      <p:sp>
        <p:nvSpPr>
          <p:cNvPr id="817" name="Google Shape;817;p8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81"/>
          <p:cNvSpPr txBox="1"/>
          <p:nvPr>
            <p:ph type="title"/>
          </p:nvPr>
        </p:nvSpPr>
        <p:spPr>
          <a:xfrm>
            <a:off x="838200" y="365126"/>
            <a:ext cx="10515600" cy="9032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Pipelining</a:t>
            </a:r>
            <a:endParaRPr/>
          </a:p>
        </p:txBody>
      </p:sp>
      <p:sp>
        <p:nvSpPr>
          <p:cNvPr id="823" name="Google Shape;823;p8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5W39ONER\MC900252749[1].wmf" id="824" name="Google Shape;824;p81"/>
          <p:cNvPicPr preferRelativeResize="0"/>
          <p:nvPr/>
        </p:nvPicPr>
        <p:blipFill rotWithShape="1">
          <a:blip r:embed="rId3">
            <a:alphaModFix/>
          </a:blip>
          <a:srcRect b="0" l="0" r="0" t="0"/>
          <a:stretch/>
        </p:blipFill>
        <p:spPr>
          <a:xfrm>
            <a:off x="2351088" y="1268414"/>
            <a:ext cx="2952750" cy="1819275"/>
          </a:xfrm>
          <a:prstGeom prst="rect">
            <a:avLst/>
          </a:prstGeom>
          <a:noFill/>
          <a:ln>
            <a:noFill/>
          </a:ln>
        </p:spPr>
      </p:pic>
      <p:pic>
        <p:nvPicPr>
          <p:cNvPr descr="C:\Documents and Settings\liszka\Local Settings\Temporary Internet Files\Content.IE5\1G3WK4XC\MC900322807[1].wmf" id="825" name="Google Shape;825;p81"/>
          <p:cNvPicPr preferRelativeResize="0"/>
          <p:nvPr/>
        </p:nvPicPr>
        <p:blipFill rotWithShape="1">
          <a:blip r:embed="rId4">
            <a:alphaModFix/>
          </a:blip>
          <a:srcRect b="0" l="0" r="0" t="0"/>
          <a:stretch/>
        </p:blipFill>
        <p:spPr>
          <a:xfrm>
            <a:off x="7824788" y="2060575"/>
            <a:ext cx="2203450" cy="2012950"/>
          </a:xfrm>
          <a:prstGeom prst="rect">
            <a:avLst/>
          </a:prstGeom>
          <a:noFill/>
          <a:ln>
            <a:noFill/>
          </a:ln>
        </p:spPr>
      </p:pic>
      <p:pic>
        <p:nvPicPr>
          <p:cNvPr descr="C:\Documents and Settings\liszka\Local Settings\Temporary Internet Files\Content.IE5\Q7HGDQRM\MC900322815[1].wmf" id="826" name="Google Shape;826;p81"/>
          <p:cNvPicPr preferRelativeResize="0"/>
          <p:nvPr/>
        </p:nvPicPr>
        <p:blipFill rotWithShape="1">
          <a:blip r:embed="rId5">
            <a:alphaModFix/>
          </a:blip>
          <a:srcRect b="0" l="0" r="0" t="0"/>
          <a:stretch/>
        </p:blipFill>
        <p:spPr>
          <a:xfrm>
            <a:off x="4656139" y="3429000"/>
            <a:ext cx="2638425" cy="2478088"/>
          </a:xfrm>
          <a:prstGeom prst="rect">
            <a:avLst/>
          </a:prstGeom>
          <a:noFill/>
          <a:ln>
            <a:noFill/>
          </a:ln>
        </p:spPr>
      </p:pic>
      <p:pic>
        <p:nvPicPr>
          <p:cNvPr descr="C:\Documents and Settings\liszka\Local Settings\Temporary Internet Files\Content.IE5\1G3WK4XC\MC900439806[1].png" id="827" name="Google Shape;827;p81"/>
          <p:cNvPicPr preferRelativeResize="0"/>
          <p:nvPr/>
        </p:nvPicPr>
        <p:blipFill rotWithShape="1">
          <a:blip r:embed="rId6">
            <a:alphaModFix/>
          </a:blip>
          <a:srcRect b="0" l="0" r="0" t="0"/>
          <a:stretch/>
        </p:blipFill>
        <p:spPr>
          <a:xfrm>
            <a:off x="7319964" y="4005264"/>
            <a:ext cx="1584325" cy="1584325"/>
          </a:xfrm>
          <a:prstGeom prst="rect">
            <a:avLst/>
          </a:prstGeom>
          <a:noFill/>
          <a:ln>
            <a:noFill/>
          </a:ln>
        </p:spPr>
      </p:pic>
      <p:pic>
        <p:nvPicPr>
          <p:cNvPr descr="C:\Documents and Settings\liszka\Local Settings\Temporary Internet Files\Content.IE5\1G3WK4XC\MC900439806[1].png" id="828" name="Google Shape;828;p81"/>
          <p:cNvPicPr preferRelativeResize="0"/>
          <p:nvPr/>
        </p:nvPicPr>
        <p:blipFill rotWithShape="1">
          <a:blip r:embed="rId7">
            <a:alphaModFix/>
          </a:blip>
          <a:srcRect b="0" l="0" r="0" t="0"/>
          <a:stretch/>
        </p:blipFill>
        <p:spPr>
          <a:xfrm>
            <a:off x="2855914" y="3213101"/>
            <a:ext cx="1584325" cy="158432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Pipelining example (1)</a:t>
            </a:r>
            <a:endParaRPr/>
          </a:p>
        </p:txBody>
      </p:sp>
      <p:sp>
        <p:nvSpPr>
          <p:cNvPr id="834" name="Google Shape;834;p8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835" name="Google Shape;835;p82"/>
          <p:cNvPicPr preferRelativeResize="0"/>
          <p:nvPr/>
        </p:nvPicPr>
        <p:blipFill rotWithShape="1">
          <a:blip r:embed="rId3">
            <a:alphaModFix/>
          </a:blip>
          <a:srcRect b="0" l="0" r="0" t="0"/>
          <a:stretch/>
        </p:blipFill>
        <p:spPr>
          <a:xfrm>
            <a:off x="3000375" y="1484314"/>
            <a:ext cx="6408738" cy="2327275"/>
          </a:xfrm>
          <a:prstGeom prst="rect">
            <a:avLst/>
          </a:prstGeom>
          <a:noFill/>
          <a:ln>
            <a:noFill/>
          </a:ln>
        </p:spPr>
      </p:pic>
      <p:sp>
        <p:nvSpPr>
          <p:cNvPr id="836" name="Google Shape;836;p82"/>
          <p:cNvSpPr/>
          <p:nvPr/>
        </p:nvSpPr>
        <p:spPr>
          <a:xfrm>
            <a:off x="3863975" y="4149726"/>
            <a:ext cx="4572000" cy="8302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Arial"/>
                <a:ea typeface="Arial"/>
                <a:cs typeface="Arial"/>
                <a:sym typeface="Arial"/>
              </a:rPr>
              <a:t>Add the floating point numbers 9</a:t>
            </a:r>
            <a:r>
              <a:rPr b="0" i="0" lang="en-US" sz="2400" u="none" cap="none" strike="noStrike">
                <a:solidFill>
                  <a:schemeClr val="dk1"/>
                </a:solidFill>
                <a:latin typeface="Old Standard TT"/>
                <a:ea typeface="Old Standard TT"/>
                <a:cs typeface="Old Standard TT"/>
                <a:sym typeface="Old Standard TT"/>
              </a:rPr>
              <a:t>.</a:t>
            </a:r>
            <a:r>
              <a:rPr b="0" i="0" lang="en-US" sz="2400" u="none" cap="none" strike="noStrike">
                <a:solidFill>
                  <a:schemeClr val="dk1"/>
                </a:solidFill>
                <a:latin typeface="Arial"/>
                <a:ea typeface="Arial"/>
                <a:cs typeface="Arial"/>
                <a:sym typeface="Arial"/>
              </a:rPr>
              <a:t>87×10</a:t>
            </a:r>
            <a:r>
              <a:rPr b="0" baseline="30000" i="0" lang="en-US" sz="2400" u="none" cap="none" strike="noStrike">
                <a:solidFill>
                  <a:schemeClr val="dk1"/>
                </a:solidFill>
                <a:latin typeface="Arial"/>
                <a:ea typeface="Arial"/>
                <a:cs typeface="Arial"/>
                <a:sym typeface="Arial"/>
              </a:rPr>
              <a:t>4 </a:t>
            </a:r>
            <a:r>
              <a:rPr b="0" i="0" lang="en-US" sz="2400" u="none" cap="none" strike="noStrike">
                <a:solidFill>
                  <a:schemeClr val="dk1"/>
                </a:solidFill>
                <a:latin typeface="Arial"/>
                <a:ea typeface="Arial"/>
                <a:cs typeface="Arial"/>
                <a:sym typeface="Arial"/>
              </a:rPr>
              <a:t>and 6</a:t>
            </a:r>
            <a:r>
              <a:rPr b="0" i="0" lang="en-US" sz="2400" u="none" cap="none" strike="noStrike">
                <a:solidFill>
                  <a:schemeClr val="dk1"/>
                </a:solidFill>
                <a:latin typeface="Old Standard TT"/>
                <a:ea typeface="Old Standard TT"/>
                <a:cs typeface="Old Standard TT"/>
                <a:sym typeface="Old Standard TT"/>
              </a:rPr>
              <a:t>.</a:t>
            </a:r>
            <a:r>
              <a:rPr b="0" i="0" lang="en-US" sz="2400" u="none" cap="none" strike="noStrike">
                <a:solidFill>
                  <a:schemeClr val="dk1"/>
                </a:solidFill>
                <a:latin typeface="Arial"/>
                <a:ea typeface="Arial"/>
                <a:cs typeface="Arial"/>
                <a:sym typeface="Arial"/>
              </a:rPr>
              <a:t>54×10</a:t>
            </a:r>
            <a:r>
              <a:rPr b="0" baseline="30000" i="0" lang="en-US" sz="2400" u="none" cap="none" strike="noStrike">
                <a:solidFill>
                  <a:schemeClr val="dk1"/>
                </a:solidFill>
                <a:latin typeface="Arial"/>
                <a:ea typeface="Arial"/>
                <a:cs typeface="Arial"/>
                <a:sym typeface="Arial"/>
              </a:rPr>
              <a:t>3</a:t>
            </a:r>
            <a:endParaRPr b="0" baseline="30000" i="0" sz="24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pic>
        <p:nvPicPr>
          <p:cNvPr id="841" name="Google Shape;841;p83"/>
          <p:cNvPicPr preferRelativeResize="0"/>
          <p:nvPr/>
        </p:nvPicPr>
        <p:blipFill rotWithShape="1">
          <a:blip r:embed="rId3">
            <a:alphaModFix/>
          </a:blip>
          <a:srcRect b="0" l="0" r="0" t="0"/>
          <a:stretch/>
        </p:blipFill>
        <p:spPr>
          <a:xfrm>
            <a:off x="2672216" y="1989138"/>
            <a:ext cx="5346700" cy="1439862"/>
          </a:xfrm>
          <a:prstGeom prst="rect">
            <a:avLst/>
          </a:prstGeom>
          <a:noFill/>
          <a:ln>
            <a:noFill/>
          </a:ln>
        </p:spPr>
      </p:pic>
      <p:sp>
        <p:nvSpPr>
          <p:cNvPr id="842" name="Google Shape;842;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Pipelining example (2)</a:t>
            </a:r>
            <a:endParaRPr/>
          </a:p>
        </p:txBody>
      </p:sp>
      <p:sp>
        <p:nvSpPr>
          <p:cNvPr id="843" name="Google Shape;843;p83"/>
          <p:cNvSpPr txBox="1"/>
          <p:nvPr>
            <p:ph idx="1" type="body"/>
          </p:nvPr>
        </p:nvSpPr>
        <p:spPr>
          <a:xfrm>
            <a:off x="711200" y="4017056"/>
            <a:ext cx="10305143" cy="233929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Assume each operation takes one nanosecond (10</a:t>
            </a:r>
            <a:r>
              <a:rPr baseline="30000" lang="en-US" sz="2800"/>
              <a:t>-9</a:t>
            </a:r>
            <a:r>
              <a:rPr lang="en-US" sz="2800"/>
              <a:t> seconds).</a:t>
            </a:r>
            <a:br>
              <a:rPr lang="en-US" sz="2800"/>
            </a:br>
            <a:endParaRPr sz="2800"/>
          </a:p>
          <a:p>
            <a:pPr indent="-228600" lvl="0" marL="228600" rtl="0" algn="l">
              <a:lnSpc>
                <a:spcPct val="90000"/>
              </a:lnSpc>
              <a:spcBef>
                <a:spcPts val="1000"/>
              </a:spcBef>
              <a:spcAft>
                <a:spcPts val="0"/>
              </a:spcAft>
              <a:buClr>
                <a:schemeClr val="dk1"/>
              </a:buClr>
              <a:buSzPts val="2800"/>
              <a:buChar char="•"/>
            </a:pPr>
            <a:r>
              <a:rPr lang="en-US" sz="2800"/>
              <a:t>This for loop takes about 7000 nanoseconds.</a:t>
            </a:r>
            <a:endParaRPr/>
          </a:p>
        </p:txBody>
      </p:sp>
      <p:sp>
        <p:nvSpPr>
          <p:cNvPr id="844" name="Google Shape;844;p8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Pipelining (3)</a:t>
            </a:r>
            <a:endParaRPr/>
          </a:p>
        </p:txBody>
      </p:sp>
      <p:sp>
        <p:nvSpPr>
          <p:cNvPr id="850" name="Google Shape;850;p8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Divide the floating point adder into 7 separate pieces of hardware or functional units.</a:t>
            </a:r>
            <a:endParaRPr/>
          </a:p>
          <a:p>
            <a:pPr indent="-228600" lvl="0" marL="228600" rtl="0" algn="l">
              <a:lnSpc>
                <a:spcPct val="90000"/>
              </a:lnSpc>
              <a:spcBef>
                <a:spcPts val="1000"/>
              </a:spcBef>
              <a:spcAft>
                <a:spcPts val="0"/>
              </a:spcAft>
              <a:buClr>
                <a:schemeClr val="dk1"/>
              </a:buClr>
              <a:buSzPts val="2800"/>
              <a:buChar char="•"/>
            </a:pPr>
            <a:r>
              <a:rPr lang="en-US"/>
              <a:t>First unit fetches two operands, second unit compares exponents, etc.</a:t>
            </a:r>
            <a:endParaRPr/>
          </a:p>
          <a:p>
            <a:pPr indent="-228600" lvl="0" marL="228600" rtl="0" algn="l">
              <a:lnSpc>
                <a:spcPct val="90000"/>
              </a:lnSpc>
              <a:spcBef>
                <a:spcPts val="1000"/>
              </a:spcBef>
              <a:spcAft>
                <a:spcPts val="0"/>
              </a:spcAft>
              <a:buClr>
                <a:schemeClr val="dk1"/>
              </a:buClr>
              <a:buSzPts val="2800"/>
              <a:buChar char="•"/>
            </a:pPr>
            <a:r>
              <a:rPr lang="en-US"/>
              <a:t>Output of one functional unit is input to the next.</a:t>
            </a:r>
            <a:endParaRPr/>
          </a:p>
        </p:txBody>
      </p:sp>
      <p:sp>
        <p:nvSpPr>
          <p:cNvPr id="851" name="Google Shape;851;p8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85"/>
          <p:cNvSpPr txBox="1"/>
          <p:nvPr>
            <p:ph type="title"/>
          </p:nvPr>
        </p:nvSpPr>
        <p:spPr>
          <a:xfrm>
            <a:off x="838200" y="365126"/>
            <a:ext cx="10515600" cy="769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Pipelining (4)</a:t>
            </a:r>
            <a:endParaRPr/>
          </a:p>
        </p:txBody>
      </p:sp>
      <p:sp>
        <p:nvSpPr>
          <p:cNvPr id="857" name="Google Shape;857;p8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858" name="Google Shape;858;p85"/>
          <p:cNvPicPr preferRelativeResize="0"/>
          <p:nvPr/>
        </p:nvPicPr>
        <p:blipFill rotWithShape="1">
          <a:blip r:embed="rId3">
            <a:alphaModFix/>
          </a:blip>
          <a:srcRect b="0" l="0" r="0" t="0"/>
          <a:stretch/>
        </p:blipFill>
        <p:spPr>
          <a:xfrm>
            <a:off x="3503614" y="1125538"/>
            <a:ext cx="5267325" cy="3752850"/>
          </a:xfrm>
          <a:prstGeom prst="rect">
            <a:avLst/>
          </a:prstGeom>
          <a:noFill/>
          <a:ln>
            <a:noFill/>
          </a:ln>
        </p:spPr>
      </p:pic>
      <p:sp>
        <p:nvSpPr>
          <p:cNvPr id="859" name="Google Shape;859;p85"/>
          <p:cNvSpPr/>
          <p:nvPr/>
        </p:nvSpPr>
        <p:spPr>
          <a:xfrm>
            <a:off x="2855913" y="5013325"/>
            <a:ext cx="6553200" cy="7699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Table 2.3: Pipelined Addition. </a:t>
            </a:r>
            <a:endParaRPr/>
          </a:p>
          <a:p>
            <a:pPr indent="0" lvl="0" marL="0" marR="0" rtl="0" algn="ctr">
              <a:spcBef>
                <a:spcPts val="400"/>
              </a:spcBef>
              <a:spcAft>
                <a:spcPts val="0"/>
              </a:spcAft>
              <a:buNone/>
            </a:pPr>
            <a:r>
              <a:rPr b="0" i="0" lang="en-US" sz="2000" u="none" cap="none" strike="noStrike">
                <a:solidFill>
                  <a:schemeClr val="dk1"/>
                </a:solidFill>
                <a:latin typeface="Arial"/>
                <a:ea typeface="Arial"/>
                <a:cs typeface="Arial"/>
                <a:sym typeface="Arial"/>
              </a:rPr>
              <a:t>Numbers in the table are subscripts of operands/results.</a:t>
            </a:r>
            <a:endParaRPr b="0" i="0" sz="20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pic>
        <p:nvPicPr>
          <p:cNvPr descr="C:\Documents and Settings\liszka\Local Settings\Temporary Internet Files\Content.IE5\1G3WK4XC\MC900093373[1].wmf" id="864" name="Google Shape;864;p86"/>
          <p:cNvPicPr preferRelativeResize="0"/>
          <p:nvPr/>
        </p:nvPicPr>
        <p:blipFill rotWithShape="1">
          <a:blip r:embed="rId3">
            <a:alphaModFix/>
          </a:blip>
          <a:srcRect b="0" l="0" r="0" t="0"/>
          <a:stretch/>
        </p:blipFill>
        <p:spPr>
          <a:xfrm>
            <a:off x="6888164" y="1916113"/>
            <a:ext cx="3360737" cy="4248150"/>
          </a:xfrm>
          <a:prstGeom prst="rect">
            <a:avLst/>
          </a:prstGeom>
          <a:noFill/>
          <a:ln>
            <a:noFill/>
          </a:ln>
        </p:spPr>
      </p:pic>
      <p:sp>
        <p:nvSpPr>
          <p:cNvPr id="865" name="Google Shape;865;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Pipelining (5)</a:t>
            </a:r>
            <a:endParaRPr/>
          </a:p>
        </p:txBody>
      </p:sp>
      <p:sp>
        <p:nvSpPr>
          <p:cNvPr id="866" name="Google Shape;866;p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One floating point addition still takes </a:t>
            </a:r>
            <a:br>
              <a:rPr lang="en-US"/>
            </a:br>
            <a:r>
              <a:rPr lang="en-US"/>
              <a:t>7 nanoseconds.</a:t>
            </a:r>
            <a:br>
              <a:rPr lang="en-US"/>
            </a:br>
            <a:endParaRPr/>
          </a:p>
          <a:p>
            <a:pPr indent="-228600" lvl="0" marL="228600" rtl="0" algn="l">
              <a:lnSpc>
                <a:spcPct val="90000"/>
              </a:lnSpc>
              <a:spcBef>
                <a:spcPts val="1000"/>
              </a:spcBef>
              <a:spcAft>
                <a:spcPts val="0"/>
              </a:spcAft>
              <a:buClr>
                <a:schemeClr val="dk1"/>
              </a:buClr>
              <a:buSzPts val="2800"/>
              <a:buChar char="•"/>
            </a:pPr>
            <a:r>
              <a:rPr lang="en-US"/>
              <a:t>But 1000 floating point additions </a:t>
            </a:r>
            <a:br>
              <a:rPr lang="en-US"/>
            </a:br>
            <a:r>
              <a:rPr lang="en-US"/>
              <a:t>now takes 1006 nanoseconds!</a:t>
            </a:r>
            <a:endParaRPr/>
          </a:p>
        </p:txBody>
      </p:sp>
      <p:sp>
        <p:nvSpPr>
          <p:cNvPr id="867" name="Google Shape;867;p8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87"/>
          <p:cNvSpPr txBox="1"/>
          <p:nvPr>
            <p:ph type="title"/>
          </p:nvPr>
        </p:nvSpPr>
        <p:spPr>
          <a:xfrm>
            <a:off x="2135189" y="1095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Multiple Issue (1)</a:t>
            </a:r>
            <a:endParaRPr/>
          </a:p>
        </p:txBody>
      </p:sp>
      <p:sp>
        <p:nvSpPr>
          <p:cNvPr id="873" name="Google Shape;873;p87"/>
          <p:cNvSpPr txBox="1"/>
          <p:nvPr>
            <p:ph idx="1" type="body"/>
          </p:nvPr>
        </p:nvSpPr>
        <p:spPr>
          <a:xfrm>
            <a:off x="2208214" y="981075"/>
            <a:ext cx="7920037" cy="22304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Multiple issue processors replicate functional units and try to simultaneously execute different instructions in a program.</a:t>
            </a:r>
            <a:endParaRPr/>
          </a:p>
        </p:txBody>
      </p:sp>
      <p:sp>
        <p:nvSpPr>
          <p:cNvPr id="874" name="Google Shape;874;p8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grpSp>
        <p:nvGrpSpPr>
          <p:cNvPr id="875" name="Google Shape;875;p87"/>
          <p:cNvGrpSpPr/>
          <p:nvPr/>
        </p:nvGrpSpPr>
        <p:grpSpPr>
          <a:xfrm>
            <a:off x="2711451" y="4581525"/>
            <a:ext cx="1368425" cy="1263650"/>
            <a:chOff x="1475656" y="4941168"/>
            <a:chExt cx="1368152" cy="1264206"/>
          </a:xfrm>
        </p:grpSpPr>
        <p:pic>
          <p:nvPicPr>
            <p:cNvPr id="876" name="Google Shape;876;p87"/>
            <p:cNvPicPr preferRelativeResize="0"/>
            <p:nvPr/>
          </p:nvPicPr>
          <p:blipFill rotWithShape="1">
            <a:blip r:embed="rId3">
              <a:alphaModFix/>
            </a:blip>
            <a:srcRect b="0" l="0" r="0" t="0"/>
            <a:stretch/>
          </p:blipFill>
          <p:spPr>
            <a:xfrm>
              <a:off x="1547664" y="4941168"/>
              <a:ext cx="1296144" cy="985919"/>
            </a:xfrm>
            <a:prstGeom prst="rect">
              <a:avLst/>
            </a:prstGeom>
            <a:noFill/>
            <a:ln>
              <a:noFill/>
            </a:ln>
          </p:spPr>
        </p:pic>
        <p:sp>
          <p:nvSpPr>
            <p:cNvPr id="877" name="Google Shape;877;p87"/>
            <p:cNvSpPr txBox="1"/>
            <p:nvPr/>
          </p:nvSpPr>
          <p:spPr>
            <a:xfrm>
              <a:off x="1475656" y="5805148"/>
              <a:ext cx="1196736" cy="4002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adder #1</a:t>
              </a:r>
              <a:endParaRPr/>
            </a:p>
          </p:txBody>
        </p:sp>
      </p:grpSp>
      <p:grpSp>
        <p:nvGrpSpPr>
          <p:cNvPr id="878" name="Google Shape;878;p87"/>
          <p:cNvGrpSpPr/>
          <p:nvPr/>
        </p:nvGrpSpPr>
        <p:grpSpPr>
          <a:xfrm>
            <a:off x="8112125" y="4581525"/>
            <a:ext cx="1296988" cy="1263650"/>
            <a:chOff x="5868144" y="4941168"/>
            <a:chExt cx="1296144" cy="1264206"/>
          </a:xfrm>
        </p:grpSpPr>
        <p:pic>
          <p:nvPicPr>
            <p:cNvPr id="879" name="Google Shape;879;p87"/>
            <p:cNvPicPr preferRelativeResize="0"/>
            <p:nvPr/>
          </p:nvPicPr>
          <p:blipFill rotWithShape="1">
            <a:blip r:embed="rId3">
              <a:alphaModFix/>
            </a:blip>
            <a:srcRect b="0" l="0" r="0" t="0"/>
            <a:stretch/>
          </p:blipFill>
          <p:spPr>
            <a:xfrm>
              <a:off x="5868144" y="4941168"/>
              <a:ext cx="1296144" cy="985919"/>
            </a:xfrm>
            <a:prstGeom prst="rect">
              <a:avLst/>
            </a:prstGeom>
            <a:noFill/>
            <a:ln>
              <a:noFill/>
            </a:ln>
          </p:spPr>
        </p:pic>
        <p:sp>
          <p:nvSpPr>
            <p:cNvPr id="880" name="Google Shape;880;p87"/>
            <p:cNvSpPr txBox="1"/>
            <p:nvPr/>
          </p:nvSpPr>
          <p:spPr>
            <a:xfrm>
              <a:off x="5939536" y="5805148"/>
              <a:ext cx="1196196" cy="4002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adder #2</a:t>
              </a:r>
              <a:endParaRPr/>
            </a:p>
          </p:txBody>
        </p:sp>
      </p:grpSp>
      <p:sp>
        <p:nvSpPr>
          <p:cNvPr id="881" name="Google Shape;881;p87"/>
          <p:cNvSpPr/>
          <p:nvPr/>
        </p:nvSpPr>
        <p:spPr>
          <a:xfrm>
            <a:off x="4267200" y="4411663"/>
            <a:ext cx="1201738" cy="1046162"/>
          </a:xfrm>
          <a:custGeom>
            <a:rect b="b" l="l" r="r" t="t"/>
            <a:pathLst>
              <a:path extrusionOk="0" h="1045028" w="1202267">
                <a:moveTo>
                  <a:pt x="1117600" y="0"/>
                </a:moveTo>
                <a:cubicBezTo>
                  <a:pt x="1159933" y="341086"/>
                  <a:pt x="1202267" y="682172"/>
                  <a:pt x="1016000" y="856343"/>
                </a:cubicBezTo>
                <a:cubicBezTo>
                  <a:pt x="829733" y="1030514"/>
                  <a:pt x="414866" y="1037771"/>
                  <a:pt x="0" y="104502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882" name="Google Shape;882;p87"/>
          <p:cNvSpPr/>
          <p:nvPr/>
        </p:nvSpPr>
        <p:spPr>
          <a:xfrm flipH="1">
            <a:off x="6600825" y="4411663"/>
            <a:ext cx="1201738" cy="1046162"/>
          </a:xfrm>
          <a:custGeom>
            <a:rect b="b" l="l" r="r" t="t"/>
            <a:pathLst>
              <a:path extrusionOk="0" h="1045028" w="1202267">
                <a:moveTo>
                  <a:pt x="1117600" y="0"/>
                </a:moveTo>
                <a:cubicBezTo>
                  <a:pt x="1159933" y="341086"/>
                  <a:pt x="1202267" y="682172"/>
                  <a:pt x="1016000" y="856343"/>
                </a:cubicBezTo>
                <a:cubicBezTo>
                  <a:pt x="829733" y="1030514"/>
                  <a:pt x="414866" y="1037771"/>
                  <a:pt x="0" y="1045028"/>
                </a:cubicBez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883" name="Google Shape;883;p87"/>
          <p:cNvSpPr txBox="1"/>
          <p:nvPr/>
        </p:nvSpPr>
        <p:spPr>
          <a:xfrm>
            <a:off x="4367213" y="5013325"/>
            <a:ext cx="5969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00B050"/>
                </a:solidFill>
                <a:latin typeface="Calibri"/>
                <a:ea typeface="Calibri"/>
                <a:cs typeface="Calibri"/>
                <a:sym typeface="Calibri"/>
              </a:rPr>
              <a:t>z[1]</a:t>
            </a:r>
            <a:endParaRPr/>
          </a:p>
        </p:txBody>
      </p:sp>
      <p:sp>
        <p:nvSpPr>
          <p:cNvPr id="884" name="Google Shape;884;p87"/>
          <p:cNvSpPr txBox="1"/>
          <p:nvPr/>
        </p:nvSpPr>
        <p:spPr>
          <a:xfrm>
            <a:off x="4800601" y="4581525"/>
            <a:ext cx="59531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00B050"/>
                </a:solidFill>
                <a:latin typeface="Calibri"/>
                <a:ea typeface="Calibri"/>
                <a:cs typeface="Calibri"/>
                <a:sym typeface="Calibri"/>
              </a:rPr>
              <a:t>z[3]</a:t>
            </a:r>
            <a:endParaRPr/>
          </a:p>
        </p:txBody>
      </p:sp>
      <p:sp>
        <p:nvSpPr>
          <p:cNvPr id="885" name="Google Shape;885;p87"/>
          <p:cNvSpPr txBox="1"/>
          <p:nvPr/>
        </p:nvSpPr>
        <p:spPr>
          <a:xfrm>
            <a:off x="7248525" y="5013325"/>
            <a:ext cx="5969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00B050"/>
                </a:solidFill>
                <a:latin typeface="Calibri"/>
                <a:ea typeface="Calibri"/>
                <a:cs typeface="Calibri"/>
                <a:sym typeface="Calibri"/>
              </a:rPr>
              <a:t>z[2]</a:t>
            </a:r>
            <a:endParaRPr/>
          </a:p>
        </p:txBody>
      </p:sp>
      <p:sp>
        <p:nvSpPr>
          <p:cNvPr id="886" name="Google Shape;886;p87"/>
          <p:cNvSpPr txBox="1"/>
          <p:nvPr/>
        </p:nvSpPr>
        <p:spPr>
          <a:xfrm>
            <a:off x="6672263" y="4581525"/>
            <a:ext cx="596900"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00B050"/>
                </a:solidFill>
                <a:latin typeface="Calibri"/>
                <a:ea typeface="Calibri"/>
                <a:cs typeface="Calibri"/>
                <a:sym typeface="Calibri"/>
              </a:rPr>
              <a:t>z[4]</a:t>
            </a:r>
            <a:endParaRPr/>
          </a:p>
        </p:txBody>
      </p:sp>
      <p:sp>
        <p:nvSpPr>
          <p:cNvPr id="887" name="Google Shape;887;p87"/>
          <p:cNvSpPr txBox="1"/>
          <p:nvPr/>
        </p:nvSpPr>
        <p:spPr>
          <a:xfrm>
            <a:off x="4079876" y="3213100"/>
            <a:ext cx="4297363" cy="11763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Bodoni"/>
                <a:ea typeface="Bodoni"/>
                <a:cs typeface="Bodoni"/>
                <a:sym typeface="Bodoni"/>
              </a:rPr>
              <a:t>for (i = 0; i &lt; 1000; i++)</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z[i] = x[i] + y[i];</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Multiple Issue (2)</a:t>
            </a:r>
            <a:endParaRPr/>
          </a:p>
        </p:txBody>
      </p:sp>
      <p:sp>
        <p:nvSpPr>
          <p:cNvPr id="893" name="Google Shape;893;p8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static</a:t>
            </a:r>
            <a:r>
              <a:rPr lang="en-US"/>
              <a:t> multiple issue - functional units are scheduled at compile time.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dynamic</a:t>
            </a:r>
            <a:r>
              <a:rPr lang="en-US"/>
              <a:t> multiple issue – functional units are scheduled at run-time.</a:t>
            </a:r>
            <a:endParaRPr/>
          </a:p>
        </p:txBody>
      </p:sp>
      <p:sp>
        <p:nvSpPr>
          <p:cNvPr id="894" name="Google Shape;894;p8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895" name="Google Shape;895;p88"/>
          <p:cNvSpPr/>
          <p:nvPr/>
        </p:nvSpPr>
        <p:spPr>
          <a:xfrm>
            <a:off x="5951538" y="4652963"/>
            <a:ext cx="29464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Black"/>
                <a:ea typeface="Arial Black"/>
                <a:cs typeface="Arial Black"/>
                <a:sym typeface="Arial Black"/>
              </a:rPr>
              <a:t>superscalar</a:t>
            </a:r>
            <a:endParaRPr/>
          </a:p>
        </p:txBody>
      </p:sp>
      <p:cxnSp>
        <p:nvCxnSpPr>
          <p:cNvPr id="896" name="Google Shape;896;p88"/>
          <p:cNvCxnSpPr/>
          <p:nvPr/>
        </p:nvCxnSpPr>
        <p:spPr>
          <a:xfrm flipH="1" rot="5400000">
            <a:off x="6060282" y="3896520"/>
            <a:ext cx="792163" cy="720725"/>
          </a:xfrm>
          <a:prstGeom prst="straightConnector1">
            <a:avLst/>
          </a:prstGeom>
          <a:noFill/>
          <a:ln cap="flat" cmpd="sng" w="9525">
            <a:solidFill>
              <a:schemeClr val="dk1"/>
            </a:solidFill>
            <a:prstDash val="solid"/>
            <a:round/>
            <a:headEnd len="med" w="med" type="none"/>
            <a:tailEnd len="med" w="med" type="stealth"/>
          </a:ln>
        </p:spPr>
      </p:cxn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89"/>
          <p:cNvSpPr txBox="1"/>
          <p:nvPr>
            <p:ph type="title"/>
          </p:nvPr>
        </p:nvSpPr>
        <p:spPr>
          <a:xfrm>
            <a:off x="2135189" y="1095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Speculation (1) </a:t>
            </a:r>
            <a:endParaRPr/>
          </a:p>
        </p:txBody>
      </p:sp>
      <p:sp>
        <p:nvSpPr>
          <p:cNvPr id="902" name="Google Shape;902;p89"/>
          <p:cNvSpPr txBox="1"/>
          <p:nvPr>
            <p:ph idx="1" type="body"/>
          </p:nvPr>
        </p:nvSpPr>
        <p:spPr>
          <a:xfrm>
            <a:off x="522514" y="1125538"/>
            <a:ext cx="9956575" cy="1943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order to make use of multiple issue, the system must find instructions that can be executed simultaneously.</a:t>
            </a:r>
            <a:endParaRPr/>
          </a:p>
        </p:txBody>
      </p:sp>
      <p:sp>
        <p:nvSpPr>
          <p:cNvPr id="903" name="Google Shape;903;p8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3X5GU20H\MC900078622[1].wmf" id="904" name="Google Shape;904;p89"/>
          <p:cNvPicPr preferRelativeResize="0"/>
          <p:nvPr/>
        </p:nvPicPr>
        <p:blipFill rotWithShape="1">
          <a:blip r:embed="rId3">
            <a:alphaModFix/>
          </a:blip>
          <a:srcRect b="0" l="0" r="0" t="0"/>
          <a:stretch/>
        </p:blipFill>
        <p:spPr>
          <a:xfrm>
            <a:off x="2566988" y="2997201"/>
            <a:ext cx="1130300" cy="2430463"/>
          </a:xfrm>
          <a:prstGeom prst="rect">
            <a:avLst/>
          </a:prstGeom>
          <a:noFill/>
          <a:ln>
            <a:noFill/>
          </a:ln>
        </p:spPr>
      </p:pic>
      <p:sp>
        <p:nvSpPr>
          <p:cNvPr id="905" name="Google Shape;905;p89"/>
          <p:cNvSpPr txBox="1"/>
          <p:nvPr/>
        </p:nvSpPr>
        <p:spPr>
          <a:xfrm>
            <a:off x="3935412" y="2924175"/>
            <a:ext cx="7734073" cy="273685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0033CC"/>
              </a:buClr>
              <a:buSzPts val="1920"/>
              <a:buFont typeface="Noto Sans Symbols"/>
              <a:buChar char="■"/>
            </a:pPr>
            <a:r>
              <a:rPr b="0" i="0" lang="en-US" sz="3200" u="none" cap="none" strike="noStrike">
                <a:solidFill>
                  <a:srgbClr val="003399"/>
                </a:solidFill>
                <a:latin typeface="Calibri"/>
                <a:ea typeface="Calibri"/>
                <a:cs typeface="Calibri"/>
                <a:sym typeface="Calibri"/>
              </a:rPr>
              <a:t>In speculation, the compiler or the processor makes a guess about an instruction, and then executes the instruction on the basis of the guess.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Speculation (2) </a:t>
            </a:r>
            <a:endParaRPr/>
          </a:p>
        </p:txBody>
      </p:sp>
      <p:sp>
        <p:nvSpPr>
          <p:cNvPr id="911" name="Google Shape;911;p9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912" name="Google Shape;912;p90"/>
          <p:cNvSpPr/>
          <p:nvPr/>
        </p:nvSpPr>
        <p:spPr>
          <a:xfrm>
            <a:off x="2495551" y="1341439"/>
            <a:ext cx="2790825" cy="29479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a:ea typeface="Arial"/>
                <a:cs typeface="Arial"/>
                <a:sym typeface="Arial"/>
              </a:rPr>
              <a:t>z = x + y ;</a:t>
            </a:r>
            <a:endParaRPr/>
          </a:p>
          <a:p>
            <a:pPr indent="0" lvl="0" marL="0" marR="0" rtl="0" algn="l">
              <a:spcBef>
                <a:spcPts val="640"/>
              </a:spcBef>
              <a:spcAft>
                <a:spcPts val="0"/>
              </a:spcAft>
              <a:buNone/>
            </a:pPr>
            <a:r>
              <a:rPr b="0" i="0" lang="en-US" sz="3200" u="none" cap="none" strike="noStrike">
                <a:solidFill>
                  <a:schemeClr val="dk1"/>
                </a:solidFill>
                <a:latin typeface="Arial"/>
                <a:ea typeface="Arial"/>
                <a:cs typeface="Arial"/>
                <a:sym typeface="Arial"/>
              </a:rPr>
              <a:t>i f ( z </a:t>
            </a:r>
            <a:r>
              <a:rPr b="0" i="0" lang="en-US" sz="3200" u="none" cap="none" strike="noStrike">
                <a:solidFill>
                  <a:schemeClr val="dk1"/>
                </a:solidFill>
                <a:latin typeface="Old Standard TT"/>
                <a:ea typeface="Old Standard TT"/>
                <a:cs typeface="Old Standard TT"/>
                <a:sym typeface="Old Standard TT"/>
              </a:rPr>
              <a:t>&gt; </a:t>
            </a:r>
            <a:r>
              <a:rPr b="0" i="0" lang="en-US" sz="3200" u="none" cap="none" strike="noStrike">
                <a:solidFill>
                  <a:schemeClr val="dk1"/>
                </a:solidFill>
                <a:latin typeface="Arial"/>
                <a:ea typeface="Arial"/>
                <a:cs typeface="Arial"/>
                <a:sym typeface="Arial"/>
              </a:rPr>
              <a:t>0)</a:t>
            </a:r>
            <a:endParaRPr/>
          </a:p>
          <a:p>
            <a:pPr indent="0" lvl="0" marL="0" marR="0" rtl="0" algn="l">
              <a:spcBef>
                <a:spcPts val="640"/>
              </a:spcBef>
              <a:spcAft>
                <a:spcPts val="0"/>
              </a:spcAft>
              <a:buNone/>
            </a:pPr>
            <a:r>
              <a:rPr b="0" i="0" lang="en-US" sz="3200" u="none" cap="none" strike="noStrike">
                <a:solidFill>
                  <a:schemeClr val="dk1"/>
                </a:solidFill>
                <a:latin typeface="Arial"/>
                <a:ea typeface="Arial"/>
                <a:cs typeface="Arial"/>
                <a:sym typeface="Arial"/>
              </a:rPr>
              <a:t>     </a:t>
            </a:r>
            <a:r>
              <a:rPr b="0" i="0" lang="en-US" sz="3200" u="none" cap="none" strike="noStrike">
                <a:solidFill>
                  <a:srgbClr val="C00000"/>
                </a:solidFill>
                <a:latin typeface="Arial"/>
                <a:ea typeface="Arial"/>
                <a:cs typeface="Arial"/>
                <a:sym typeface="Arial"/>
              </a:rPr>
              <a:t>w = x ;</a:t>
            </a:r>
            <a:endParaRPr/>
          </a:p>
          <a:p>
            <a:pPr indent="0" lvl="0" marL="0" marR="0" rtl="0" algn="l">
              <a:spcBef>
                <a:spcPts val="640"/>
              </a:spcBef>
              <a:spcAft>
                <a:spcPts val="0"/>
              </a:spcAft>
              <a:buNone/>
            </a:pPr>
            <a:r>
              <a:rPr b="0" i="0" lang="en-US" sz="3200" u="none" cap="none" strike="noStrike">
                <a:solidFill>
                  <a:schemeClr val="dk1"/>
                </a:solidFill>
                <a:latin typeface="Arial"/>
                <a:ea typeface="Arial"/>
                <a:cs typeface="Arial"/>
                <a:sym typeface="Arial"/>
              </a:rPr>
              <a:t>e l s e</a:t>
            </a:r>
            <a:endParaRPr/>
          </a:p>
          <a:p>
            <a:pPr indent="0" lvl="0" marL="0" marR="0" rtl="0" algn="l">
              <a:spcBef>
                <a:spcPts val="640"/>
              </a:spcBef>
              <a:spcAft>
                <a:spcPts val="0"/>
              </a:spcAft>
              <a:buNone/>
            </a:pPr>
            <a:r>
              <a:rPr b="0" i="0" lang="en-US" sz="3200" u="none" cap="none" strike="noStrike">
                <a:solidFill>
                  <a:schemeClr val="dk1"/>
                </a:solidFill>
                <a:latin typeface="Arial"/>
                <a:ea typeface="Arial"/>
                <a:cs typeface="Arial"/>
                <a:sym typeface="Arial"/>
              </a:rPr>
              <a:t>     w = y ;</a:t>
            </a:r>
            <a:endParaRPr b="0" i="0" sz="3200" u="none" cap="none" strike="noStrike">
              <a:solidFill>
                <a:schemeClr val="dk1"/>
              </a:solidFill>
              <a:latin typeface="Arial Black"/>
              <a:ea typeface="Arial Black"/>
              <a:cs typeface="Arial Black"/>
              <a:sym typeface="Arial Black"/>
            </a:endParaRPr>
          </a:p>
        </p:txBody>
      </p:sp>
      <p:pic>
        <p:nvPicPr>
          <p:cNvPr descr="C:\Documents and Settings\liszka\Local Settings\Temporary Internet Files\Content.IE5\1G3WK4XC\MC900059557[1].wmf" id="913" name="Google Shape;913;p90"/>
          <p:cNvPicPr preferRelativeResize="0"/>
          <p:nvPr/>
        </p:nvPicPr>
        <p:blipFill rotWithShape="1">
          <a:blip r:embed="rId3">
            <a:alphaModFix/>
          </a:blip>
          <a:srcRect b="0" l="0" r="0" t="0"/>
          <a:stretch/>
        </p:blipFill>
        <p:spPr>
          <a:xfrm>
            <a:off x="5087939" y="3284539"/>
            <a:ext cx="1196975" cy="1787525"/>
          </a:xfrm>
          <a:prstGeom prst="rect">
            <a:avLst/>
          </a:prstGeom>
          <a:noFill/>
          <a:ln>
            <a:noFill/>
          </a:ln>
        </p:spPr>
      </p:pic>
      <p:sp>
        <p:nvSpPr>
          <p:cNvPr id="914" name="Google Shape;914;p90"/>
          <p:cNvSpPr txBox="1"/>
          <p:nvPr/>
        </p:nvSpPr>
        <p:spPr>
          <a:xfrm>
            <a:off x="6096001" y="2133600"/>
            <a:ext cx="1196975" cy="768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Z will be </a:t>
            </a:r>
            <a:endParaRPr/>
          </a:p>
          <a:p>
            <a:pPr indent="0" lvl="0" marL="0" marR="0" rtl="0" algn="l">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positive</a:t>
            </a:r>
            <a:endParaRPr/>
          </a:p>
        </p:txBody>
      </p:sp>
      <p:sp>
        <p:nvSpPr>
          <p:cNvPr id="915" name="Google Shape;915;p90"/>
          <p:cNvSpPr/>
          <p:nvPr/>
        </p:nvSpPr>
        <p:spPr>
          <a:xfrm>
            <a:off x="5808664" y="1989139"/>
            <a:ext cx="1582737" cy="1152525"/>
          </a:xfrm>
          <a:prstGeom prst="cloudCallout">
            <a:avLst>
              <a:gd fmla="val -28162" name="adj1"/>
              <a:gd fmla="val 73838" name="adj2"/>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916" name="Google Shape;916;p90"/>
          <p:cNvSpPr txBox="1"/>
          <p:nvPr/>
        </p:nvSpPr>
        <p:spPr>
          <a:xfrm>
            <a:off x="5808664" y="5300664"/>
            <a:ext cx="4441825" cy="7699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If the system speculates incorrectly,</a:t>
            </a:r>
            <a:endParaRPr/>
          </a:p>
          <a:p>
            <a:pPr indent="0" lvl="0" marL="0" marR="0" rtl="0" algn="l">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it must go back and recalculate w = y.</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Hardware multithreading (1)</a:t>
            </a:r>
            <a:endParaRPr/>
          </a:p>
        </p:txBody>
      </p:sp>
      <p:sp>
        <p:nvSpPr>
          <p:cNvPr id="922" name="Google Shape;922;p9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aren’t always good opportunities for simultaneous execution of different threads.</a:t>
            </a:r>
            <a:endParaRPr/>
          </a:p>
          <a:p>
            <a:pPr indent="-228600" lvl="0" marL="228600" rtl="0" algn="l">
              <a:lnSpc>
                <a:spcPct val="90000"/>
              </a:lnSpc>
              <a:spcBef>
                <a:spcPts val="1000"/>
              </a:spcBef>
              <a:spcAft>
                <a:spcPts val="0"/>
              </a:spcAft>
              <a:buClr>
                <a:schemeClr val="dk1"/>
              </a:buClr>
              <a:buSzPts val="2800"/>
              <a:buChar char="•"/>
            </a:pPr>
            <a:r>
              <a:rPr lang="en-US"/>
              <a:t>Hardware multithreading provides a means for systems to continue doing useful work when the task being currently executed has stalled.</a:t>
            </a:r>
            <a:endParaRPr/>
          </a:p>
          <a:p>
            <a:pPr indent="-228600" lvl="1" marL="685800" rtl="0" algn="l">
              <a:lnSpc>
                <a:spcPct val="90000"/>
              </a:lnSpc>
              <a:spcBef>
                <a:spcPts val="500"/>
              </a:spcBef>
              <a:spcAft>
                <a:spcPts val="0"/>
              </a:spcAft>
              <a:buClr>
                <a:schemeClr val="dk1"/>
              </a:buClr>
              <a:buSzPts val="2400"/>
              <a:buChar char="•"/>
            </a:pPr>
            <a:r>
              <a:rPr lang="en-US"/>
              <a:t>Ex., the current task has to wait for data to be loaded from memory.</a:t>
            </a:r>
            <a:endParaRPr/>
          </a:p>
        </p:txBody>
      </p:sp>
      <p:sp>
        <p:nvSpPr>
          <p:cNvPr id="923" name="Google Shape;923;p9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Hardware multithreading (2)</a:t>
            </a:r>
            <a:endParaRPr/>
          </a:p>
        </p:txBody>
      </p:sp>
      <p:sp>
        <p:nvSpPr>
          <p:cNvPr id="929" name="Google Shape;929;p9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Fine-grained</a:t>
            </a:r>
            <a:r>
              <a:rPr lang="en-US"/>
              <a:t> - the processor switches between threads after each instruction, skipping threads that are stalled.</a:t>
            </a:r>
            <a:br>
              <a:rPr lang="en-US"/>
            </a:br>
            <a:endParaRPr/>
          </a:p>
          <a:p>
            <a:pPr indent="-228600" lvl="1" marL="685800" rtl="0" algn="l">
              <a:lnSpc>
                <a:spcPct val="90000"/>
              </a:lnSpc>
              <a:spcBef>
                <a:spcPts val="500"/>
              </a:spcBef>
              <a:spcAft>
                <a:spcPts val="0"/>
              </a:spcAft>
              <a:buClr>
                <a:schemeClr val="dk1"/>
              </a:buClr>
              <a:buSzPts val="2400"/>
              <a:buChar char="•"/>
            </a:pPr>
            <a:r>
              <a:rPr lang="en-US" u="sng"/>
              <a:t>Pros</a:t>
            </a:r>
            <a:r>
              <a:rPr lang="en-US"/>
              <a:t>: potential to avoid wasted machine time due to stalls.</a:t>
            </a:r>
            <a:endParaRPr/>
          </a:p>
          <a:p>
            <a:pPr indent="-228600" lvl="1" marL="685800" rtl="0" algn="l">
              <a:lnSpc>
                <a:spcPct val="90000"/>
              </a:lnSpc>
              <a:spcBef>
                <a:spcPts val="500"/>
              </a:spcBef>
              <a:spcAft>
                <a:spcPts val="0"/>
              </a:spcAft>
              <a:buClr>
                <a:schemeClr val="dk1"/>
              </a:buClr>
              <a:buSzPts val="2400"/>
              <a:buChar char="•"/>
            </a:pPr>
            <a:r>
              <a:rPr lang="en-US" u="sng"/>
              <a:t>Cons</a:t>
            </a:r>
            <a:r>
              <a:rPr lang="en-US"/>
              <a:t>: a thread that’s ready to execute a long sequence of instructions may have to wait to execute every instruction.</a:t>
            </a:r>
            <a:endParaRPr/>
          </a:p>
        </p:txBody>
      </p:sp>
      <p:sp>
        <p:nvSpPr>
          <p:cNvPr id="930" name="Google Shape;930;p9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Hardware multithreading (3)</a:t>
            </a:r>
            <a:endParaRPr/>
          </a:p>
        </p:txBody>
      </p:sp>
      <p:sp>
        <p:nvSpPr>
          <p:cNvPr id="936" name="Google Shape;936;p9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Coarse-grained</a:t>
            </a:r>
            <a:r>
              <a:rPr lang="en-US"/>
              <a:t> - only switches threads that are stalled waiting for a time-consuming operation to complete.</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u="sng"/>
              <a:t>Pros</a:t>
            </a:r>
            <a:r>
              <a:rPr lang="en-US"/>
              <a:t>: switching threads doesn’t need to be nearly instantaneous.</a:t>
            </a:r>
            <a:endParaRPr/>
          </a:p>
          <a:p>
            <a:pPr indent="-228600" lvl="1" marL="685800" rtl="0" algn="l">
              <a:lnSpc>
                <a:spcPct val="90000"/>
              </a:lnSpc>
              <a:spcBef>
                <a:spcPts val="500"/>
              </a:spcBef>
              <a:spcAft>
                <a:spcPts val="0"/>
              </a:spcAft>
              <a:buClr>
                <a:schemeClr val="dk1"/>
              </a:buClr>
              <a:buSzPts val="2400"/>
              <a:buChar char="•"/>
            </a:pPr>
            <a:r>
              <a:rPr lang="en-US" u="sng"/>
              <a:t>Cons</a:t>
            </a:r>
            <a:r>
              <a:rPr lang="en-US"/>
              <a:t>: the processor can be idled on shorter stalls, and thread switching will also cause delays.</a:t>
            </a:r>
            <a:endParaRPr/>
          </a:p>
        </p:txBody>
      </p:sp>
      <p:sp>
        <p:nvSpPr>
          <p:cNvPr id="937" name="Google Shape;937;p9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Hardware multithreading (3)</a:t>
            </a:r>
            <a:endParaRPr/>
          </a:p>
        </p:txBody>
      </p:sp>
      <p:sp>
        <p:nvSpPr>
          <p:cNvPr id="943" name="Google Shape;943;p9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Simultaneous multithreading </a:t>
            </a:r>
            <a:r>
              <a:rPr lang="en-US"/>
              <a:t>(SMT) - a variation on fine-grained multithreading.</a:t>
            </a:r>
            <a:br>
              <a:rPr lang="en-US"/>
            </a:br>
            <a:endParaRPr/>
          </a:p>
          <a:p>
            <a:pPr indent="-228600" lvl="0" marL="228600" rtl="0" algn="l">
              <a:lnSpc>
                <a:spcPct val="90000"/>
              </a:lnSpc>
              <a:spcBef>
                <a:spcPts val="1000"/>
              </a:spcBef>
              <a:spcAft>
                <a:spcPts val="0"/>
              </a:spcAft>
              <a:buClr>
                <a:schemeClr val="dk1"/>
              </a:buClr>
              <a:buSzPts val="2800"/>
              <a:buChar char="•"/>
            </a:pPr>
            <a:r>
              <a:rPr lang="en-US"/>
              <a:t>Allows multiple threads to make use of the multiple functional units.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944" name="Google Shape;944;p9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95"/>
          <p:cNvSpPr txBox="1"/>
          <p:nvPr>
            <p:ph type="title"/>
          </p:nvPr>
        </p:nvSpPr>
        <p:spPr>
          <a:xfrm>
            <a:off x="2208213" y="4724401"/>
            <a:ext cx="7772400" cy="13620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Parallel hardware</a:t>
            </a:r>
            <a:endParaRPr/>
          </a:p>
        </p:txBody>
      </p:sp>
      <p:sp>
        <p:nvSpPr>
          <p:cNvPr id="950" name="Google Shape;950;p95"/>
          <p:cNvSpPr txBox="1"/>
          <p:nvPr>
            <p:ph idx="1" type="body"/>
          </p:nvPr>
        </p:nvSpPr>
        <p:spPr>
          <a:xfrm>
            <a:off x="2058988" y="4622007"/>
            <a:ext cx="7772400" cy="150018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rPr lang="en-US"/>
              <a:t>A programmer can write code to exploit.</a:t>
            </a:r>
            <a:endParaRPr/>
          </a:p>
        </p:txBody>
      </p:sp>
      <p:sp>
        <p:nvSpPr>
          <p:cNvPr id="951" name="Google Shape;951;p9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Q7HGDQRM\MC900433905[1].png" id="952" name="Google Shape;952;p95"/>
          <p:cNvPicPr preferRelativeResize="0"/>
          <p:nvPr/>
        </p:nvPicPr>
        <p:blipFill rotWithShape="1">
          <a:blip r:embed="rId3">
            <a:alphaModFix/>
          </a:blip>
          <a:srcRect b="0" l="0" r="0" t="0"/>
          <a:stretch/>
        </p:blipFill>
        <p:spPr>
          <a:xfrm>
            <a:off x="8328025" y="1844675"/>
            <a:ext cx="1714500" cy="1714500"/>
          </a:xfrm>
          <a:prstGeom prst="rect">
            <a:avLst/>
          </a:prstGeom>
          <a:noFill/>
          <a:ln>
            <a:noFill/>
          </a:ln>
        </p:spPr>
      </p:pic>
      <p:pic>
        <p:nvPicPr>
          <p:cNvPr descr="C:\Documents and Settings\liszka\Local Settings\Temporary Internet Files\Content.IE5\Q7HGDQRM\MC900433905[1].png" id="953" name="Google Shape;953;p95"/>
          <p:cNvPicPr preferRelativeResize="0"/>
          <p:nvPr/>
        </p:nvPicPr>
        <p:blipFill rotWithShape="1">
          <a:blip r:embed="rId3">
            <a:alphaModFix/>
          </a:blip>
          <a:srcRect b="0" l="0" r="0" t="0"/>
          <a:stretch/>
        </p:blipFill>
        <p:spPr>
          <a:xfrm>
            <a:off x="7391400" y="1052513"/>
            <a:ext cx="1714500" cy="1714500"/>
          </a:xfrm>
          <a:prstGeom prst="rect">
            <a:avLst/>
          </a:prstGeom>
          <a:noFill/>
          <a:ln>
            <a:noFill/>
          </a:ln>
        </p:spPr>
      </p:pic>
      <p:pic>
        <p:nvPicPr>
          <p:cNvPr descr="C:\Documents and Settings\liszka\Local Settings\Temporary Internet Files\Content.IE5\Q7HGDQRM\MC900433905[1].png" id="954" name="Google Shape;954;p95"/>
          <p:cNvPicPr preferRelativeResize="0"/>
          <p:nvPr/>
        </p:nvPicPr>
        <p:blipFill rotWithShape="1">
          <a:blip r:embed="rId3">
            <a:alphaModFix/>
          </a:blip>
          <a:srcRect b="0" l="0" r="0" t="0"/>
          <a:stretch/>
        </p:blipFill>
        <p:spPr>
          <a:xfrm>
            <a:off x="7391400" y="3068638"/>
            <a:ext cx="1714500" cy="1714500"/>
          </a:xfrm>
          <a:prstGeom prst="rect">
            <a:avLst/>
          </a:prstGeom>
          <a:noFill/>
          <a:ln>
            <a:noFill/>
          </a:ln>
        </p:spPr>
      </p:pic>
      <p:pic>
        <p:nvPicPr>
          <p:cNvPr descr="C:\Documents and Settings\liszka\Local Settings\Temporary Internet Files\Content.IE5\Q7HGDQRM\MC900433905[1].png" id="955" name="Google Shape;955;p95"/>
          <p:cNvPicPr preferRelativeResize="0"/>
          <p:nvPr/>
        </p:nvPicPr>
        <p:blipFill rotWithShape="1">
          <a:blip r:embed="rId3">
            <a:alphaModFix/>
          </a:blip>
          <a:srcRect b="0" l="0" r="0" t="0"/>
          <a:stretch/>
        </p:blipFill>
        <p:spPr>
          <a:xfrm>
            <a:off x="5087938" y="549275"/>
            <a:ext cx="1714500" cy="1714500"/>
          </a:xfrm>
          <a:prstGeom prst="rect">
            <a:avLst/>
          </a:prstGeom>
          <a:noFill/>
          <a:ln>
            <a:noFill/>
          </a:ln>
        </p:spPr>
      </p:pic>
      <p:pic>
        <p:nvPicPr>
          <p:cNvPr descr="C:\Documents and Settings\liszka\Local Settings\Temporary Internet Files\Content.IE5\Q7HGDQRM\MC900433905[1].png" id="956" name="Google Shape;956;p95"/>
          <p:cNvPicPr preferRelativeResize="0"/>
          <p:nvPr/>
        </p:nvPicPr>
        <p:blipFill rotWithShape="1">
          <a:blip r:embed="rId3">
            <a:alphaModFix/>
          </a:blip>
          <a:srcRect b="0" l="0" r="0" t="0"/>
          <a:stretch/>
        </p:blipFill>
        <p:spPr>
          <a:xfrm>
            <a:off x="6672263" y="333375"/>
            <a:ext cx="1714500" cy="1714500"/>
          </a:xfrm>
          <a:prstGeom prst="rect">
            <a:avLst/>
          </a:prstGeom>
          <a:noFill/>
          <a:ln>
            <a:noFill/>
          </a:ln>
        </p:spPr>
      </p:pic>
      <p:pic>
        <p:nvPicPr>
          <p:cNvPr descr="C:\Documents and Settings\liszka\Local Settings\Temporary Internet Files\Content.IE5\Q7HGDQRM\MC900433905[1].png" id="957" name="Google Shape;957;p95"/>
          <p:cNvPicPr preferRelativeResize="0"/>
          <p:nvPr/>
        </p:nvPicPr>
        <p:blipFill rotWithShape="1">
          <a:blip r:embed="rId3">
            <a:alphaModFix/>
          </a:blip>
          <a:srcRect b="0" l="0" r="0" t="0"/>
          <a:stretch/>
        </p:blipFill>
        <p:spPr>
          <a:xfrm>
            <a:off x="4151313" y="1484313"/>
            <a:ext cx="1714500" cy="1714500"/>
          </a:xfrm>
          <a:prstGeom prst="rect">
            <a:avLst/>
          </a:prstGeom>
          <a:noFill/>
          <a:ln>
            <a:noFill/>
          </a:ln>
        </p:spPr>
      </p:pic>
      <p:pic>
        <p:nvPicPr>
          <p:cNvPr descr="C:\Documents and Settings\liszka\Local Settings\Temporary Internet Files\Content.IE5\Q7HGDQRM\MC900433905[1].png" id="958" name="Google Shape;958;p95"/>
          <p:cNvPicPr preferRelativeResize="0"/>
          <p:nvPr/>
        </p:nvPicPr>
        <p:blipFill rotWithShape="1">
          <a:blip r:embed="rId3">
            <a:alphaModFix/>
          </a:blip>
          <a:srcRect b="0" l="0" r="0" t="0"/>
          <a:stretch/>
        </p:blipFill>
        <p:spPr>
          <a:xfrm>
            <a:off x="5735638" y="1268413"/>
            <a:ext cx="1714500" cy="1714500"/>
          </a:xfrm>
          <a:prstGeom prst="rect">
            <a:avLst/>
          </a:prstGeom>
          <a:noFill/>
          <a:ln>
            <a:noFill/>
          </a:ln>
        </p:spPr>
      </p:pic>
      <p:pic>
        <p:nvPicPr>
          <p:cNvPr descr="C:\Documents and Settings\liszka\Local Settings\Temporary Internet Files\Content.IE5\Q7HGDQRM\MC900433905[1].png" id="959" name="Google Shape;959;p95"/>
          <p:cNvPicPr preferRelativeResize="0"/>
          <p:nvPr/>
        </p:nvPicPr>
        <p:blipFill rotWithShape="1">
          <a:blip r:embed="rId3">
            <a:alphaModFix/>
          </a:blip>
          <a:srcRect b="0" l="0" r="0" t="0"/>
          <a:stretch/>
        </p:blipFill>
        <p:spPr>
          <a:xfrm>
            <a:off x="6672263" y="2133600"/>
            <a:ext cx="1714500" cy="1714500"/>
          </a:xfrm>
          <a:prstGeom prst="rect">
            <a:avLst/>
          </a:prstGeom>
          <a:noFill/>
          <a:ln>
            <a:noFill/>
          </a:ln>
        </p:spPr>
      </p:pic>
      <p:pic>
        <p:nvPicPr>
          <p:cNvPr descr="C:\Documents and Settings\liszka\Local Settings\Temporary Internet Files\Content.IE5\Q7HGDQRM\MC900433905[1].png" id="960" name="Google Shape;960;p95"/>
          <p:cNvPicPr preferRelativeResize="0"/>
          <p:nvPr/>
        </p:nvPicPr>
        <p:blipFill rotWithShape="1">
          <a:blip r:embed="rId3">
            <a:alphaModFix/>
          </a:blip>
          <a:srcRect b="0" l="0" r="0" t="0"/>
          <a:stretch/>
        </p:blipFill>
        <p:spPr>
          <a:xfrm>
            <a:off x="5016500" y="2276475"/>
            <a:ext cx="1714500" cy="1714500"/>
          </a:xfrm>
          <a:prstGeom prst="rect">
            <a:avLst/>
          </a:prstGeom>
          <a:noFill/>
          <a:ln>
            <a:noFill/>
          </a:ln>
        </p:spPr>
      </p:pic>
      <p:pic>
        <p:nvPicPr>
          <p:cNvPr descr="C:\Documents and Settings\liszka\Local Settings\Temporary Internet Files\Content.IE5\Q7HGDQRM\MC900433905[1].png" id="961" name="Google Shape;961;p95"/>
          <p:cNvPicPr preferRelativeResize="0"/>
          <p:nvPr/>
        </p:nvPicPr>
        <p:blipFill rotWithShape="1">
          <a:blip r:embed="rId3">
            <a:alphaModFix/>
          </a:blip>
          <a:srcRect b="0" l="0" r="0" t="0"/>
          <a:stretch/>
        </p:blipFill>
        <p:spPr>
          <a:xfrm>
            <a:off x="3432175" y="2492375"/>
            <a:ext cx="1714500" cy="17145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Flynn’s Taxonomy</a:t>
            </a:r>
            <a:endParaRPr/>
          </a:p>
        </p:txBody>
      </p:sp>
      <p:sp>
        <p:nvSpPr>
          <p:cNvPr id="967" name="Google Shape;967;p9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grpSp>
        <p:nvGrpSpPr>
          <p:cNvPr id="968" name="Google Shape;968;p96"/>
          <p:cNvGrpSpPr/>
          <p:nvPr/>
        </p:nvGrpSpPr>
        <p:grpSpPr>
          <a:xfrm>
            <a:off x="2699545" y="1835773"/>
            <a:ext cx="7129571" cy="4032250"/>
            <a:chOff x="1331640" y="1124744"/>
            <a:chExt cx="7128900" cy="4032448"/>
          </a:xfrm>
        </p:grpSpPr>
        <p:sp>
          <p:nvSpPr>
            <p:cNvPr id="969" name="Google Shape;969;p96"/>
            <p:cNvSpPr txBox="1"/>
            <p:nvPr/>
          </p:nvSpPr>
          <p:spPr>
            <a:xfrm>
              <a:off x="1734827" y="1485124"/>
              <a:ext cx="2990569" cy="113829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1200"/>
                <a:buFont typeface="Noto Sans Symbols"/>
                <a:buNone/>
              </a:pPr>
              <a:r>
                <a:rPr b="0" i="0" lang="en-US" sz="2000" u="none" cap="none" strike="noStrike">
                  <a:solidFill>
                    <a:srgbClr val="000000"/>
                  </a:solidFill>
                  <a:latin typeface="Arial"/>
                  <a:ea typeface="Arial"/>
                  <a:cs typeface="Arial"/>
                  <a:sym typeface="Arial"/>
                </a:rPr>
                <a:t>SISD</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Single instruction stream</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Single data stream</a:t>
              </a:r>
              <a:endParaRPr/>
            </a:p>
          </p:txBody>
        </p:sp>
        <p:sp>
          <p:nvSpPr>
            <p:cNvPr id="970" name="Google Shape;970;p96"/>
            <p:cNvSpPr txBox="1"/>
            <p:nvPr/>
          </p:nvSpPr>
          <p:spPr>
            <a:xfrm>
              <a:off x="4974610" y="1485124"/>
              <a:ext cx="2992155" cy="113829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1200"/>
                <a:buFont typeface="Noto Sans Symbols"/>
                <a:buNone/>
              </a:pPr>
              <a:r>
                <a:rPr b="0" i="0" lang="en-US" sz="2000" u="none" cap="none" strike="noStrike">
                  <a:solidFill>
                    <a:srgbClr val="000000"/>
                  </a:solidFill>
                  <a:latin typeface="Arial"/>
                  <a:ea typeface="Arial"/>
                  <a:cs typeface="Arial"/>
                  <a:sym typeface="Arial"/>
                </a:rPr>
                <a:t>(SIMD)</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Single instruction stream</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Multiple data stream</a:t>
              </a:r>
              <a:endParaRPr/>
            </a:p>
          </p:txBody>
        </p:sp>
        <p:sp>
          <p:nvSpPr>
            <p:cNvPr id="971" name="Google Shape;971;p96"/>
            <p:cNvSpPr txBox="1"/>
            <p:nvPr/>
          </p:nvSpPr>
          <p:spPr>
            <a:xfrm>
              <a:off x="1649110" y="3285437"/>
              <a:ext cx="3162002" cy="113829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1200"/>
                <a:buFont typeface="Noto Sans Symbols"/>
                <a:buNone/>
              </a:pPr>
              <a:r>
                <a:rPr b="0" i="0" lang="en-US" sz="2000" u="none" cap="none" strike="noStrike">
                  <a:solidFill>
                    <a:srgbClr val="000000"/>
                  </a:solidFill>
                  <a:latin typeface="Arial"/>
                  <a:ea typeface="Arial"/>
                  <a:cs typeface="Arial"/>
                  <a:sym typeface="Arial"/>
                </a:rPr>
                <a:t>MISD</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rgbClr val="000000"/>
                  </a:solidFill>
                  <a:latin typeface="Arial"/>
                  <a:ea typeface="Arial"/>
                  <a:cs typeface="Arial"/>
                  <a:sym typeface="Arial"/>
                </a:rPr>
                <a:t>Multiple </a:t>
              </a:r>
              <a:r>
                <a:rPr b="0" i="0" lang="en-US" sz="2000" u="none" cap="none" strike="noStrike">
                  <a:solidFill>
                    <a:schemeClr val="dk1"/>
                  </a:solidFill>
                  <a:latin typeface="Calibri"/>
                  <a:ea typeface="Calibri"/>
                  <a:cs typeface="Calibri"/>
                  <a:sym typeface="Calibri"/>
                </a:rPr>
                <a:t>instruction stream</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Single data stream</a:t>
              </a:r>
              <a:endParaRPr/>
            </a:p>
          </p:txBody>
        </p:sp>
        <p:sp>
          <p:nvSpPr>
            <p:cNvPr id="972" name="Google Shape;972;p96"/>
            <p:cNvSpPr txBox="1"/>
            <p:nvPr/>
          </p:nvSpPr>
          <p:spPr>
            <a:xfrm>
              <a:off x="4888893" y="3285437"/>
              <a:ext cx="3162002" cy="113829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SzPts val="1200"/>
                <a:buFont typeface="Noto Sans Symbols"/>
                <a:buNone/>
              </a:pPr>
              <a:r>
                <a:rPr b="0" i="0" lang="en-US" sz="2000" u="none" cap="none" strike="noStrike">
                  <a:solidFill>
                    <a:srgbClr val="000000"/>
                  </a:solidFill>
                  <a:latin typeface="Arial"/>
                  <a:ea typeface="Arial"/>
                  <a:cs typeface="Arial"/>
                  <a:sym typeface="Arial"/>
                </a:rPr>
                <a:t>(MIMD)</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rgbClr val="000000"/>
                  </a:solidFill>
                  <a:latin typeface="Arial"/>
                  <a:ea typeface="Arial"/>
                  <a:cs typeface="Arial"/>
                  <a:sym typeface="Arial"/>
                </a:rPr>
                <a:t>Multiple </a:t>
              </a:r>
              <a:r>
                <a:rPr b="0" i="0" lang="en-US" sz="2000" u="none" cap="none" strike="noStrike">
                  <a:solidFill>
                    <a:schemeClr val="dk1"/>
                  </a:solidFill>
                  <a:latin typeface="Calibri"/>
                  <a:ea typeface="Calibri"/>
                  <a:cs typeface="Calibri"/>
                  <a:sym typeface="Calibri"/>
                </a:rPr>
                <a:t>instruction stream</a:t>
              </a:r>
              <a:endParaRPr/>
            </a:p>
            <a:p>
              <a:pPr indent="0" lvl="0" marL="0" marR="0" rtl="0" algn="ctr">
                <a:spcBef>
                  <a:spcPts val="400"/>
                </a:spcBef>
                <a:spcAft>
                  <a:spcPts val="0"/>
                </a:spcAft>
                <a:buClr>
                  <a:schemeClr val="dk1"/>
                </a:buClr>
                <a:buSzPts val="1200"/>
                <a:buFont typeface="Noto Sans Symbols"/>
                <a:buNone/>
              </a:pPr>
              <a:r>
                <a:rPr b="0" i="0" lang="en-US" sz="2000" u="none" cap="none" strike="noStrike">
                  <a:solidFill>
                    <a:schemeClr val="dk1"/>
                  </a:solidFill>
                  <a:latin typeface="Calibri"/>
                  <a:ea typeface="Calibri"/>
                  <a:cs typeface="Calibri"/>
                  <a:sym typeface="Calibri"/>
                </a:rPr>
                <a:t>Multiple data stream</a:t>
              </a:r>
              <a:endParaRPr/>
            </a:p>
          </p:txBody>
        </p:sp>
        <p:sp>
          <p:nvSpPr>
            <p:cNvPr id="973" name="Google Shape;973;p96"/>
            <p:cNvSpPr/>
            <p:nvPr/>
          </p:nvSpPr>
          <p:spPr>
            <a:xfrm>
              <a:off x="1331640" y="1124744"/>
              <a:ext cx="7128792" cy="4032448"/>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cxnSp>
          <p:nvCxnSpPr>
            <p:cNvPr id="974" name="Google Shape;974;p96"/>
            <p:cNvCxnSpPr>
              <a:stCxn id="973" idx="0"/>
              <a:endCxn id="973" idx="2"/>
            </p:cNvCxnSpPr>
            <p:nvPr/>
          </p:nvCxnSpPr>
          <p:spPr>
            <a:xfrm>
              <a:off x="4896036" y="1124744"/>
              <a:ext cx="0" cy="4032300"/>
            </a:xfrm>
            <a:prstGeom prst="straightConnector1">
              <a:avLst/>
            </a:prstGeom>
            <a:noFill/>
            <a:ln cap="flat" cmpd="sng" w="9525">
              <a:solidFill>
                <a:schemeClr val="dk1"/>
              </a:solidFill>
              <a:prstDash val="solid"/>
              <a:round/>
              <a:headEnd len="med" w="med" type="none"/>
              <a:tailEnd len="med" w="med" type="none"/>
            </a:ln>
          </p:spPr>
        </p:cxnSp>
        <p:cxnSp>
          <p:nvCxnSpPr>
            <p:cNvPr id="975" name="Google Shape;975;p96"/>
            <p:cNvCxnSpPr>
              <a:stCxn id="973" idx="1"/>
              <a:endCxn id="973" idx="3"/>
            </p:cNvCxnSpPr>
            <p:nvPr/>
          </p:nvCxnSpPr>
          <p:spPr>
            <a:xfrm>
              <a:off x="1331640" y="3140968"/>
              <a:ext cx="71289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SIMD</a:t>
            </a:r>
            <a:endParaRPr/>
          </a:p>
        </p:txBody>
      </p:sp>
      <p:sp>
        <p:nvSpPr>
          <p:cNvPr id="981" name="Google Shape;981;p9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Parallelism achieved by dividing data among the processors.</a:t>
            </a:r>
            <a:br>
              <a:rPr lang="en-US"/>
            </a:br>
            <a:endParaRPr/>
          </a:p>
          <a:p>
            <a:pPr indent="-228600" lvl="0" marL="228600" rtl="0" algn="l">
              <a:lnSpc>
                <a:spcPct val="90000"/>
              </a:lnSpc>
              <a:spcBef>
                <a:spcPts val="1000"/>
              </a:spcBef>
              <a:spcAft>
                <a:spcPts val="0"/>
              </a:spcAft>
              <a:buClr>
                <a:schemeClr val="dk1"/>
              </a:buClr>
              <a:buSzPts val="2800"/>
              <a:buChar char="•"/>
            </a:pPr>
            <a:r>
              <a:rPr lang="en-US"/>
              <a:t>Applies the same instruction to multiple data items.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Called </a:t>
            </a:r>
            <a:r>
              <a:rPr lang="en-US">
                <a:solidFill>
                  <a:srgbClr val="00B050"/>
                </a:solidFill>
              </a:rPr>
              <a:t>data parallelism</a:t>
            </a:r>
            <a:r>
              <a:rPr lang="en-US"/>
              <a: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982" name="Google Shape;982;p9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9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SIMD example</a:t>
            </a:r>
            <a:endParaRPr/>
          </a:p>
        </p:txBody>
      </p:sp>
      <p:sp>
        <p:nvSpPr>
          <p:cNvPr id="988" name="Google Shape;988;p9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989" name="Google Shape;989;p98"/>
          <p:cNvSpPr/>
          <p:nvPr/>
        </p:nvSpPr>
        <p:spPr>
          <a:xfrm>
            <a:off x="4522789" y="1946275"/>
            <a:ext cx="720725" cy="433388"/>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990" name="Google Shape;990;p98"/>
          <p:cNvSpPr/>
          <p:nvPr/>
        </p:nvSpPr>
        <p:spPr>
          <a:xfrm>
            <a:off x="4235451" y="1587500"/>
            <a:ext cx="143827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66FF"/>
                </a:solidFill>
                <a:latin typeface="Arial"/>
                <a:ea typeface="Arial"/>
                <a:cs typeface="Arial"/>
                <a:sym typeface="Arial"/>
              </a:rPr>
              <a:t>control unit</a:t>
            </a:r>
            <a:endParaRPr b="0" i="0" sz="3200" u="none" cap="none" strike="noStrike">
              <a:solidFill>
                <a:srgbClr val="0066FF"/>
              </a:solidFill>
              <a:latin typeface="Arial Black"/>
              <a:ea typeface="Arial Black"/>
              <a:cs typeface="Arial Black"/>
              <a:sym typeface="Arial Black"/>
            </a:endParaRPr>
          </a:p>
        </p:txBody>
      </p:sp>
      <p:sp>
        <p:nvSpPr>
          <p:cNvPr id="991" name="Google Shape;991;p98"/>
          <p:cNvSpPr/>
          <p:nvPr/>
        </p:nvSpPr>
        <p:spPr>
          <a:xfrm>
            <a:off x="2578101" y="2811463"/>
            <a:ext cx="720725" cy="431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992" name="Google Shape;992;p98"/>
          <p:cNvSpPr/>
          <p:nvPr/>
        </p:nvSpPr>
        <p:spPr>
          <a:xfrm>
            <a:off x="3875089" y="2811463"/>
            <a:ext cx="719137" cy="431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993" name="Google Shape;993;p98"/>
          <p:cNvSpPr/>
          <p:nvPr/>
        </p:nvSpPr>
        <p:spPr>
          <a:xfrm>
            <a:off x="6394451" y="2811463"/>
            <a:ext cx="720725" cy="4318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994" name="Google Shape;994;p98"/>
          <p:cNvSpPr/>
          <p:nvPr/>
        </p:nvSpPr>
        <p:spPr>
          <a:xfrm>
            <a:off x="2578101" y="3314700"/>
            <a:ext cx="7794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66FF"/>
                </a:solidFill>
                <a:latin typeface="Arial"/>
                <a:ea typeface="Arial"/>
                <a:cs typeface="Arial"/>
                <a:sym typeface="Arial"/>
              </a:rPr>
              <a:t>ALU</a:t>
            </a:r>
            <a:r>
              <a:rPr b="0" baseline="-25000" i="0" lang="en-US" sz="2000" u="none" cap="none" strike="noStrike">
                <a:solidFill>
                  <a:srgbClr val="0066FF"/>
                </a:solidFill>
                <a:latin typeface="Arial"/>
                <a:ea typeface="Arial"/>
                <a:cs typeface="Arial"/>
                <a:sym typeface="Arial"/>
              </a:rPr>
              <a:t>1</a:t>
            </a:r>
            <a:endParaRPr b="0" baseline="-25000" i="0" sz="3200" u="none" cap="none" strike="noStrike">
              <a:solidFill>
                <a:srgbClr val="0066FF"/>
              </a:solidFill>
              <a:latin typeface="Arial Black"/>
              <a:ea typeface="Arial Black"/>
              <a:cs typeface="Arial Black"/>
              <a:sym typeface="Arial Black"/>
            </a:endParaRPr>
          </a:p>
        </p:txBody>
      </p:sp>
      <p:sp>
        <p:nvSpPr>
          <p:cNvPr id="995" name="Google Shape;995;p98"/>
          <p:cNvSpPr/>
          <p:nvPr/>
        </p:nvSpPr>
        <p:spPr>
          <a:xfrm>
            <a:off x="3875088" y="3314700"/>
            <a:ext cx="7794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66FF"/>
                </a:solidFill>
                <a:latin typeface="Arial"/>
                <a:ea typeface="Arial"/>
                <a:cs typeface="Arial"/>
                <a:sym typeface="Arial"/>
              </a:rPr>
              <a:t>ALU</a:t>
            </a:r>
            <a:r>
              <a:rPr b="0" baseline="-25000" i="0" lang="en-US" sz="2000" u="none" cap="none" strike="noStrike">
                <a:solidFill>
                  <a:srgbClr val="0066FF"/>
                </a:solidFill>
                <a:latin typeface="Arial"/>
                <a:ea typeface="Arial"/>
                <a:cs typeface="Arial"/>
                <a:sym typeface="Arial"/>
              </a:rPr>
              <a:t>2</a:t>
            </a:r>
            <a:endParaRPr b="0" baseline="-25000" i="0" sz="3200" u="none" cap="none" strike="noStrike">
              <a:solidFill>
                <a:srgbClr val="0066FF"/>
              </a:solidFill>
              <a:latin typeface="Arial Black"/>
              <a:ea typeface="Arial Black"/>
              <a:cs typeface="Arial Black"/>
              <a:sym typeface="Arial Black"/>
            </a:endParaRPr>
          </a:p>
        </p:txBody>
      </p:sp>
      <p:sp>
        <p:nvSpPr>
          <p:cNvPr id="996" name="Google Shape;996;p98"/>
          <p:cNvSpPr/>
          <p:nvPr/>
        </p:nvSpPr>
        <p:spPr>
          <a:xfrm>
            <a:off x="6394451" y="3314700"/>
            <a:ext cx="7794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66FF"/>
                </a:solidFill>
                <a:latin typeface="Arial"/>
                <a:ea typeface="Arial"/>
                <a:cs typeface="Arial"/>
                <a:sym typeface="Arial"/>
              </a:rPr>
              <a:t>ALU</a:t>
            </a:r>
            <a:r>
              <a:rPr b="0" baseline="-25000" i="0" lang="en-US" sz="2000" u="none" cap="none" strike="noStrike">
                <a:solidFill>
                  <a:srgbClr val="0066FF"/>
                </a:solidFill>
                <a:latin typeface="Arial"/>
                <a:ea typeface="Arial"/>
                <a:cs typeface="Arial"/>
                <a:sym typeface="Arial"/>
              </a:rPr>
              <a:t>n</a:t>
            </a:r>
            <a:endParaRPr b="0" baseline="-25000" i="0" sz="3200" u="none" cap="none" strike="noStrike">
              <a:solidFill>
                <a:srgbClr val="0066FF"/>
              </a:solidFill>
              <a:latin typeface="Arial Black"/>
              <a:ea typeface="Arial Black"/>
              <a:cs typeface="Arial Black"/>
              <a:sym typeface="Arial Black"/>
            </a:endParaRPr>
          </a:p>
        </p:txBody>
      </p:sp>
      <p:sp>
        <p:nvSpPr>
          <p:cNvPr id="997" name="Google Shape;997;p98"/>
          <p:cNvSpPr/>
          <p:nvPr/>
        </p:nvSpPr>
        <p:spPr>
          <a:xfrm>
            <a:off x="5243513" y="2667001"/>
            <a:ext cx="646112" cy="646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rgbClr val="000000"/>
                </a:solidFill>
                <a:latin typeface="Arial"/>
                <a:ea typeface="Arial"/>
                <a:cs typeface="Arial"/>
                <a:sym typeface="Arial"/>
              </a:rPr>
              <a:t>…</a:t>
            </a:r>
            <a:endParaRPr b="0" i="0" sz="3600" u="none" cap="none" strike="noStrike">
              <a:solidFill>
                <a:schemeClr val="dk1"/>
              </a:solidFill>
              <a:latin typeface="Arial Black"/>
              <a:ea typeface="Arial Black"/>
              <a:cs typeface="Arial Black"/>
              <a:sym typeface="Arial Black"/>
            </a:endParaRPr>
          </a:p>
        </p:txBody>
      </p:sp>
      <p:sp>
        <p:nvSpPr>
          <p:cNvPr id="998" name="Google Shape;998;p98"/>
          <p:cNvSpPr txBox="1"/>
          <p:nvPr/>
        </p:nvSpPr>
        <p:spPr>
          <a:xfrm>
            <a:off x="3011489" y="4035425"/>
            <a:ext cx="3843337" cy="1174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Bodoni"/>
                <a:ea typeface="Bodoni"/>
                <a:cs typeface="Bodoni"/>
                <a:sym typeface="Bodoni"/>
              </a:rPr>
              <a:t>for (i = 0; i &lt; n; i++)</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x[i] += y[i];</a:t>
            </a:r>
            <a:endParaRPr/>
          </a:p>
        </p:txBody>
      </p:sp>
      <p:cxnSp>
        <p:nvCxnSpPr>
          <p:cNvPr id="999" name="Google Shape;999;p98"/>
          <p:cNvCxnSpPr>
            <a:stCxn id="989" idx="1"/>
            <a:endCxn id="991" idx="0"/>
          </p:cNvCxnSpPr>
          <p:nvPr/>
        </p:nvCxnSpPr>
        <p:spPr>
          <a:xfrm flipH="1">
            <a:off x="2938489" y="2162969"/>
            <a:ext cx="1584300" cy="648600"/>
          </a:xfrm>
          <a:prstGeom prst="bentConnector2">
            <a:avLst/>
          </a:prstGeom>
          <a:noFill/>
          <a:ln cap="flat" cmpd="sng" w="9525">
            <a:solidFill>
              <a:schemeClr val="dk1"/>
            </a:solidFill>
            <a:prstDash val="solid"/>
            <a:round/>
            <a:headEnd len="med" w="med" type="none"/>
            <a:tailEnd len="med" w="med" type="stealth"/>
          </a:ln>
        </p:spPr>
      </p:cxnSp>
      <p:cxnSp>
        <p:nvCxnSpPr>
          <p:cNvPr id="1000" name="Google Shape;1000;p98"/>
          <p:cNvCxnSpPr/>
          <p:nvPr/>
        </p:nvCxnSpPr>
        <p:spPr>
          <a:xfrm>
            <a:off x="5243514" y="2163763"/>
            <a:ext cx="1584300" cy="647700"/>
          </a:xfrm>
          <a:prstGeom prst="bentConnector2">
            <a:avLst/>
          </a:prstGeom>
          <a:noFill/>
          <a:ln cap="flat" cmpd="sng" w="9525">
            <a:solidFill>
              <a:schemeClr val="dk1"/>
            </a:solidFill>
            <a:prstDash val="solid"/>
            <a:round/>
            <a:headEnd len="med" w="med" type="none"/>
            <a:tailEnd len="med" w="med" type="stealth"/>
          </a:ln>
        </p:spPr>
      </p:cxnSp>
      <p:cxnSp>
        <p:nvCxnSpPr>
          <p:cNvPr id="1001" name="Google Shape;1001;p98"/>
          <p:cNvCxnSpPr>
            <a:stCxn id="992" idx="0"/>
          </p:cNvCxnSpPr>
          <p:nvPr/>
        </p:nvCxnSpPr>
        <p:spPr>
          <a:xfrm flipH="1" rot="10800000">
            <a:off x="4234658" y="2163763"/>
            <a:ext cx="1500" cy="647700"/>
          </a:xfrm>
          <a:prstGeom prst="straightConnector1">
            <a:avLst/>
          </a:prstGeom>
          <a:noFill/>
          <a:ln cap="flat" cmpd="sng" w="9525">
            <a:solidFill>
              <a:schemeClr val="dk1"/>
            </a:solidFill>
            <a:prstDash val="solid"/>
            <a:round/>
            <a:headEnd len="med" w="med" type="stealth"/>
            <a:tailEnd len="med" w="med" type="none"/>
          </a:ln>
        </p:spPr>
      </p:cxnSp>
      <p:sp>
        <p:nvSpPr>
          <p:cNvPr id="1002" name="Google Shape;1002;p98"/>
          <p:cNvSpPr/>
          <p:nvPr/>
        </p:nvSpPr>
        <p:spPr>
          <a:xfrm>
            <a:off x="2578101" y="2811463"/>
            <a:ext cx="70802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Bodoni"/>
                <a:ea typeface="Bodoni"/>
                <a:cs typeface="Bodoni"/>
                <a:sym typeface="Bodoni"/>
              </a:rPr>
              <a:t>x[1]</a:t>
            </a:r>
            <a:endParaRPr b="0" i="0" sz="2400" u="none" cap="none" strike="noStrike">
              <a:solidFill>
                <a:schemeClr val="dk1"/>
              </a:solidFill>
              <a:latin typeface="Arial Black"/>
              <a:ea typeface="Arial Black"/>
              <a:cs typeface="Arial Black"/>
              <a:sym typeface="Arial Black"/>
            </a:endParaRPr>
          </a:p>
        </p:txBody>
      </p:sp>
      <p:sp>
        <p:nvSpPr>
          <p:cNvPr id="1003" name="Google Shape;1003;p98"/>
          <p:cNvSpPr/>
          <p:nvPr/>
        </p:nvSpPr>
        <p:spPr>
          <a:xfrm>
            <a:off x="3875089" y="2811463"/>
            <a:ext cx="706437"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Bodoni"/>
                <a:ea typeface="Bodoni"/>
                <a:cs typeface="Bodoni"/>
                <a:sym typeface="Bodoni"/>
              </a:rPr>
              <a:t>x[2]</a:t>
            </a:r>
            <a:endParaRPr b="0" i="0" sz="2400" u="none" cap="none" strike="noStrike">
              <a:solidFill>
                <a:schemeClr val="dk1"/>
              </a:solidFill>
              <a:latin typeface="Arial Black"/>
              <a:ea typeface="Arial Black"/>
              <a:cs typeface="Arial Black"/>
              <a:sym typeface="Arial Black"/>
            </a:endParaRPr>
          </a:p>
        </p:txBody>
      </p:sp>
      <p:sp>
        <p:nvSpPr>
          <p:cNvPr id="1004" name="Google Shape;1004;p98"/>
          <p:cNvSpPr/>
          <p:nvPr/>
        </p:nvSpPr>
        <p:spPr>
          <a:xfrm>
            <a:off x="6394450" y="2811463"/>
            <a:ext cx="7239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Bodoni"/>
                <a:ea typeface="Bodoni"/>
                <a:cs typeface="Bodoni"/>
                <a:sym typeface="Bodoni"/>
              </a:rPr>
              <a:t>x[n]</a:t>
            </a:r>
            <a:endParaRPr b="0" i="0" sz="2400" u="none" cap="none" strike="noStrike">
              <a:solidFill>
                <a:schemeClr val="dk1"/>
              </a:solidFill>
              <a:latin typeface="Arial Black"/>
              <a:ea typeface="Arial Black"/>
              <a:cs typeface="Arial Black"/>
              <a:sym typeface="Arial Black"/>
            </a:endParaRPr>
          </a:p>
        </p:txBody>
      </p:sp>
      <p:sp>
        <p:nvSpPr>
          <p:cNvPr id="1005" name="Google Shape;1005;p98"/>
          <p:cNvSpPr/>
          <p:nvPr/>
        </p:nvSpPr>
        <p:spPr>
          <a:xfrm>
            <a:off x="7620001" y="1443039"/>
            <a:ext cx="1577975" cy="7699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B050"/>
                </a:solidFill>
                <a:latin typeface="Arial"/>
                <a:ea typeface="Arial"/>
                <a:cs typeface="Arial"/>
                <a:sym typeface="Arial"/>
              </a:rPr>
              <a:t>n data items</a:t>
            </a:r>
            <a:endParaRPr/>
          </a:p>
          <a:p>
            <a:pPr indent="0" lvl="0" marL="0" marR="0" rtl="0" algn="l">
              <a:spcBef>
                <a:spcPts val="400"/>
              </a:spcBef>
              <a:spcAft>
                <a:spcPts val="0"/>
              </a:spcAft>
              <a:buNone/>
            </a:pPr>
            <a:r>
              <a:rPr b="0" i="0" lang="en-US" sz="2000" u="none" cap="none" strike="noStrike">
                <a:solidFill>
                  <a:srgbClr val="00B050"/>
                </a:solidFill>
                <a:latin typeface="Arial"/>
                <a:ea typeface="Arial"/>
                <a:cs typeface="Arial"/>
                <a:sym typeface="Arial"/>
              </a:rPr>
              <a:t>n ALUs</a:t>
            </a:r>
            <a:endParaRPr b="0" i="0" sz="3200" u="none" cap="none" strike="noStrike">
              <a:solidFill>
                <a:srgbClr val="00B050"/>
              </a:solidFill>
              <a:latin typeface="Arial Black"/>
              <a:ea typeface="Arial Black"/>
              <a:cs typeface="Arial Black"/>
              <a:sym typeface="Arial Black"/>
            </a:endParaRPr>
          </a:p>
        </p:txBody>
      </p:sp>
      <p:sp>
        <p:nvSpPr>
          <p:cNvPr id="1006" name="Google Shape;1006;p98"/>
          <p:cNvSpPr/>
          <p:nvPr/>
        </p:nvSpPr>
        <p:spPr>
          <a:xfrm>
            <a:off x="7172326" y="1881188"/>
            <a:ext cx="474663" cy="1593850"/>
          </a:xfrm>
          <a:custGeom>
            <a:rect b="b" l="l" r="r" t="t"/>
            <a:pathLst>
              <a:path extrusionOk="0" h="1594152" w="474132">
                <a:moveTo>
                  <a:pt x="420914" y="128209"/>
                </a:moveTo>
                <a:cubicBezTo>
                  <a:pt x="280609" y="64104"/>
                  <a:pt x="140304" y="0"/>
                  <a:pt x="145142" y="128209"/>
                </a:cubicBezTo>
                <a:cubicBezTo>
                  <a:pt x="149980" y="256418"/>
                  <a:pt x="474132" y="653142"/>
                  <a:pt x="449942" y="897466"/>
                </a:cubicBezTo>
                <a:cubicBezTo>
                  <a:pt x="425752" y="1141790"/>
                  <a:pt x="212876" y="1367971"/>
                  <a:pt x="0" y="1594152"/>
                </a:cubicBezTo>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1007" name="Google Shape;1007;p98"/>
          <p:cNvSpPr/>
          <p:nvPr/>
        </p:nvSpPr>
        <p:spPr>
          <a:xfrm>
            <a:off x="5735638" y="1484313"/>
            <a:ext cx="3929062" cy="3592512"/>
          </a:xfrm>
          <a:custGeom>
            <a:rect b="b" l="l" r="r" t="t"/>
            <a:pathLst>
              <a:path extrusionOk="0" h="3592285" w="3928534">
                <a:moveTo>
                  <a:pt x="3468915" y="147562"/>
                </a:moveTo>
                <a:cubicBezTo>
                  <a:pt x="3698724" y="73781"/>
                  <a:pt x="3928534" y="0"/>
                  <a:pt x="3889829" y="162076"/>
                </a:cubicBezTo>
                <a:cubicBezTo>
                  <a:pt x="3851124" y="324152"/>
                  <a:pt x="3270553" y="936171"/>
                  <a:pt x="3236686" y="1120019"/>
                </a:cubicBezTo>
                <a:cubicBezTo>
                  <a:pt x="3202819" y="1303867"/>
                  <a:pt x="3812419" y="1057124"/>
                  <a:pt x="3686629" y="1265162"/>
                </a:cubicBezTo>
                <a:cubicBezTo>
                  <a:pt x="3560839" y="1473200"/>
                  <a:pt x="2581124" y="2174723"/>
                  <a:pt x="2481943" y="2368247"/>
                </a:cubicBezTo>
                <a:cubicBezTo>
                  <a:pt x="2382762" y="2561771"/>
                  <a:pt x="3188305" y="2240038"/>
                  <a:pt x="3091543" y="2426305"/>
                </a:cubicBezTo>
                <a:cubicBezTo>
                  <a:pt x="2994781" y="2612572"/>
                  <a:pt x="2416629" y="3379409"/>
                  <a:pt x="1901372" y="3485847"/>
                </a:cubicBezTo>
                <a:cubicBezTo>
                  <a:pt x="1386115" y="3592285"/>
                  <a:pt x="693057" y="3328609"/>
                  <a:pt x="0" y="3064933"/>
                </a:cubicBezTo>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SIMD</a:t>
            </a:r>
            <a:endParaRPr/>
          </a:p>
        </p:txBody>
      </p:sp>
      <p:sp>
        <p:nvSpPr>
          <p:cNvPr id="1013" name="Google Shape;1013;p99"/>
          <p:cNvSpPr txBox="1"/>
          <p:nvPr>
            <p:ph idx="1" type="body"/>
          </p:nvPr>
        </p:nvSpPr>
        <p:spPr>
          <a:xfrm>
            <a:off x="2208214" y="1690688"/>
            <a:ext cx="8270875" cy="20256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if we don’t have as many ALUs as data items? </a:t>
            </a:r>
            <a:endParaRPr/>
          </a:p>
          <a:p>
            <a:pPr indent="-228600" lvl="0" marL="228600" rtl="0" algn="l">
              <a:lnSpc>
                <a:spcPct val="90000"/>
              </a:lnSpc>
              <a:spcBef>
                <a:spcPts val="1000"/>
              </a:spcBef>
              <a:spcAft>
                <a:spcPts val="0"/>
              </a:spcAft>
              <a:buClr>
                <a:schemeClr val="dk1"/>
              </a:buClr>
              <a:buSzPts val="2800"/>
              <a:buChar char="•"/>
            </a:pPr>
            <a:r>
              <a:rPr lang="en-US"/>
              <a:t>Divide the work and process iteratively.</a:t>
            </a:r>
            <a:endParaRPr/>
          </a:p>
          <a:p>
            <a:pPr indent="-228600" lvl="0" marL="228600" rtl="0" algn="l">
              <a:lnSpc>
                <a:spcPct val="90000"/>
              </a:lnSpc>
              <a:spcBef>
                <a:spcPts val="1000"/>
              </a:spcBef>
              <a:spcAft>
                <a:spcPts val="0"/>
              </a:spcAft>
              <a:buClr>
                <a:schemeClr val="dk1"/>
              </a:buClr>
              <a:buSzPts val="2800"/>
              <a:buChar char="•"/>
            </a:pPr>
            <a:r>
              <a:rPr lang="en-US"/>
              <a:t>Ex. m = 4 ALUs   and   n = 15 data items.</a:t>
            </a:r>
            <a:endParaRPr/>
          </a:p>
        </p:txBody>
      </p:sp>
      <p:sp>
        <p:nvSpPr>
          <p:cNvPr id="1014" name="Google Shape;1014;p9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graphicFrame>
        <p:nvGraphicFramePr>
          <p:cNvPr id="1015" name="Google Shape;1015;p99"/>
          <p:cNvGraphicFramePr/>
          <p:nvPr/>
        </p:nvGraphicFramePr>
        <p:xfrm>
          <a:off x="3071813" y="3789363"/>
          <a:ext cx="3000000" cy="3000000"/>
        </p:xfrm>
        <a:graphic>
          <a:graphicData uri="http://schemas.openxmlformats.org/drawingml/2006/table">
            <a:tbl>
              <a:tblPr bandRow="1" firstRow="1">
                <a:noFill/>
                <a:tableStyleId>{B276F773-12A6-4B3B-89D9-77E6CB78BC35}</a:tableStyleId>
              </a:tblPr>
              <a:tblGrid>
                <a:gridCol w="1219200"/>
                <a:gridCol w="1219200"/>
                <a:gridCol w="1219200"/>
                <a:gridCol w="1219200"/>
                <a:gridCol w="1219200"/>
              </a:tblGrid>
              <a:tr h="370850">
                <a:tc>
                  <a:txBody>
                    <a:bodyPr/>
                    <a:lstStyle/>
                    <a:p>
                      <a:pPr indent="0" lvl="0" marL="0" marR="0" rtl="0" algn="l">
                        <a:spcBef>
                          <a:spcPts val="0"/>
                        </a:spcBef>
                        <a:spcAft>
                          <a:spcPts val="0"/>
                        </a:spcAft>
                        <a:buNone/>
                      </a:pPr>
                      <a:r>
                        <a:rPr lang="en-US" sz="1800"/>
                        <a:t>Round3</a:t>
                      </a:r>
                      <a:endParaRPr/>
                    </a:p>
                  </a:txBody>
                  <a:tcPr marT="45725" marB="45725" marR="91450" marL="91450"/>
                </a:tc>
                <a:tc>
                  <a:txBody>
                    <a:bodyPr/>
                    <a:lstStyle/>
                    <a:p>
                      <a:pPr indent="0" lvl="0" marL="0" marR="0" rtl="0" algn="l">
                        <a:spcBef>
                          <a:spcPts val="0"/>
                        </a:spcBef>
                        <a:spcAft>
                          <a:spcPts val="0"/>
                        </a:spcAft>
                        <a:buNone/>
                      </a:pPr>
                      <a:r>
                        <a:rPr lang="en-US" sz="1800"/>
                        <a:t>ALU</a:t>
                      </a:r>
                      <a:r>
                        <a:rPr baseline="-25000" lang="en-US" sz="1800"/>
                        <a:t>1</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ALU</a:t>
                      </a:r>
                      <a:r>
                        <a:rPr baseline="-25000" lang="en-US" sz="1800"/>
                        <a:t>2</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ALU</a:t>
                      </a:r>
                      <a:r>
                        <a:rPr baseline="-25000" lang="en-US" sz="1800"/>
                        <a:t>3</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ALU</a:t>
                      </a:r>
                      <a:r>
                        <a:rPr baseline="-25000" lang="en-US" sz="1800"/>
                        <a:t>4</a:t>
                      </a:r>
                      <a:endParaRPr/>
                    </a:p>
                  </a:txBody>
                  <a:tcPr marT="45725" marB="45725" marR="91450" marL="91450"/>
                </a:tc>
              </a:tr>
              <a:tr h="370850">
                <a:tc>
                  <a:txBody>
                    <a:bodyPr/>
                    <a:lstStyle/>
                    <a:p>
                      <a:pPr indent="0" lvl="0" marL="0" marR="0" rtl="0" algn="l">
                        <a:spcBef>
                          <a:spcPts val="0"/>
                        </a:spcBef>
                        <a:spcAft>
                          <a:spcPts val="0"/>
                        </a:spcAft>
                        <a:buNone/>
                      </a:pPr>
                      <a:r>
                        <a:rPr lang="en-US" sz="1800"/>
                        <a:t>1</a:t>
                      </a:r>
                      <a:endParaRPr/>
                    </a:p>
                  </a:txBody>
                  <a:tcPr marT="45725" marB="45725" marR="91450" marL="91450"/>
                </a:tc>
                <a:tc>
                  <a:txBody>
                    <a:bodyPr/>
                    <a:lstStyle/>
                    <a:p>
                      <a:pPr indent="0" lvl="0" marL="0" marR="0" rtl="0" algn="l">
                        <a:spcBef>
                          <a:spcPts val="0"/>
                        </a:spcBef>
                        <a:spcAft>
                          <a:spcPts val="0"/>
                        </a:spcAft>
                        <a:buNone/>
                      </a:pPr>
                      <a:r>
                        <a:rPr lang="en-US" sz="1800"/>
                        <a:t>X[0]</a:t>
                      </a:r>
                      <a:endParaRPr/>
                    </a:p>
                  </a:txBody>
                  <a:tcPr marT="45725" marB="45725" marR="91450" marL="91450"/>
                </a:tc>
                <a:tc>
                  <a:txBody>
                    <a:bodyPr/>
                    <a:lstStyle/>
                    <a:p>
                      <a:pPr indent="0" lvl="0" marL="0" marR="0" rtl="0" algn="l">
                        <a:spcBef>
                          <a:spcPts val="0"/>
                        </a:spcBef>
                        <a:spcAft>
                          <a:spcPts val="0"/>
                        </a:spcAft>
                        <a:buNone/>
                      </a:pPr>
                      <a:r>
                        <a:rPr lang="en-US" sz="1800"/>
                        <a:t>X[1]</a:t>
                      </a:r>
                      <a:endParaRPr/>
                    </a:p>
                  </a:txBody>
                  <a:tcPr marT="45725" marB="45725" marR="91450" marL="91450"/>
                </a:tc>
                <a:tc>
                  <a:txBody>
                    <a:bodyPr/>
                    <a:lstStyle/>
                    <a:p>
                      <a:pPr indent="0" lvl="0" marL="0" marR="0" rtl="0" algn="l">
                        <a:spcBef>
                          <a:spcPts val="0"/>
                        </a:spcBef>
                        <a:spcAft>
                          <a:spcPts val="0"/>
                        </a:spcAft>
                        <a:buNone/>
                      </a:pPr>
                      <a:r>
                        <a:rPr lang="en-US" sz="1800"/>
                        <a:t>X[2]</a:t>
                      </a:r>
                      <a:endParaRPr/>
                    </a:p>
                  </a:txBody>
                  <a:tcPr marT="45725" marB="45725" marR="91450" marL="91450"/>
                </a:tc>
                <a:tc>
                  <a:txBody>
                    <a:bodyPr/>
                    <a:lstStyle/>
                    <a:p>
                      <a:pPr indent="0" lvl="0" marL="0" marR="0" rtl="0" algn="l">
                        <a:spcBef>
                          <a:spcPts val="0"/>
                        </a:spcBef>
                        <a:spcAft>
                          <a:spcPts val="0"/>
                        </a:spcAft>
                        <a:buNone/>
                      </a:pPr>
                      <a:r>
                        <a:rPr lang="en-US" sz="1800"/>
                        <a:t>X[3]</a:t>
                      </a:r>
                      <a:endParaRPr/>
                    </a:p>
                  </a:txBody>
                  <a:tcPr marT="45725" marB="45725" marR="91450" marL="91450"/>
                </a:tc>
              </a:tr>
              <a:tr h="370850">
                <a:tc>
                  <a:txBody>
                    <a:bodyPr/>
                    <a:lstStyle/>
                    <a:p>
                      <a:pPr indent="0" lvl="0" marL="0" marR="0" rtl="0" algn="l">
                        <a:spcBef>
                          <a:spcPts val="0"/>
                        </a:spcBef>
                        <a:spcAft>
                          <a:spcPts val="0"/>
                        </a:spcAft>
                        <a:buNone/>
                      </a:pPr>
                      <a:r>
                        <a:rPr lang="en-US" sz="1800"/>
                        <a:t>2</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a:t>X[4]</a:t>
                      </a:r>
                      <a:endParaRPr/>
                    </a:p>
                  </a:txBody>
                  <a:tcPr marT="45725" marB="45725" marR="91450" marL="91450"/>
                </a:tc>
                <a:tc>
                  <a:txBody>
                    <a:bodyPr/>
                    <a:lstStyle/>
                    <a:p>
                      <a:pPr indent="0" lvl="0" marL="0" marR="0" rtl="0" algn="l">
                        <a:spcBef>
                          <a:spcPts val="0"/>
                        </a:spcBef>
                        <a:spcAft>
                          <a:spcPts val="0"/>
                        </a:spcAft>
                        <a:buNone/>
                      </a:pPr>
                      <a:r>
                        <a:rPr lang="en-US" sz="1800"/>
                        <a:t>X[5]</a:t>
                      </a:r>
                      <a:endParaRPr/>
                    </a:p>
                  </a:txBody>
                  <a:tcPr marT="45725" marB="45725" marR="91450" marL="91450"/>
                </a:tc>
                <a:tc>
                  <a:txBody>
                    <a:bodyPr/>
                    <a:lstStyle/>
                    <a:p>
                      <a:pPr indent="0" lvl="0" marL="0" marR="0" rtl="0" algn="l">
                        <a:spcBef>
                          <a:spcPts val="0"/>
                        </a:spcBef>
                        <a:spcAft>
                          <a:spcPts val="0"/>
                        </a:spcAft>
                        <a:buNone/>
                      </a:pPr>
                      <a:r>
                        <a:rPr lang="en-US" sz="1800"/>
                        <a:t>X[6]</a:t>
                      </a:r>
                      <a:endParaRPr/>
                    </a:p>
                  </a:txBody>
                  <a:tcPr marT="45725" marB="45725" marR="91450" marL="91450"/>
                </a:tc>
                <a:tc>
                  <a:txBody>
                    <a:bodyPr/>
                    <a:lstStyle/>
                    <a:p>
                      <a:pPr indent="0" lvl="0" marL="0" marR="0" rtl="0" algn="l">
                        <a:spcBef>
                          <a:spcPts val="0"/>
                        </a:spcBef>
                        <a:spcAft>
                          <a:spcPts val="0"/>
                        </a:spcAft>
                        <a:buNone/>
                      </a:pPr>
                      <a:r>
                        <a:rPr lang="en-US" sz="1800"/>
                        <a:t>X[7]</a:t>
                      </a:r>
                      <a:endParaRPr/>
                    </a:p>
                  </a:txBody>
                  <a:tcPr marT="45725" marB="45725" marR="91450" marL="91450"/>
                </a:tc>
              </a:tr>
              <a:tr h="370850">
                <a:tc>
                  <a:txBody>
                    <a:bodyPr/>
                    <a:lstStyle/>
                    <a:p>
                      <a:pPr indent="0" lvl="0" marL="0" marR="0" rtl="0" algn="l">
                        <a:spcBef>
                          <a:spcPts val="0"/>
                        </a:spcBef>
                        <a:spcAft>
                          <a:spcPts val="0"/>
                        </a:spcAft>
                        <a:buNone/>
                      </a:pPr>
                      <a:r>
                        <a:rPr lang="en-US" sz="1800"/>
                        <a:t>3</a:t>
                      </a:r>
                      <a:endParaRPr/>
                    </a:p>
                  </a:txBody>
                  <a:tcPr marT="45725" marB="45725" marR="91450" marL="91450"/>
                </a:tc>
                <a:tc>
                  <a:txBody>
                    <a:bodyPr/>
                    <a:lstStyle/>
                    <a:p>
                      <a:pPr indent="0" lvl="0" marL="0" marR="0" rtl="0" algn="l">
                        <a:spcBef>
                          <a:spcPts val="0"/>
                        </a:spcBef>
                        <a:spcAft>
                          <a:spcPts val="0"/>
                        </a:spcAft>
                        <a:buNone/>
                      </a:pPr>
                      <a:r>
                        <a:rPr lang="en-US" sz="1800"/>
                        <a:t>X[8]</a:t>
                      </a:r>
                      <a:endParaRPr/>
                    </a:p>
                  </a:txBody>
                  <a:tcPr marT="45725" marB="45725" marR="91450" marL="91450"/>
                </a:tc>
                <a:tc>
                  <a:txBody>
                    <a:bodyPr/>
                    <a:lstStyle/>
                    <a:p>
                      <a:pPr indent="0" lvl="0" marL="0" marR="0" rtl="0" algn="l">
                        <a:spcBef>
                          <a:spcPts val="0"/>
                        </a:spcBef>
                        <a:spcAft>
                          <a:spcPts val="0"/>
                        </a:spcAft>
                        <a:buNone/>
                      </a:pPr>
                      <a:r>
                        <a:rPr lang="en-US" sz="1800"/>
                        <a:t>X[9]</a:t>
                      </a:r>
                      <a:endParaRPr/>
                    </a:p>
                  </a:txBody>
                  <a:tcPr marT="45725" marB="45725" marR="91450" marL="91450"/>
                </a:tc>
                <a:tc>
                  <a:txBody>
                    <a:bodyPr/>
                    <a:lstStyle/>
                    <a:p>
                      <a:pPr indent="0" lvl="0" marL="0" marR="0" rtl="0" algn="l">
                        <a:spcBef>
                          <a:spcPts val="0"/>
                        </a:spcBef>
                        <a:spcAft>
                          <a:spcPts val="0"/>
                        </a:spcAft>
                        <a:buNone/>
                      </a:pPr>
                      <a:r>
                        <a:rPr lang="en-US" sz="1800"/>
                        <a:t>X[10]</a:t>
                      </a:r>
                      <a:endParaRPr/>
                    </a:p>
                  </a:txBody>
                  <a:tcPr marT="45725" marB="45725" marR="91450" marL="91450"/>
                </a:tc>
                <a:tc>
                  <a:txBody>
                    <a:bodyPr/>
                    <a:lstStyle/>
                    <a:p>
                      <a:pPr indent="0" lvl="0" marL="0" marR="0" rtl="0" algn="l">
                        <a:spcBef>
                          <a:spcPts val="0"/>
                        </a:spcBef>
                        <a:spcAft>
                          <a:spcPts val="0"/>
                        </a:spcAft>
                        <a:buNone/>
                      </a:pPr>
                      <a:r>
                        <a:rPr lang="en-US" sz="1800"/>
                        <a:t>X[11]</a:t>
                      </a:r>
                      <a:endParaRPr/>
                    </a:p>
                  </a:txBody>
                  <a:tcPr marT="45725" marB="45725" marR="91450" marL="91450"/>
                </a:tc>
              </a:tr>
              <a:tr h="370850">
                <a:tc>
                  <a:txBody>
                    <a:bodyPr/>
                    <a:lstStyle/>
                    <a:p>
                      <a:pPr indent="0" lvl="0" marL="0" marR="0" rtl="0" algn="l">
                        <a:spcBef>
                          <a:spcPts val="0"/>
                        </a:spcBef>
                        <a:spcAft>
                          <a:spcPts val="0"/>
                        </a:spcAft>
                        <a:buNone/>
                      </a:pPr>
                      <a:r>
                        <a:rPr lang="en-US" sz="1800"/>
                        <a:t>4</a:t>
                      </a:r>
                      <a:endParaRPr/>
                    </a:p>
                  </a:txBody>
                  <a:tcPr marT="45725" marB="45725" marR="91450" marL="91450"/>
                </a:tc>
                <a:tc>
                  <a:txBody>
                    <a:bodyPr/>
                    <a:lstStyle/>
                    <a:p>
                      <a:pPr indent="0" lvl="0" marL="0" marR="0" rtl="0" algn="l">
                        <a:spcBef>
                          <a:spcPts val="0"/>
                        </a:spcBef>
                        <a:spcAft>
                          <a:spcPts val="0"/>
                        </a:spcAft>
                        <a:buNone/>
                      </a:pPr>
                      <a:r>
                        <a:rPr lang="en-US" sz="1800"/>
                        <a:t>X[12]</a:t>
                      </a:r>
                      <a:endParaRPr/>
                    </a:p>
                  </a:txBody>
                  <a:tcPr marT="45725" marB="45725" marR="91450" marL="91450"/>
                </a:tc>
                <a:tc>
                  <a:txBody>
                    <a:bodyPr/>
                    <a:lstStyle/>
                    <a:p>
                      <a:pPr indent="0" lvl="0" marL="0" marR="0" rtl="0" algn="l">
                        <a:spcBef>
                          <a:spcPts val="0"/>
                        </a:spcBef>
                        <a:spcAft>
                          <a:spcPts val="0"/>
                        </a:spcAft>
                        <a:buNone/>
                      </a:pPr>
                      <a:r>
                        <a:rPr lang="en-US" sz="1800"/>
                        <a:t>X[13]</a:t>
                      </a:r>
                      <a:endParaRPr/>
                    </a:p>
                  </a:txBody>
                  <a:tcPr marT="45725" marB="45725" marR="91450" marL="91450"/>
                </a:tc>
                <a:tc>
                  <a:txBody>
                    <a:bodyPr/>
                    <a:lstStyle/>
                    <a:p>
                      <a:pPr indent="0" lvl="0" marL="0" marR="0" rtl="0" algn="l">
                        <a:spcBef>
                          <a:spcPts val="0"/>
                        </a:spcBef>
                        <a:spcAft>
                          <a:spcPts val="0"/>
                        </a:spcAft>
                        <a:buNone/>
                      </a:pPr>
                      <a:r>
                        <a:rPr lang="en-US" sz="1800"/>
                        <a:t>X[14]</a:t>
                      </a:r>
                      <a:endParaRPr/>
                    </a:p>
                  </a:txBody>
                  <a:tcPr marT="45725" marB="45725" marR="91450" marL="91450"/>
                </a:tc>
                <a:tc>
                  <a:txBody>
                    <a:bodyPr/>
                    <a:lstStyle/>
                    <a:p>
                      <a:pPr indent="0" lvl="0" marL="0" marR="0" rtl="0" algn="l">
                        <a:spcBef>
                          <a:spcPts val="0"/>
                        </a:spcBef>
                        <a:spcAft>
                          <a:spcPts val="0"/>
                        </a:spcAft>
                        <a:buNone/>
                      </a:pPr>
                      <a:r>
                        <a:t/>
                      </a:r>
                      <a:endParaRPr sz="1800"/>
                    </a:p>
                  </a:txBody>
                  <a:tcPr marT="45725" marB="45725" marR="91450" marL="91450"/>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1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SIMD drawbacks</a:t>
            </a:r>
            <a:endParaRPr/>
          </a:p>
        </p:txBody>
      </p:sp>
      <p:sp>
        <p:nvSpPr>
          <p:cNvPr id="1021" name="Google Shape;1021;p10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All ALUs are required to execute the same instruction, or remain idle.</a:t>
            </a:r>
            <a:endParaRPr/>
          </a:p>
          <a:p>
            <a:pPr indent="-228600" lvl="0" marL="228600" rtl="0" algn="l">
              <a:lnSpc>
                <a:spcPct val="90000"/>
              </a:lnSpc>
              <a:spcBef>
                <a:spcPts val="1000"/>
              </a:spcBef>
              <a:spcAft>
                <a:spcPts val="0"/>
              </a:spcAft>
              <a:buClr>
                <a:schemeClr val="dk1"/>
              </a:buClr>
              <a:buSzPts val="2800"/>
              <a:buChar char="•"/>
            </a:pPr>
            <a:r>
              <a:rPr lang="en-US"/>
              <a:t>In classic design, they must also operate synchronously.</a:t>
            </a:r>
            <a:endParaRPr/>
          </a:p>
          <a:p>
            <a:pPr indent="-228600" lvl="0" marL="228600" rtl="0" algn="l">
              <a:lnSpc>
                <a:spcPct val="90000"/>
              </a:lnSpc>
              <a:spcBef>
                <a:spcPts val="1000"/>
              </a:spcBef>
              <a:spcAft>
                <a:spcPts val="0"/>
              </a:spcAft>
              <a:buClr>
                <a:schemeClr val="dk1"/>
              </a:buClr>
              <a:buSzPts val="2800"/>
              <a:buChar char="•"/>
            </a:pPr>
            <a:r>
              <a:rPr lang="en-US"/>
              <a:t>The ALUs have no instruction storage.</a:t>
            </a:r>
            <a:endParaRPr/>
          </a:p>
          <a:p>
            <a:pPr indent="-228600" lvl="0" marL="228600" rtl="0" algn="l">
              <a:lnSpc>
                <a:spcPct val="90000"/>
              </a:lnSpc>
              <a:spcBef>
                <a:spcPts val="1000"/>
              </a:spcBef>
              <a:spcAft>
                <a:spcPts val="0"/>
              </a:spcAft>
              <a:buClr>
                <a:schemeClr val="dk1"/>
              </a:buClr>
              <a:buSzPts val="2800"/>
              <a:buChar char="•"/>
            </a:pPr>
            <a:r>
              <a:rPr lang="en-US"/>
              <a:t>Efficient for large data parallel problems, but not other types of more complex parallel problems.</a:t>
            </a:r>
            <a:endParaRPr/>
          </a:p>
        </p:txBody>
      </p:sp>
      <p:sp>
        <p:nvSpPr>
          <p:cNvPr id="1022" name="Google Shape;1022;p10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Vector processors (1)</a:t>
            </a:r>
            <a:endParaRPr/>
          </a:p>
        </p:txBody>
      </p:sp>
      <p:sp>
        <p:nvSpPr>
          <p:cNvPr id="1028" name="Google Shape;1028;p10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Operate on arrays or vectors of data while conventional CPU’s operate on individual data elements or scalars.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Vector registers.</a:t>
            </a:r>
            <a:endParaRPr/>
          </a:p>
          <a:p>
            <a:pPr indent="-228600" lvl="1" marL="685800" rtl="0" algn="l">
              <a:lnSpc>
                <a:spcPct val="90000"/>
              </a:lnSpc>
              <a:spcBef>
                <a:spcPts val="500"/>
              </a:spcBef>
              <a:spcAft>
                <a:spcPts val="0"/>
              </a:spcAft>
              <a:buClr>
                <a:schemeClr val="dk1"/>
              </a:buClr>
              <a:buSzPts val="2400"/>
              <a:buChar char="•"/>
            </a:pPr>
            <a:r>
              <a:rPr lang="en-US"/>
              <a:t>Capable of storing a vector of operands and operating simultaneously on their contents.</a:t>
            </a:r>
            <a:endParaRPr/>
          </a:p>
        </p:txBody>
      </p:sp>
      <p:sp>
        <p:nvSpPr>
          <p:cNvPr id="1029" name="Google Shape;1029;p10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0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Vector processors (2)</a:t>
            </a:r>
            <a:endParaRPr/>
          </a:p>
        </p:txBody>
      </p:sp>
      <p:sp>
        <p:nvSpPr>
          <p:cNvPr id="1035" name="Google Shape;1035;p10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Vectorized and pipelined functional units.</a:t>
            </a:r>
            <a:endParaRPr/>
          </a:p>
          <a:p>
            <a:pPr indent="-228600" lvl="1" marL="685800" rtl="0" algn="l">
              <a:lnSpc>
                <a:spcPct val="90000"/>
              </a:lnSpc>
              <a:spcBef>
                <a:spcPts val="500"/>
              </a:spcBef>
              <a:spcAft>
                <a:spcPts val="0"/>
              </a:spcAft>
              <a:buClr>
                <a:schemeClr val="dk1"/>
              </a:buClr>
              <a:buSzPts val="2400"/>
              <a:buChar char="•"/>
            </a:pPr>
            <a:r>
              <a:rPr lang="en-US"/>
              <a:t>The same operation is applied to each element in the vector (or pairs of elements).</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Vector instructions.</a:t>
            </a:r>
            <a:endParaRPr/>
          </a:p>
          <a:p>
            <a:pPr indent="-228600" lvl="1" marL="685800" rtl="0" algn="l">
              <a:lnSpc>
                <a:spcPct val="90000"/>
              </a:lnSpc>
              <a:spcBef>
                <a:spcPts val="500"/>
              </a:spcBef>
              <a:spcAft>
                <a:spcPts val="0"/>
              </a:spcAft>
              <a:buClr>
                <a:schemeClr val="dk1"/>
              </a:buClr>
              <a:buSzPts val="2400"/>
              <a:buChar char="•"/>
            </a:pPr>
            <a:r>
              <a:rPr lang="en-US"/>
              <a:t>Operate on vectors rather than scalars.</a:t>
            </a:r>
            <a:endParaRPr/>
          </a:p>
        </p:txBody>
      </p:sp>
      <p:sp>
        <p:nvSpPr>
          <p:cNvPr id="1036" name="Google Shape;1036;p10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Vector processors (3)</a:t>
            </a:r>
            <a:endParaRPr/>
          </a:p>
        </p:txBody>
      </p:sp>
      <p:sp>
        <p:nvSpPr>
          <p:cNvPr id="1042" name="Google Shape;1042;p10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Interleaved memory.</a:t>
            </a:r>
            <a:endParaRPr/>
          </a:p>
          <a:p>
            <a:pPr indent="-228600" lvl="1" marL="685800" rtl="0" algn="l">
              <a:lnSpc>
                <a:spcPct val="90000"/>
              </a:lnSpc>
              <a:spcBef>
                <a:spcPts val="500"/>
              </a:spcBef>
              <a:spcAft>
                <a:spcPts val="0"/>
              </a:spcAft>
              <a:buClr>
                <a:schemeClr val="dk1"/>
              </a:buClr>
              <a:buSzPts val="2400"/>
              <a:buChar char="•"/>
            </a:pPr>
            <a:r>
              <a:rPr lang="en-US"/>
              <a:t>Multiple “banks” of memory, which can be accessed more or less independently.</a:t>
            </a:r>
            <a:endParaRPr/>
          </a:p>
          <a:p>
            <a:pPr indent="-228600" lvl="1" marL="685800" rtl="0" algn="l">
              <a:lnSpc>
                <a:spcPct val="90000"/>
              </a:lnSpc>
              <a:spcBef>
                <a:spcPts val="500"/>
              </a:spcBef>
              <a:spcAft>
                <a:spcPts val="0"/>
              </a:spcAft>
              <a:buClr>
                <a:schemeClr val="dk1"/>
              </a:buClr>
              <a:buSzPts val="2400"/>
              <a:buChar char="•"/>
            </a:pPr>
            <a:r>
              <a:rPr lang="en-US"/>
              <a:t>Distribute elements of a vector across multiple banks, so reduce or eliminate delay in loading/storing successive elements.</a:t>
            </a:r>
            <a:endParaRPr/>
          </a:p>
          <a:p>
            <a:pPr indent="-228600" lvl="0" marL="228600" rtl="0" algn="l">
              <a:lnSpc>
                <a:spcPct val="90000"/>
              </a:lnSpc>
              <a:spcBef>
                <a:spcPts val="1000"/>
              </a:spcBef>
              <a:spcAft>
                <a:spcPts val="0"/>
              </a:spcAft>
              <a:buClr>
                <a:schemeClr val="dk1"/>
              </a:buClr>
              <a:buSzPts val="2800"/>
              <a:buChar char="•"/>
            </a:pPr>
            <a:r>
              <a:rPr lang="en-US"/>
              <a:t>Strided memory access and hardware scatter/gather.</a:t>
            </a:r>
            <a:endParaRPr/>
          </a:p>
          <a:p>
            <a:pPr indent="-228600" lvl="1" marL="685800" rtl="0" algn="l">
              <a:lnSpc>
                <a:spcPct val="90000"/>
              </a:lnSpc>
              <a:spcBef>
                <a:spcPts val="500"/>
              </a:spcBef>
              <a:spcAft>
                <a:spcPts val="0"/>
              </a:spcAft>
              <a:buClr>
                <a:schemeClr val="dk1"/>
              </a:buClr>
              <a:buSzPts val="2400"/>
              <a:buChar char="•"/>
            </a:pPr>
            <a:r>
              <a:rPr lang="en-US"/>
              <a:t>The program accesses elements of a vector located at fixed intervals.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043" name="Google Shape;1043;p10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10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Vector processors - Pros</a:t>
            </a:r>
            <a:endParaRPr/>
          </a:p>
        </p:txBody>
      </p:sp>
      <p:sp>
        <p:nvSpPr>
          <p:cNvPr id="1049" name="Google Shape;1049;p10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Fast.</a:t>
            </a:r>
            <a:endParaRPr/>
          </a:p>
          <a:p>
            <a:pPr indent="-228600" lvl="0" marL="228600" rtl="0" algn="l">
              <a:lnSpc>
                <a:spcPct val="90000"/>
              </a:lnSpc>
              <a:spcBef>
                <a:spcPts val="1000"/>
              </a:spcBef>
              <a:spcAft>
                <a:spcPts val="0"/>
              </a:spcAft>
              <a:buClr>
                <a:schemeClr val="dk1"/>
              </a:buClr>
              <a:buSzPts val="2800"/>
              <a:buChar char="•"/>
            </a:pPr>
            <a:r>
              <a:rPr lang="en-US"/>
              <a:t>Easy to use.</a:t>
            </a:r>
            <a:endParaRPr/>
          </a:p>
          <a:p>
            <a:pPr indent="-228600" lvl="0" marL="228600" rtl="0" algn="l">
              <a:lnSpc>
                <a:spcPct val="90000"/>
              </a:lnSpc>
              <a:spcBef>
                <a:spcPts val="1000"/>
              </a:spcBef>
              <a:spcAft>
                <a:spcPts val="0"/>
              </a:spcAft>
              <a:buClr>
                <a:schemeClr val="dk1"/>
              </a:buClr>
              <a:buSzPts val="2800"/>
              <a:buChar char="•"/>
            </a:pPr>
            <a:r>
              <a:rPr lang="en-US"/>
              <a:t>Vectorizing compilers are good at identifying code to exploit.</a:t>
            </a:r>
            <a:endParaRPr/>
          </a:p>
          <a:p>
            <a:pPr indent="-228600" lvl="0" marL="228600" rtl="0" algn="l">
              <a:lnSpc>
                <a:spcPct val="90000"/>
              </a:lnSpc>
              <a:spcBef>
                <a:spcPts val="1000"/>
              </a:spcBef>
              <a:spcAft>
                <a:spcPts val="0"/>
              </a:spcAft>
              <a:buClr>
                <a:schemeClr val="dk1"/>
              </a:buClr>
              <a:buSzPts val="2800"/>
              <a:buChar char="•"/>
            </a:pPr>
            <a:r>
              <a:rPr lang="en-US"/>
              <a:t>Compilers also can provide information about code that cannot be vectorized.</a:t>
            </a:r>
            <a:endParaRPr/>
          </a:p>
          <a:p>
            <a:pPr indent="-228600" lvl="1" marL="685800" rtl="0" algn="l">
              <a:lnSpc>
                <a:spcPct val="90000"/>
              </a:lnSpc>
              <a:spcBef>
                <a:spcPts val="500"/>
              </a:spcBef>
              <a:spcAft>
                <a:spcPts val="0"/>
              </a:spcAft>
              <a:buClr>
                <a:schemeClr val="dk1"/>
              </a:buClr>
              <a:buSzPts val="2400"/>
              <a:buChar char="•"/>
            </a:pPr>
            <a:r>
              <a:rPr lang="en-US"/>
              <a:t>Helps the programmer re-evaluate code.</a:t>
            </a:r>
            <a:endParaRPr/>
          </a:p>
          <a:p>
            <a:pPr indent="-228600" lvl="0" marL="228600" rtl="0" algn="l">
              <a:lnSpc>
                <a:spcPct val="90000"/>
              </a:lnSpc>
              <a:spcBef>
                <a:spcPts val="1000"/>
              </a:spcBef>
              <a:spcAft>
                <a:spcPts val="0"/>
              </a:spcAft>
              <a:buClr>
                <a:schemeClr val="dk1"/>
              </a:buClr>
              <a:buSzPts val="2800"/>
              <a:buChar char="•"/>
            </a:pPr>
            <a:r>
              <a:rPr lang="en-US"/>
              <a:t>High memory bandwidth.</a:t>
            </a:r>
            <a:endParaRPr/>
          </a:p>
          <a:p>
            <a:pPr indent="-228600" lvl="0" marL="228600" rtl="0" algn="l">
              <a:lnSpc>
                <a:spcPct val="90000"/>
              </a:lnSpc>
              <a:spcBef>
                <a:spcPts val="1000"/>
              </a:spcBef>
              <a:spcAft>
                <a:spcPts val="0"/>
              </a:spcAft>
              <a:buClr>
                <a:schemeClr val="dk1"/>
              </a:buClr>
              <a:buSzPts val="2800"/>
              <a:buChar char="•"/>
            </a:pPr>
            <a:r>
              <a:rPr lang="en-US"/>
              <a:t>Uses every item in a cache line.</a:t>
            </a:r>
            <a:endParaRPr/>
          </a:p>
        </p:txBody>
      </p:sp>
      <p:sp>
        <p:nvSpPr>
          <p:cNvPr id="1050" name="Google Shape;1050;p10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EGYLQZJJ\MC900423171[1].wmf" id="1051" name="Google Shape;1051;p104"/>
          <p:cNvPicPr preferRelativeResize="0"/>
          <p:nvPr/>
        </p:nvPicPr>
        <p:blipFill rotWithShape="1">
          <a:blip r:embed="rId3">
            <a:alphaModFix/>
          </a:blip>
          <a:srcRect b="0" l="0" r="0" t="0"/>
          <a:stretch/>
        </p:blipFill>
        <p:spPr>
          <a:xfrm>
            <a:off x="8643939" y="981076"/>
            <a:ext cx="1368425" cy="1368425"/>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10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Vector processors - Cons</a:t>
            </a:r>
            <a:endParaRPr/>
          </a:p>
        </p:txBody>
      </p:sp>
      <p:sp>
        <p:nvSpPr>
          <p:cNvPr id="1057" name="Google Shape;1057;p10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They don’t handle irregular </a:t>
            </a:r>
            <a:br>
              <a:rPr lang="en-US"/>
            </a:br>
            <a:r>
              <a:rPr lang="en-US"/>
              <a:t>data structures as well as other </a:t>
            </a:r>
            <a:br>
              <a:rPr lang="en-US"/>
            </a:br>
            <a:r>
              <a:rPr lang="en-US"/>
              <a:t>parallel architectures.</a:t>
            </a:r>
            <a:br>
              <a:rPr lang="en-US"/>
            </a:br>
            <a:endParaRPr/>
          </a:p>
          <a:p>
            <a:pPr indent="-228600" lvl="0" marL="228600" rtl="0" algn="l">
              <a:lnSpc>
                <a:spcPct val="90000"/>
              </a:lnSpc>
              <a:spcBef>
                <a:spcPts val="1000"/>
              </a:spcBef>
              <a:spcAft>
                <a:spcPts val="0"/>
              </a:spcAft>
              <a:buClr>
                <a:schemeClr val="dk1"/>
              </a:buClr>
              <a:buSzPts val="2800"/>
              <a:buChar char="•"/>
            </a:pPr>
            <a:r>
              <a:rPr lang="en-US"/>
              <a:t>A very finite limit to their ability to handle ever larger problems. (</a:t>
            </a:r>
            <a:r>
              <a:rPr lang="en-US">
                <a:solidFill>
                  <a:srgbClr val="0066FF"/>
                </a:solidFill>
              </a:rPr>
              <a:t>scalability</a:t>
            </a:r>
            <a:r>
              <a:rPr lang="en-US"/>
              <a:t>)</a:t>
            </a:r>
            <a:endParaRPr/>
          </a:p>
        </p:txBody>
      </p:sp>
      <p:sp>
        <p:nvSpPr>
          <p:cNvPr id="1058" name="Google Shape;1058;p10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0AVCOKV0\MC900423165[1].wmf" id="1059" name="Google Shape;1059;p105"/>
          <p:cNvPicPr preferRelativeResize="0"/>
          <p:nvPr/>
        </p:nvPicPr>
        <p:blipFill rotWithShape="1">
          <a:blip r:embed="rId3">
            <a:alphaModFix/>
          </a:blip>
          <a:srcRect b="0" l="0" r="0" t="0"/>
          <a:stretch/>
        </p:blipFill>
        <p:spPr>
          <a:xfrm>
            <a:off x="8616950" y="981075"/>
            <a:ext cx="1417638" cy="1417638"/>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Graphics Processing Units (GPU)</a:t>
            </a:r>
            <a:endParaRPr/>
          </a:p>
        </p:txBody>
      </p:sp>
      <p:sp>
        <p:nvSpPr>
          <p:cNvPr id="1065" name="Google Shape;1065;p10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Real time graphics application programming interfaces or API’s use points, lines, and triangles to internally represent the surface of an object.</a:t>
            </a:r>
            <a:endParaRPr/>
          </a:p>
        </p:txBody>
      </p:sp>
      <p:sp>
        <p:nvSpPr>
          <p:cNvPr id="1066" name="Google Shape;1066;p10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067" name="Google Shape;1067;p106"/>
          <p:cNvSpPr/>
          <p:nvPr/>
        </p:nvSpPr>
        <p:spPr>
          <a:xfrm>
            <a:off x="5951538" y="4149725"/>
            <a:ext cx="576262" cy="935038"/>
          </a:xfrm>
          <a:prstGeom prst="triangle">
            <a:avLst>
              <a:gd fmla="val 50000" name="adj"/>
            </a:avLst>
          </a:pr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cxnSp>
        <p:nvCxnSpPr>
          <p:cNvPr id="1068" name="Google Shape;1068;p106"/>
          <p:cNvCxnSpPr/>
          <p:nvPr/>
        </p:nvCxnSpPr>
        <p:spPr>
          <a:xfrm flipH="1" rot="10800000">
            <a:off x="5159375" y="4149725"/>
            <a:ext cx="2160588" cy="719138"/>
          </a:xfrm>
          <a:prstGeom prst="straightConnector1">
            <a:avLst/>
          </a:prstGeom>
          <a:noFill/>
          <a:ln cap="flat" cmpd="sng" w="9525">
            <a:solidFill>
              <a:srgbClr val="00B050"/>
            </a:solidFill>
            <a:prstDash val="solid"/>
            <a:round/>
            <a:headEnd len="med" w="med" type="none"/>
            <a:tailEnd len="med" w="med" type="none"/>
          </a:ln>
        </p:spPr>
      </p:cxnSp>
      <p:sp>
        <p:nvSpPr>
          <p:cNvPr id="1069" name="Google Shape;1069;p106"/>
          <p:cNvSpPr/>
          <p:nvPr/>
        </p:nvSpPr>
        <p:spPr>
          <a:xfrm>
            <a:off x="4367213" y="3860800"/>
            <a:ext cx="1008062" cy="647700"/>
          </a:xfrm>
          <a:prstGeom prst="rect">
            <a:avLst/>
          </a:pr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cxnSp>
        <p:nvCxnSpPr>
          <p:cNvPr id="1070" name="Google Shape;1070;p106"/>
          <p:cNvCxnSpPr/>
          <p:nvPr/>
        </p:nvCxnSpPr>
        <p:spPr>
          <a:xfrm>
            <a:off x="4008439" y="3429000"/>
            <a:ext cx="2663825" cy="2376488"/>
          </a:xfrm>
          <a:prstGeom prst="straightConnector1">
            <a:avLst/>
          </a:prstGeom>
          <a:noFill/>
          <a:ln cap="flat" cmpd="sng" w="9525">
            <a:solidFill>
              <a:srgbClr val="00B050"/>
            </a:solidFill>
            <a:prstDash val="solid"/>
            <a:round/>
            <a:headEnd len="med" w="med" type="none"/>
            <a:tailEnd len="med" w="med" type="none"/>
          </a:ln>
        </p:spPr>
      </p:cxnSp>
      <p:sp>
        <p:nvSpPr>
          <p:cNvPr id="1071" name="Google Shape;1071;p106"/>
          <p:cNvSpPr/>
          <p:nvPr/>
        </p:nvSpPr>
        <p:spPr>
          <a:xfrm>
            <a:off x="6240463" y="3429000"/>
            <a:ext cx="792162" cy="647700"/>
          </a:xfrm>
          <a:prstGeom prst="ellipse">
            <a:avLst/>
          </a:pr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0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GPUs</a:t>
            </a:r>
            <a:endParaRPr/>
          </a:p>
        </p:txBody>
      </p:sp>
      <p:sp>
        <p:nvSpPr>
          <p:cNvPr id="1077" name="Google Shape;1077;p10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graphics processing pipeline converts the internal representation into an array of pixels that can be sent to a computer screen.</a:t>
            </a:r>
            <a:br>
              <a:rPr lang="en-US"/>
            </a:br>
            <a:endParaRPr/>
          </a:p>
          <a:p>
            <a:pPr indent="-228600" lvl="0" marL="228600" rtl="0" algn="l">
              <a:lnSpc>
                <a:spcPct val="90000"/>
              </a:lnSpc>
              <a:spcBef>
                <a:spcPts val="1000"/>
              </a:spcBef>
              <a:spcAft>
                <a:spcPts val="0"/>
              </a:spcAft>
              <a:buClr>
                <a:schemeClr val="dk1"/>
              </a:buClr>
              <a:buSzPts val="2800"/>
              <a:buChar char="•"/>
            </a:pPr>
            <a:r>
              <a:rPr lang="en-US"/>
              <a:t>Several stages of this pipeline </a:t>
            </a:r>
            <a:br>
              <a:rPr lang="en-US"/>
            </a:br>
            <a:r>
              <a:rPr lang="en-US"/>
              <a:t>(called </a:t>
            </a:r>
            <a:r>
              <a:rPr lang="en-US">
                <a:solidFill>
                  <a:srgbClr val="00B050"/>
                </a:solidFill>
              </a:rPr>
              <a:t>shader functions</a:t>
            </a:r>
            <a:r>
              <a:rPr lang="en-US"/>
              <a:t>) are programmable.</a:t>
            </a:r>
            <a:endParaRPr/>
          </a:p>
          <a:p>
            <a:pPr indent="-228600" lvl="1" marL="685800" rtl="0" algn="l">
              <a:lnSpc>
                <a:spcPct val="90000"/>
              </a:lnSpc>
              <a:spcBef>
                <a:spcPts val="500"/>
              </a:spcBef>
              <a:spcAft>
                <a:spcPts val="0"/>
              </a:spcAft>
              <a:buClr>
                <a:schemeClr val="dk1"/>
              </a:buClr>
              <a:buSzPts val="2400"/>
              <a:buChar char="•"/>
            </a:pPr>
            <a:r>
              <a:rPr lang="en-US"/>
              <a:t>Typically just a few lines of C code.</a:t>
            </a:r>
            <a:endParaRPr/>
          </a:p>
        </p:txBody>
      </p:sp>
      <p:sp>
        <p:nvSpPr>
          <p:cNvPr id="1078" name="Google Shape;1078;p10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60RV4HYO\MC900431566[1].png" id="1079" name="Google Shape;1079;p107"/>
          <p:cNvPicPr preferRelativeResize="0"/>
          <p:nvPr/>
        </p:nvPicPr>
        <p:blipFill rotWithShape="1">
          <a:blip r:embed="rId3">
            <a:alphaModFix/>
          </a:blip>
          <a:srcRect b="0" l="0" r="0" t="0"/>
          <a:stretch/>
        </p:blipFill>
        <p:spPr>
          <a:xfrm>
            <a:off x="8328025" y="2708275"/>
            <a:ext cx="1905000" cy="19177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0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GPUs</a:t>
            </a:r>
            <a:endParaRPr/>
          </a:p>
        </p:txBody>
      </p:sp>
      <p:sp>
        <p:nvSpPr>
          <p:cNvPr id="1085" name="Google Shape;1085;p10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Shader functions are also implicitly parallel, since they can be applied to multiple elements in the graphics stream. </a:t>
            </a:r>
            <a:br>
              <a:rPr lang="en-US"/>
            </a:br>
            <a:endParaRPr/>
          </a:p>
          <a:p>
            <a:pPr indent="-228600" lvl="0" marL="228600" rtl="0" algn="l">
              <a:lnSpc>
                <a:spcPct val="90000"/>
              </a:lnSpc>
              <a:spcBef>
                <a:spcPts val="1000"/>
              </a:spcBef>
              <a:spcAft>
                <a:spcPts val="0"/>
              </a:spcAft>
              <a:buClr>
                <a:schemeClr val="dk1"/>
              </a:buClr>
              <a:buSzPts val="2800"/>
              <a:buChar char="•"/>
            </a:pPr>
            <a:r>
              <a:rPr lang="en-US"/>
              <a:t>GPU’s can often optimize performance by using SIMD parallelism. </a:t>
            </a:r>
            <a:endParaRPr/>
          </a:p>
          <a:p>
            <a:pPr indent="-228600" lvl="0" marL="228600" rtl="0" algn="l">
              <a:lnSpc>
                <a:spcPct val="90000"/>
              </a:lnSpc>
              <a:spcBef>
                <a:spcPts val="1000"/>
              </a:spcBef>
              <a:spcAft>
                <a:spcPts val="0"/>
              </a:spcAft>
              <a:buClr>
                <a:schemeClr val="dk1"/>
              </a:buClr>
              <a:buSzPts val="2800"/>
              <a:buChar char="•"/>
            </a:pPr>
            <a:r>
              <a:rPr lang="en-US"/>
              <a:t>The current generation of GPU’s use SIMD parallelism.</a:t>
            </a:r>
            <a:endParaRPr/>
          </a:p>
          <a:p>
            <a:pPr indent="-228600" lvl="1" marL="685800" rtl="0" algn="l">
              <a:lnSpc>
                <a:spcPct val="90000"/>
              </a:lnSpc>
              <a:spcBef>
                <a:spcPts val="500"/>
              </a:spcBef>
              <a:spcAft>
                <a:spcPts val="0"/>
              </a:spcAft>
              <a:buClr>
                <a:schemeClr val="dk1"/>
              </a:buClr>
              <a:buSzPts val="2400"/>
              <a:buChar char="•"/>
            </a:pPr>
            <a:r>
              <a:rPr lang="en-US"/>
              <a:t>Although they are not pure SIMD systems.</a:t>
            </a:r>
            <a:endParaRPr/>
          </a:p>
        </p:txBody>
      </p:sp>
      <p:sp>
        <p:nvSpPr>
          <p:cNvPr id="1086" name="Google Shape;1086;p10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0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MIMD</a:t>
            </a:r>
            <a:endParaRPr/>
          </a:p>
        </p:txBody>
      </p:sp>
      <p:sp>
        <p:nvSpPr>
          <p:cNvPr id="1092" name="Google Shape;1092;p10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Supports multiple simultaneous instruction streams operating on multiple data streams. </a:t>
            </a:r>
            <a:br>
              <a:rPr lang="en-US"/>
            </a:br>
            <a:endParaRPr/>
          </a:p>
          <a:p>
            <a:pPr indent="-228600" lvl="0" marL="228600" rtl="0" algn="l">
              <a:lnSpc>
                <a:spcPct val="90000"/>
              </a:lnSpc>
              <a:spcBef>
                <a:spcPts val="1000"/>
              </a:spcBef>
              <a:spcAft>
                <a:spcPts val="0"/>
              </a:spcAft>
              <a:buClr>
                <a:schemeClr val="dk1"/>
              </a:buClr>
              <a:buSzPts val="2800"/>
              <a:buChar char="•"/>
            </a:pPr>
            <a:r>
              <a:rPr lang="en-US"/>
              <a:t>Typically consist of a collection of fully independent processing units or cores, each of which has its own control unit and its own ALU.</a:t>
            </a:r>
            <a:endParaRPr/>
          </a:p>
        </p:txBody>
      </p:sp>
      <p:sp>
        <p:nvSpPr>
          <p:cNvPr id="1093" name="Google Shape;1093;p10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Shared Memory System (1)</a:t>
            </a:r>
            <a:endParaRPr/>
          </a:p>
        </p:txBody>
      </p:sp>
      <p:sp>
        <p:nvSpPr>
          <p:cNvPr id="1099" name="Google Shape;1099;p1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collection of autonomous processors is connected to a memory system via an interconnection network.</a:t>
            </a:r>
            <a:endParaRPr/>
          </a:p>
          <a:p>
            <a:pPr indent="-228600" lvl="0" marL="228600" rtl="0" algn="l">
              <a:lnSpc>
                <a:spcPct val="90000"/>
              </a:lnSpc>
              <a:spcBef>
                <a:spcPts val="1000"/>
              </a:spcBef>
              <a:spcAft>
                <a:spcPts val="0"/>
              </a:spcAft>
              <a:buClr>
                <a:schemeClr val="dk1"/>
              </a:buClr>
              <a:buSzPts val="2800"/>
              <a:buChar char="•"/>
            </a:pPr>
            <a:r>
              <a:rPr lang="en-US"/>
              <a:t>Each processor can access each memory location. </a:t>
            </a:r>
            <a:endParaRPr/>
          </a:p>
          <a:p>
            <a:pPr indent="-228600" lvl="0" marL="228600" rtl="0" algn="l">
              <a:lnSpc>
                <a:spcPct val="90000"/>
              </a:lnSpc>
              <a:spcBef>
                <a:spcPts val="1000"/>
              </a:spcBef>
              <a:spcAft>
                <a:spcPts val="0"/>
              </a:spcAft>
              <a:buClr>
                <a:schemeClr val="dk1"/>
              </a:buClr>
              <a:buSzPts val="2800"/>
              <a:buChar char="•"/>
            </a:pPr>
            <a:r>
              <a:rPr lang="en-US"/>
              <a:t>The processors usually communicate implicitly by accessing shared data structures.</a:t>
            </a:r>
            <a:endParaRPr/>
          </a:p>
        </p:txBody>
      </p:sp>
      <p:sp>
        <p:nvSpPr>
          <p:cNvPr id="1100" name="Google Shape;1100;p11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1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Shared Memory System (2)</a:t>
            </a:r>
            <a:endParaRPr/>
          </a:p>
        </p:txBody>
      </p:sp>
      <p:sp>
        <p:nvSpPr>
          <p:cNvPr id="1106" name="Google Shape;1106;p1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Most widely available shared memory systems use one or more multicore processors.</a:t>
            </a:r>
            <a:endParaRPr/>
          </a:p>
          <a:p>
            <a:pPr indent="-228600" lvl="1" marL="685800" rtl="0" algn="l">
              <a:lnSpc>
                <a:spcPct val="90000"/>
              </a:lnSpc>
              <a:spcBef>
                <a:spcPts val="500"/>
              </a:spcBef>
              <a:spcAft>
                <a:spcPts val="0"/>
              </a:spcAft>
              <a:buClr>
                <a:schemeClr val="dk1"/>
              </a:buClr>
              <a:buSzPts val="2400"/>
              <a:buChar char="•"/>
            </a:pPr>
            <a:r>
              <a:rPr lang="en-US"/>
              <a:t>(multiple CPU’s or cores on a single chip)</a:t>
            </a:r>
            <a:endParaRPr/>
          </a:p>
        </p:txBody>
      </p:sp>
      <p:sp>
        <p:nvSpPr>
          <p:cNvPr id="1107" name="Google Shape;1107;p11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0AVCOKV0\MP900316431[1].jpg" id="1108" name="Google Shape;1108;p111"/>
          <p:cNvPicPr preferRelativeResize="0"/>
          <p:nvPr/>
        </p:nvPicPr>
        <p:blipFill rotWithShape="1">
          <a:blip r:embed="rId3">
            <a:alphaModFix/>
          </a:blip>
          <a:srcRect b="0" l="0" r="0" t="0"/>
          <a:stretch/>
        </p:blipFill>
        <p:spPr>
          <a:xfrm>
            <a:off x="7010400" y="3716339"/>
            <a:ext cx="3657600" cy="2408237"/>
          </a:xfrm>
          <a:prstGeom prst="rect">
            <a:avLst/>
          </a:prstGeom>
          <a:noFill/>
          <a:ln>
            <a:noFill/>
          </a:ln>
        </p:spPr>
      </p:pic>
      <p:pic>
        <p:nvPicPr>
          <p:cNvPr descr="C:\Documents and Settings\liszka\Local Settings\Temporary Internet Files\Content.IE5\60RV4HYO\MP900316353[1].jpg" id="1109" name="Google Shape;1109;p111"/>
          <p:cNvPicPr preferRelativeResize="0"/>
          <p:nvPr/>
        </p:nvPicPr>
        <p:blipFill rotWithShape="1">
          <a:blip r:embed="rId4">
            <a:alphaModFix/>
          </a:blip>
          <a:srcRect b="0" l="0" r="0" t="0"/>
          <a:stretch/>
        </p:blipFill>
        <p:spPr>
          <a:xfrm>
            <a:off x="1703388" y="3644901"/>
            <a:ext cx="3657600" cy="2468563"/>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Shared Memory System</a:t>
            </a:r>
            <a:endParaRPr/>
          </a:p>
        </p:txBody>
      </p:sp>
      <p:sp>
        <p:nvSpPr>
          <p:cNvPr id="1115" name="Google Shape;1115;p11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116" name="Google Shape;1116;p112"/>
          <p:cNvSpPr txBox="1"/>
          <p:nvPr/>
        </p:nvSpPr>
        <p:spPr>
          <a:xfrm>
            <a:off x="5303838" y="4941888"/>
            <a:ext cx="1338262"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2.3</a:t>
            </a:r>
            <a:endParaRPr b="0" i="0" sz="2000" u="none" cap="none" strike="noStrike">
              <a:solidFill>
                <a:srgbClr val="000066"/>
              </a:solidFill>
              <a:latin typeface="Arial"/>
              <a:ea typeface="Arial"/>
              <a:cs typeface="Arial"/>
              <a:sym typeface="Arial"/>
            </a:endParaRPr>
          </a:p>
        </p:txBody>
      </p:sp>
      <p:pic>
        <p:nvPicPr>
          <p:cNvPr id="1117" name="Google Shape;1117;p112"/>
          <p:cNvPicPr preferRelativeResize="0"/>
          <p:nvPr/>
        </p:nvPicPr>
        <p:blipFill rotWithShape="1">
          <a:blip r:embed="rId3">
            <a:alphaModFix/>
          </a:blip>
          <a:srcRect b="0" l="0" r="0" t="0"/>
          <a:stretch/>
        </p:blipFill>
        <p:spPr>
          <a:xfrm>
            <a:off x="2135188" y="1196975"/>
            <a:ext cx="8113712" cy="36385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pic>
        <p:nvPicPr>
          <p:cNvPr id="1122" name="Google Shape;1122;p113"/>
          <p:cNvPicPr preferRelativeResize="0"/>
          <p:nvPr/>
        </p:nvPicPr>
        <p:blipFill rotWithShape="1">
          <a:blip r:embed="rId3">
            <a:alphaModFix/>
          </a:blip>
          <a:srcRect b="0" l="0" r="0" t="0"/>
          <a:stretch/>
        </p:blipFill>
        <p:spPr>
          <a:xfrm>
            <a:off x="3359150" y="1052513"/>
            <a:ext cx="6216650" cy="3517900"/>
          </a:xfrm>
          <a:prstGeom prst="rect">
            <a:avLst/>
          </a:prstGeom>
          <a:noFill/>
          <a:ln>
            <a:noFill/>
          </a:ln>
        </p:spPr>
      </p:pic>
      <p:sp>
        <p:nvSpPr>
          <p:cNvPr id="1123" name="Google Shape;1123;p1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UMA multicore system</a:t>
            </a:r>
            <a:endParaRPr/>
          </a:p>
        </p:txBody>
      </p:sp>
      <p:sp>
        <p:nvSpPr>
          <p:cNvPr id="1124" name="Google Shape;1124;p11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125" name="Google Shape;1125;p113"/>
          <p:cNvSpPr txBox="1"/>
          <p:nvPr/>
        </p:nvSpPr>
        <p:spPr>
          <a:xfrm>
            <a:off x="5808663" y="4724400"/>
            <a:ext cx="1338262" cy="4016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2.5</a:t>
            </a:r>
            <a:endParaRPr b="0" i="0" sz="2000" u="none" cap="none" strike="noStrike">
              <a:solidFill>
                <a:srgbClr val="000066"/>
              </a:solidFill>
              <a:latin typeface="Arial"/>
              <a:ea typeface="Arial"/>
              <a:cs typeface="Arial"/>
              <a:sym typeface="Arial"/>
            </a:endParaRPr>
          </a:p>
        </p:txBody>
      </p:sp>
      <p:sp>
        <p:nvSpPr>
          <p:cNvPr id="1126" name="Google Shape;1126;p113"/>
          <p:cNvSpPr/>
          <p:nvPr/>
        </p:nvSpPr>
        <p:spPr>
          <a:xfrm>
            <a:off x="1847851" y="3933826"/>
            <a:ext cx="2619375" cy="15081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00B050"/>
                </a:solidFill>
                <a:latin typeface="Arial"/>
                <a:ea typeface="Arial"/>
                <a:cs typeface="Arial"/>
                <a:sym typeface="Arial"/>
              </a:rPr>
              <a:t>Time to access all</a:t>
            </a:r>
            <a:endParaRPr/>
          </a:p>
          <a:p>
            <a:pPr indent="0" lvl="0" marL="0" marR="0" rtl="0" algn="l">
              <a:spcBef>
                <a:spcPts val="400"/>
              </a:spcBef>
              <a:spcAft>
                <a:spcPts val="0"/>
              </a:spcAft>
              <a:buClr>
                <a:schemeClr val="dk1"/>
              </a:buClr>
              <a:buSzPts val="1200"/>
              <a:buFont typeface="Noto Sans Symbols"/>
              <a:buNone/>
            </a:pPr>
            <a:r>
              <a:rPr b="0" i="0" lang="en-US" sz="2000" u="none" cap="none" strike="noStrike">
                <a:solidFill>
                  <a:srgbClr val="00B050"/>
                </a:solidFill>
                <a:latin typeface="Arial"/>
                <a:ea typeface="Arial"/>
                <a:cs typeface="Arial"/>
                <a:sym typeface="Arial"/>
              </a:rPr>
              <a:t>the memory locations</a:t>
            </a:r>
            <a:endParaRPr/>
          </a:p>
          <a:p>
            <a:pPr indent="0" lvl="0" marL="0" marR="0" rtl="0" algn="l">
              <a:spcBef>
                <a:spcPts val="400"/>
              </a:spcBef>
              <a:spcAft>
                <a:spcPts val="0"/>
              </a:spcAft>
              <a:buClr>
                <a:schemeClr val="dk1"/>
              </a:buClr>
              <a:buSzPts val="1200"/>
              <a:buFont typeface="Noto Sans Symbols"/>
              <a:buNone/>
            </a:pPr>
            <a:r>
              <a:rPr b="0" i="0" lang="en-US" sz="2000" u="none" cap="none" strike="noStrike">
                <a:solidFill>
                  <a:srgbClr val="00B050"/>
                </a:solidFill>
                <a:latin typeface="Arial"/>
                <a:ea typeface="Arial"/>
                <a:cs typeface="Arial"/>
                <a:sym typeface="Arial"/>
              </a:rPr>
              <a:t>will be the same for</a:t>
            </a:r>
            <a:endParaRPr/>
          </a:p>
          <a:p>
            <a:pPr indent="0" lvl="0" marL="0" marR="0" rtl="0" algn="l">
              <a:spcBef>
                <a:spcPts val="400"/>
              </a:spcBef>
              <a:spcAft>
                <a:spcPts val="0"/>
              </a:spcAft>
              <a:buClr>
                <a:schemeClr val="dk1"/>
              </a:buClr>
              <a:buSzPts val="1200"/>
              <a:buFont typeface="Noto Sans Symbols"/>
              <a:buNone/>
            </a:pPr>
            <a:r>
              <a:rPr b="0" i="0" lang="en-US" sz="2000" u="none" cap="none" strike="noStrike">
                <a:solidFill>
                  <a:srgbClr val="00B050"/>
                </a:solidFill>
                <a:latin typeface="Arial"/>
                <a:ea typeface="Arial"/>
                <a:cs typeface="Arial"/>
                <a:sym typeface="Arial"/>
              </a:rPr>
              <a:t>all the cores.</a:t>
            </a:r>
            <a:endParaRPr b="0" i="0" sz="2000" u="none" cap="none" strike="noStrike">
              <a:solidFill>
                <a:srgbClr val="00B050"/>
              </a:solidFill>
              <a:latin typeface="Calibri"/>
              <a:ea typeface="Calibri"/>
              <a:cs typeface="Calibri"/>
              <a:sym typeface="Calibri"/>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pic>
        <p:nvPicPr>
          <p:cNvPr id="1131" name="Google Shape;1131;p114"/>
          <p:cNvPicPr preferRelativeResize="0"/>
          <p:nvPr/>
        </p:nvPicPr>
        <p:blipFill rotWithShape="1">
          <a:blip r:embed="rId3">
            <a:alphaModFix/>
          </a:blip>
          <a:srcRect b="0" l="0" r="0" t="0"/>
          <a:stretch/>
        </p:blipFill>
        <p:spPr>
          <a:xfrm>
            <a:off x="4495008" y="1112383"/>
            <a:ext cx="6310312" cy="3492500"/>
          </a:xfrm>
          <a:prstGeom prst="rect">
            <a:avLst/>
          </a:prstGeom>
          <a:noFill/>
          <a:ln>
            <a:noFill/>
          </a:ln>
        </p:spPr>
      </p:pic>
      <p:sp>
        <p:nvSpPr>
          <p:cNvPr id="1132" name="Google Shape;1132;p1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NUMA multicore system</a:t>
            </a:r>
            <a:endParaRPr/>
          </a:p>
        </p:txBody>
      </p:sp>
      <p:sp>
        <p:nvSpPr>
          <p:cNvPr id="1133" name="Google Shape;1133;p11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134" name="Google Shape;1134;p114"/>
          <p:cNvSpPr txBox="1"/>
          <p:nvPr/>
        </p:nvSpPr>
        <p:spPr>
          <a:xfrm>
            <a:off x="6981032" y="4637088"/>
            <a:ext cx="13382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2.6</a:t>
            </a:r>
            <a:endParaRPr b="0" i="0" sz="2000" u="none" cap="none" strike="noStrike">
              <a:solidFill>
                <a:srgbClr val="000066"/>
              </a:solidFill>
              <a:latin typeface="Arial"/>
              <a:ea typeface="Arial"/>
              <a:cs typeface="Arial"/>
              <a:sym typeface="Arial"/>
            </a:endParaRPr>
          </a:p>
        </p:txBody>
      </p:sp>
      <p:sp>
        <p:nvSpPr>
          <p:cNvPr id="1135" name="Google Shape;1135;p114"/>
          <p:cNvSpPr/>
          <p:nvPr/>
        </p:nvSpPr>
        <p:spPr>
          <a:xfrm>
            <a:off x="838200" y="4637088"/>
            <a:ext cx="3889375" cy="16319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Noto Sans Symbols"/>
              <a:buNone/>
            </a:pPr>
            <a:r>
              <a:rPr b="0" i="0" lang="en-US" sz="2000" u="none" cap="none" strike="noStrike">
                <a:solidFill>
                  <a:srgbClr val="00B050"/>
                </a:solidFill>
                <a:latin typeface="Arial"/>
                <a:ea typeface="Arial"/>
                <a:cs typeface="Arial"/>
                <a:sym typeface="Arial"/>
              </a:rPr>
              <a:t>A memory location a core is directly connected to can be accessed faster than a memory location that must be accessed through another chip.</a:t>
            </a:r>
            <a:endParaRPr b="0" i="0" sz="2000" u="none" cap="none" strike="noStrike">
              <a:solidFill>
                <a:srgbClr val="00B050"/>
              </a:solidFill>
              <a:latin typeface="Calibri"/>
              <a:ea typeface="Calibri"/>
              <a:cs typeface="Calibri"/>
              <a:sym typeface="Calibri"/>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1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Distributed Memory System</a:t>
            </a:r>
            <a:endParaRPr/>
          </a:p>
        </p:txBody>
      </p:sp>
      <p:sp>
        <p:nvSpPr>
          <p:cNvPr id="1141" name="Google Shape;1141;p115"/>
          <p:cNvSpPr txBox="1"/>
          <p:nvPr>
            <p:ph idx="1" type="body"/>
          </p:nvPr>
        </p:nvSpPr>
        <p:spPr>
          <a:xfrm>
            <a:off x="2208214" y="1690688"/>
            <a:ext cx="8270875" cy="360997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66FF"/>
              </a:buClr>
              <a:buSzPts val="2800"/>
              <a:buChar char="•"/>
            </a:pPr>
            <a:r>
              <a:rPr lang="en-US">
                <a:solidFill>
                  <a:srgbClr val="0066FF"/>
                </a:solidFill>
              </a:rPr>
              <a:t>Clusters</a:t>
            </a:r>
            <a:r>
              <a:rPr lang="en-US"/>
              <a:t> (most popular)</a:t>
            </a:r>
            <a:endParaRPr/>
          </a:p>
          <a:p>
            <a:pPr indent="-228600" lvl="1" marL="685800" rtl="0" algn="l">
              <a:lnSpc>
                <a:spcPct val="90000"/>
              </a:lnSpc>
              <a:spcBef>
                <a:spcPts val="500"/>
              </a:spcBef>
              <a:spcAft>
                <a:spcPts val="0"/>
              </a:spcAft>
              <a:buClr>
                <a:schemeClr val="dk1"/>
              </a:buClr>
              <a:buSzPts val="2400"/>
              <a:buChar char="•"/>
            </a:pPr>
            <a:r>
              <a:rPr lang="en-US"/>
              <a:t>A collection of commodity systems.</a:t>
            </a:r>
            <a:endParaRPr/>
          </a:p>
          <a:p>
            <a:pPr indent="-228600" lvl="1" marL="685800" rtl="0" algn="l">
              <a:lnSpc>
                <a:spcPct val="90000"/>
              </a:lnSpc>
              <a:spcBef>
                <a:spcPts val="500"/>
              </a:spcBef>
              <a:spcAft>
                <a:spcPts val="0"/>
              </a:spcAft>
              <a:buClr>
                <a:schemeClr val="dk1"/>
              </a:buClr>
              <a:buSzPts val="2400"/>
              <a:buChar char="•"/>
            </a:pPr>
            <a:r>
              <a:rPr lang="en-US"/>
              <a:t>Connected by a commodity interconnection network.</a:t>
            </a:r>
            <a:br>
              <a:rPr lang="en-US"/>
            </a:br>
            <a:endParaRPr/>
          </a:p>
          <a:p>
            <a:pPr indent="-228600" lvl="0" marL="228600" rtl="0" algn="l">
              <a:lnSpc>
                <a:spcPct val="90000"/>
              </a:lnSpc>
              <a:spcBef>
                <a:spcPts val="1000"/>
              </a:spcBef>
              <a:spcAft>
                <a:spcPts val="0"/>
              </a:spcAft>
              <a:buClr>
                <a:srgbClr val="00B050"/>
              </a:buClr>
              <a:buSzPts val="2800"/>
              <a:buChar char="•"/>
            </a:pPr>
            <a:r>
              <a:rPr lang="en-US">
                <a:solidFill>
                  <a:srgbClr val="00B050"/>
                </a:solidFill>
              </a:rPr>
              <a:t>Nodes</a:t>
            </a:r>
            <a:r>
              <a:rPr lang="en-US"/>
              <a:t> of a cluster are individual computations units joined by a communication network.</a:t>
            </a:r>
            <a:endParaRPr/>
          </a:p>
        </p:txBody>
      </p:sp>
      <p:sp>
        <p:nvSpPr>
          <p:cNvPr id="1142" name="Google Shape;1142;p11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143" name="Google Shape;1143;p115"/>
          <p:cNvSpPr/>
          <p:nvPr/>
        </p:nvSpPr>
        <p:spPr>
          <a:xfrm>
            <a:off x="6240463" y="5445126"/>
            <a:ext cx="3752850"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C00000"/>
                </a:solidFill>
                <a:latin typeface="Dancing Script"/>
                <a:ea typeface="Dancing Script"/>
                <a:cs typeface="Dancing Script"/>
                <a:sym typeface="Dancing Script"/>
              </a:rPr>
              <a:t>a.k.a. hybrid systems</a:t>
            </a:r>
            <a:endParaRPr b="0" i="0" sz="2400" u="none" cap="none" strike="noStrike">
              <a:solidFill>
                <a:srgbClr val="C00000"/>
              </a:solidFill>
              <a:latin typeface="Dancing Script"/>
              <a:ea typeface="Dancing Script"/>
              <a:cs typeface="Dancing Script"/>
              <a:sym typeface="Dancing Script"/>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1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Distributed Memory System</a:t>
            </a:r>
            <a:endParaRPr/>
          </a:p>
        </p:txBody>
      </p:sp>
      <p:sp>
        <p:nvSpPr>
          <p:cNvPr id="1149" name="Google Shape;1149;p11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150" name="Google Shape;1150;p116"/>
          <p:cNvSpPr txBox="1"/>
          <p:nvPr/>
        </p:nvSpPr>
        <p:spPr>
          <a:xfrm>
            <a:off x="5232401" y="4868863"/>
            <a:ext cx="13382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2.4</a:t>
            </a:r>
            <a:endParaRPr b="0" i="0" sz="2000" u="none" cap="none" strike="noStrike">
              <a:solidFill>
                <a:srgbClr val="000066"/>
              </a:solidFill>
              <a:latin typeface="Arial"/>
              <a:ea typeface="Arial"/>
              <a:cs typeface="Arial"/>
              <a:sym typeface="Arial"/>
            </a:endParaRPr>
          </a:p>
        </p:txBody>
      </p:sp>
      <p:pic>
        <p:nvPicPr>
          <p:cNvPr id="1151" name="Google Shape;1151;p116"/>
          <p:cNvPicPr preferRelativeResize="0"/>
          <p:nvPr/>
        </p:nvPicPr>
        <p:blipFill rotWithShape="1">
          <a:blip r:embed="rId3">
            <a:alphaModFix/>
          </a:blip>
          <a:srcRect b="0" l="0" r="0" t="0"/>
          <a:stretch/>
        </p:blipFill>
        <p:spPr>
          <a:xfrm>
            <a:off x="1915319" y="1860548"/>
            <a:ext cx="8361362" cy="2965451"/>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1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Interconnection networks</a:t>
            </a:r>
            <a:endParaRPr/>
          </a:p>
        </p:txBody>
      </p:sp>
      <p:sp>
        <p:nvSpPr>
          <p:cNvPr id="1157" name="Google Shape;1157;p1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Affects performance of both distributed and shared memory systems.</a:t>
            </a:r>
            <a:br>
              <a:rPr lang="en-US"/>
            </a:br>
            <a:endParaRPr/>
          </a:p>
          <a:p>
            <a:pPr indent="-228600" lvl="0" marL="228600" rtl="0" algn="l">
              <a:lnSpc>
                <a:spcPct val="90000"/>
              </a:lnSpc>
              <a:spcBef>
                <a:spcPts val="1000"/>
              </a:spcBef>
              <a:spcAft>
                <a:spcPts val="0"/>
              </a:spcAft>
              <a:buClr>
                <a:schemeClr val="dk1"/>
              </a:buClr>
              <a:buSzPts val="2800"/>
              <a:buChar char="•"/>
            </a:pPr>
            <a:r>
              <a:rPr lang="en-US"/>
              <a:t>Two categories:</a:t>
            </a:r>
            <a:endParaRPr/>
          </a:p>
          <a:p>
            <a:pPr indent="-228600" lvl="1" marL="685800" rtl="0" algn="l">
              <a:lnSpc>
                <a:spcPct val="90000"/>
              </a:lnSpc>
              <a:spcBef>
                <a:spcPts val="500"/>
              </a:spcBef>
              <a:spcAft>
                <a:spcPts val="0"/>
              </a:spcAft>
              <a:buClr>
                <a:schemeClr val="dk1"/>
              </a:buClr>
              <a:buSzPts val="2400"/>
              <a:buChar char="•"/>
            </a:pPr>
            <a:r>
              <a:rPr lang="en-US"/>
              <a:t>Shared memory interconnects</a:t>
            </a:r>
            <a:endParaRPr/>
          </a:p>
          <a:p>
            <a:pPr indent="-228600" lvl="1" marL="685800" rtl="0" algn="l">
              <a:lnSpc>
                <a:spcPct val="90000"/>
              </a:lnSpc>
              <a:spcBef>
                <a:spcPts val="500"/>
              </a:spcBef>
              <a:spcAft>
                <a:spcPts val="0"/>
              </a:spcAft>
              <a:buClr>
                <a:schemeClr val="dk1"/>
              </a:buClr>
              <a:buSzPts val="2400"/>
              <a:buChar char="•"/>
            </a:pPr>
            <a:r>
              <a:rPr lang="en-US"/>
              <a:t>Distributed memory interconnects</a:t>
            </a:r>
            <a:endParaRPr/>
          </a:p>
        </p:txBody>
      </p:sp>
      <p:sp>
        <p:nvSpPr>
          <p:cNvPr id="1158" name="Google Shape;1158;p11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118"/>
          <p:cNvSpPr txBox="1"/>
          <p:nvPr>
            <p:ph type="title"/>
          </p:nvPr>
        </p:nvSpPr>
        <p:spPr>
          <a:xfrm>
            <a:off x="838200" y="501425"/>
            <a:ext cx="8281987" cy="708025"/>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4400"/>
              <a:buFont typeface="Calibri"/>
              <a:buNone/>
            </a:pPr>
            <a:r>
              <a:rPr lang="en-US"/>
              <a:t>Shared memory interconnects</a:t>
            </a:r>
            <a:endParaRPr/>
          </a:p>
        </p:txBody>
      </p:sp>
      <p:sp>
        <p:nvSpPr>
          <p:cNvPr id="1164" name="Google Shape;1164;p1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Bus interconnect</a:t>
            </a:r>
            <a:endParaRPr/>
          </a:p>
          <a:p>
            <a:pPr indent="-228600" lvl="1" marL="685800" rtl="0" algn="l">
              <a:lnSpc>
                <a:spcPct val="90000"/>
              </a:lnSpc>
              <a:spcBef>
                <a:spcPts val="500"/>
              </a:spcBef>
              <a:spcAft>
                <a:spcPts val="0"/>
              </a:spcAft>
              <a:buClr>
                <a:schemeClr val="dk1"/>
              </a:buClr>
              <a:buSzPts val="2400"/>
              <a:buChar char="•"/>
            </a:pPr>
            <a:r>
              <a:rPr lang="en-US"/>
              <a:t>A collection of parallel communication wires together with some hardware that controls access to the bus.</a:t>
            </a:r>
            <a:endParaRPr/>
          </a:p>
          <a:p>
            <a:pPr indent="-228600" lvl="1" marL="685800" rtl="0" algn="l">
              <a:lnSpc>
                <a:spcPct val="90000"/>
              </a:lnSpc>
              <a:spcBef>
                <a:spcPts val="500"/>
              </a:spcBef>
              <a:spcAft>
                <a:spcPts val="0"/>
              </a:spcAft>
              <a:buClr>
                <a:schemeClr val="dk1"/>
              </a:buClr>
              <a:buSzPts val="2400"/>
              <a:buChar char="•"/>
            </a:pPr>
            <a:r>
              <a:rPr lang="en-US"/>
              <a:t>Communication wires are shared by the devices that are connected to it.</a:t>
            </a:r>
            <a:endParaRPr/>
          </a:p>
          <a:p>
            <a:pPr indent="-228600" lvl="1" marL="685800" rtl="0" algn="l">
              <a:lnSpc>
                <a:spcPct val="90000"/>
              </a:lnSpc>
              <a:spcBef>
                <a:spcPts val="500"/>
              </a:spcBef>
              <a:spcAft>
                <a:spcPts val="0"/>
              </a:spcAft>
              <a:buClr>
                <a:schemeClr val="dk1"/>
              </a:buClr>
              <a:buSzPts val="2400"/>
              <a:buChar char="•"/>
            </a:pPr>
            <a:r>
              <a:rPr lang="en-US"/>
              <a:t>As the number of devices connected to the bus increases, contention for use of the bus increases, and performance decreases.</a:t>
            </a:r>
            <a:endParaRPr/>
          </a:p>
        </p:txBody>
      </p:sp>
      <p:sp>
        <p:nvSpPr>
          <p:cNvPr id="1165" name="Google Shape;1165;p11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Shared memory interconnects</a:t>
            </a:r>
            <a:endParaRPr/>
          </a:p>
        </p:txBody>
      </p:sp>
      <p:sp>
        <p:nvSpPr>
          <p:cNvPr id="1171" name="Google Shape;1171;p1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Switched interconnect</a:t>
            </a:r>
            <a:endParaRPr/>
          </a:p>
          <a:p>
            <a:pPr indent="-228600" lvl="1" marL="685800" rtl="0" algn="l">
              <a:lnSpc>
                <a:spcPct val="90000"/>
              </a:lnSpc>
              <a:spcBef>
                <a:spcPts val="500"/>
              </a:spcBef>
              <a:spcAft>
                <a:spcPts val="0"/>
              </a:spcAft>
              <a:buClr>
                <a:schemeClr val="dk1"/>
              </a:buClr>
              <a:buSzPts val="2400"/>
              <a:buChar char="•"/>
            </a:pPr>
            <a:r>
              <a:rPr lang="en-US"/>
              <a:t>Uses switches to control the routing of data among the connected devices.</a:t>
            </a:r>
            <a:br>
              <a:rPr lang="en-US"/>
            </a:br>
            <a:endParaRPr/>
          </a:p>
          <a:p>
            <a:pPr indent="-228600" lvl="1" marL="685800" rtl="0" algn="l">
              <a:lnSpc>
                <a:spcPct val="90000"/>
              </a:lnSpc>
              <a:spcBef>
                <a:spcPts val="500"/>
              </a:spcBef>
              <a:spcAft>
                <a:spcPts val="0"/>
              </a:spcAft>
              <a:buClr>
                <a:srgbClr val="00B050"/>
              </a:buClr>
              <a:buSzPts val="2400"/>
              <a:buChar char="•"/>
            </a:pPr>
            <a:r>
              <a:rPr lang="en-US">
                <a:solidFill>
                  <a:srgbClr val="00B050"/>
                </a:solidFill>
              </a:rPr>
              <a:t>Crossbar</a:t>
            </a:r>
            <a:r>
              <a:rPr lang="en-US"/>
              <a:t> – </a:t>
            </a:r>
            <a:endParaRPr/>
          </a:p>
          <a:p>
            <a:pPr indent="-228600" lvl="2" marL="1143000" rtl="0" algn="l">
              <a:lnSpc>
                <a:spcPct val="90000"/>
              </a:lnSpc>
              <a:spcBef>
                <a:spcPts val="500"/>
              </a:spcBef>
              <a:spcAft>
                <a:spcPts val="0"/>
              </a:spcAft>
              <a:buClr>
                <a:schemeClr val="dk1"/>
              </a:buClr>
              <a:buSzPts val="2000"/>
              <a:buChar char="•"/>
            </a:pPr>
            <a:r>
              <a:rPr lang="en-US"/>
              <a:t>Allows simultaneous communication among different devices.</a:t>
            </a:r>
            <a:endParaRPr/>
          </a:p>
          <a:p>
            <a:pPr indent="-228600" lvl="2" marL="1143000" rtl="0" algn="l">
              <a:lnSpc>
                <a:spcPct val="90000"/>
              </a:lnSpc>
              <a:spcBef>
                <a:spcPts val="500"/>
              </a:spcBef>
              <a:spcAft>
                <a:spcPts val="0"/>
              </a:spcAft>
              <a:buClr>
                <a:schemeClr val="dk1"/>
              </a:buClr>
              <a:buSzPts val="2000"/>
              <a:buChar char="•"/>
            </a:pPr>
            <a:r>
              <a:rPr lang="en-US"/>
              <a:t>Faster than buses. </a:t>
            </a:r>
            <a:endParaRPr/>
          </a:p>
          <a:p>
            <a:pPr indent="-228600" lvl="2" marL="1143000" rtl="0" algn="l">
              <a:lnSpc>
                <a:spcPct val="90000"/>
              </a:lnSpc>
              <a:spcBef>
                <a:spcPts val="500"/>
              </a:spcBef>
              <a:spcAft>
                <a:spcPts val="0"/>
              </a:spcAft>
              <a:buClr>
                <a:schemeClr val="dk1"/>
              </a:buClr>
              <a:buSzPts val="2000"/>
              <a:buChar char="•"/>
            </a:pPr>
            <a:r>
              <a:rPr lang="en-US"/>
              <a:t>But the cost of the switches and links is relatively high.</a:t>
            </a:r>
            <a:endParaRPr/>
          </a:p>
        </p:txBody>
      </p:sp>
      <p:sp>
        <p:nvSpPr>
          <p:cNvPr id="1172" name="Google Shape;1172;p11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pic>
        <p:nvPicPr>
          <p:cNvPr id="1177" name="Google Shape;1177;p120"/>
          <p:cNvPicPr preferRelativeResize="0"/>
          <p:nvPr/>
        </p:nvPicPr>
        <p:blipFill rotWithShape="1">
          <a:blip r:embed="rId3">
            <a:alphaModFix/>
          </a:blip>
          <a:srcRect b="0" l="0" r="0" t="0"/>
          <a:stretch/>
        </p:blipFill>
        <p:spPr>
          <a:xfrm>
            <a:off x="6527800" y="0"/>
            <a:ext cx="3886200" cy="6248400"/>
          </a:xfrm>
          <a:prstGeom prst="rect">
            <a:avLst/>
          </a:prstGeom>
          <a:noFill/>
          <a:ln>
            <a:noFill/>
          </a:ln>
        </p:spPr>
      </p:pic>
      <p:sp>
        <p:nvSpPr>
          <p:cNvPr id="1178" name="Google Shape;1178;p12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179" name="Google Shape;1179;p120"/>
          <p:cNvSpPr txBox="1"/>
          <p:nvPr/>
        </p:nvSpPr>
        <p:spPr>
          <a:xfrm>
            <a:off x="2063751" y="260350"/>
            <a:ext cx="13382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2.7</a:t>
            </a:r>
            <a:endParaRPr b="0" i="0" sz="2000" u="none" cap="none" strike="noStrike">
              <a:solidFill>
                <a:srgbClr val="000066"/>
              </a:solidFill>
              <a:latin typeface="Arial"/>
              <a:ea typeface="Arial"/>
              <a:cs typeface="Arial"/>
              <a:sym typeface="Arial"/>
            </a:endParaRPr>
          </a:p>
        </p:txBody>
      </p:sp>
      <p:sp>
        <p:nvSpPr>
          <p:cNvPr id="1180" name="Google Shape;1180;p120"/>
          <p:cNvSpPr/>
          <p:nvPr/>
        </p:nvSpPr>
        <p:spPr>
          <a:xfrm>
            <a:off x="1992313" y="1052514"/>
            <a:ext cx="457200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Arial"/>
                <a:ea typeface="Arial"/>
                <a:cs typeface="Arial"/>
                <a:sym typeface="Arial"/>
              </a:rPr>
              <a:t>(a) </a:t>
            </a:r>
            <a:endParaRPr/>
          </a:p>
          <a:p>
            <a:pPr indent="0" lvl="0" marL="0" marR="0" rtl="0" algn="l">
              <a:spcBef>
                <a:spcPts val="400"/>
              </a:spcBef>
              <a:spcAft>
                <a:spcPts val="0"/>
              </a:spcAft>
              <a:buNone/>
            </a:pPr>
            <a:r>
              <a:rPr b="0" i="0" lang="en-US" sz="2000" u="none" cap="none" strike="noStrike">
                <a:solidFill>
                  <a:schemeClr val="dk1"/>
                </a:solidFill>
                <a:latin typeface="Arial"/>
                <a:ea typeface="Arial"/>
                <a:cs typeface="Arial"/>
                <a:sym typeface="Arial"/>
              </a:rPr>
              <a:t>A crossbar switch connecting 4 processors (P</a:t>
            </a:r>
            <a:r>
              <a:rPr b="0" i="0" lang="en-US" sz="1200" u="none" cap="none" strike="noStrike">
                <a:solidFill>
                  <a:schemeClr val="dk1"/>
                </a:solidFill>
                <a:latin typeface="Arial"/>
                <a:ea typeface="Arial"/>
                <a:cs typeface="Arial"/>
                <a:sym typeface="Arial"/>
              </a:rPr>
              <a:t>i</a:t>
            </a:r>
            <a:r>
              <a:rPr b="0" i="0" lang="en-US" sz="2000" u="none" cap="none" strike="noStrike">
                <a:solidFill>
                  <a:schemeClr val="dk1"/>
                </a:solidFill>
                <a:latin typeface="Arial"/>
                <a:ea typeface="Arial"/>
                <a:cs typeface="Arial"/>
                <a:sym typeface="Arial"/>
              </a:rPr>
              <a:t>) and 4 memory modules (M</a:t>
            </a:r>
            <a:r>
              <a:rPr b="0" i="0" lang="en-US" sz="1200" u="none" cap="none" strike="noStrike">
                <a:solidFill>
                  <a:schemeClr val="dk1"/>
                </a:solidFill>
                <a:latin typeface="Arial"/>
                <a:ea typeface="Arial"/>
                <a:cs typeface="Arial"/>
                <a:sym typeface="Arial"/>
              </a:rPr>
              <a:t>j</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Black"/>
              <a:ea typeface="Arial Black"/>
              <a:cs typeface="Arial Black"/>
              <a:sym typeface="Arial Black"/>
            </a:endParaRPr>
          </a:p>
        </p:txBody>
      </p:sp>
      <p:sp>
        <p:nvSpPr>
          <p:cNvPr id="1181" name="Google Shape;1181;p120"/>
          <p:cNvSpPr/>
          <p:nvPr/>
        </p:nvSpPr>
        <p:spPr>
          <a:xfrm>
            <a:off x="1992314" y="2924176"/>
            <a:ext cx="4103687" cy="10779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Arial"/>
                <a:ea typeface="Arial"/>
                <a:cs typeface="Arial"/>
                <a:sym typeface="Arial"/>
              </a:rPr>
              <a:t>(b)</a:t>
            </a:r>
            <a:endParaRPr/>
          </a:p>
          <a:p>
            <a:pPr indent="0" lvl="0" marL="0" marR="0" rtl="0" algn="l">
              <a:spcBef>
                <a:spcPts val="400"/>
              </a:spcBef>
              <a:spcAft>
                <a:spcPts val="0"/>
              </a:spcAft>
              <a:buNone/>
            </a:pPr>
            <a:r>
              <a:rPr b="0" i="0" lang="en-US" sz="2000" u="none" cap="none" strike="noStrike">
                <a:solidFill>
                  <a:schemeClr val="dk1"/>
                </a:solidFill>
                <a:latin typeface="Arial"/>
                <a:ea typeface="Arial"/>
                <a:cs typeface="Arial"/>
                <a:sym typeface="Arial"/>
              </a:rPr>
              <a:t>Configuration of internal switches in a crossbar </a:t>
            </a:r>
            <a:endParaRPr/>
          </a:p>
        </p:txBody>
      </p:sp>
      <p:sp>
        <p:nvSpPr>
          <p:cNvPr id="1182" name="Google Shape;1182;p120"/>
          <p:cNvSpPr/>
          <p:nvPr/>
        </p:nvSpPr>
        <p:spPr>
          <a:xfrm>
            <a:off x="1992314" y="4868864"/>
            <a:ext cx="3887787"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00"/>
                </a:solidFill>
                <a:latin typeface="Arial"/>
                <a:ea typeface="Arial"/>
                <a:cs typeface="Arial"/>
                <a:sym typeface="Arial"/>
              </a:rPr>
              <a:t>(c) Simultaneous memory accesses by the processors</a:t>
            </a:r>
            <a:endParaRPr b="0" i="0" sz="2000" u="none" cap="none" strike="noStrike">
              <a:solidFill>
                <a:srgbClr val="000000"/>
              </a:solidFill>
              <a:latin typeface="Arial Black"/>
              <a:ea typeface="Arial Black"/>
              <a:cs typeface="Arial Black"/>
              <a:sym typeface="Arial Black"/>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21"/>
          <p:cNvSpPr txBox="1"/>
          <p:nvPr>
            <p:ph type="title"/>
          </p:nvPr>
        </p:nvSpPr>
        <p:spPr>
          <a:xfrm>
            <a:off x="838200" y="530453"/>
            <a:ext cx="87137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Distributed memory interconnects</a:t>
            </a:r>
            <a:endParaRPr/>
          </a:p>
        </p:txBody>
      </p:sp>
      <p:sp>
        <p:nvSpPr>
          <p:cNvPr id="1188" name="Google Shape;1188;p1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Two groups</a:t>
            </a:r>
            <a:endParaRPr/>
          </a:p>
          <a:p>
            <a:pPr indent="-228600" lvl="1" marL="685800" rtl="0" algn="l">
              <a:lnSpc>
                <a:spcPct val="90000"/>
              </a:lnSpc>
              <a:spcBef>
                <a:spcPts val="500"/>
              </a:spcBef>
              <a:spcAft>
                <a:spcPts val="0"/>
              </a:spcAft>
              <a:buClr>
                <a:schemeClr val="dk1"/>
              </a:buClr>
              <a:buSzPts val="2400"/>
              <a:buChar char="•"/>
            </a:pPr>
            <a:r>
              <a:rPr lang="en-US"/>
              <a:t>Direct interconnect </a:t>
            </a:r>
            <a:endParaRPr/>
          </a:p>
          <a:p>
            <a:pPr indent="-228600" lvl="2" marL="1143000" rtl="0" algn="l">
              <a:lnSpc>
                <a:spcPct val="90000"/>
              </a:lnSpc>
              <a:spcBef>
                <a:spcPts val="500"/>
              </a:spcBef>
              <a:spcAft>
                <a:spcPts val="0"/>
              </a:spcAft>
              <a:buClr>
                <a:schemeClr val="dk1"/>
              </a:buClr>
              <a:buSzPts val="2000"/>
              <a:buChar char="•"/>
            </a:pPr>
            <a:r>
              <a:rPr lang="en-US"/>
              <a:t>Each switch is directly connected to a processor memory pair, and the switches are connected to each other.</a:t>
            </a:r>
            <a:br>
              <a:rPr lang="en-US"/>
            </a:br>
            <a:endParaRPr/>
          </a:p>
          <a:p>
            <a:pPr indent="-228600" lvl="1" marL="685800" rtl="0" algn="l">
              <a:lnSpc>
                <a:spcPct val="90000"/>
              </a:lnSpc>
              <a:spcBef>
                <a:spcPts val="500"/>
              </a:spcBef>
              <a:spcAft>
                <a:spcPts val="0"/>
              </a:spcAft>
              <a:buClr>
                <a:schemeClr val="dk1"/>
              </a:buClr>
              <a:buSzPts val="2400"/>
              <a:buChar char="•"/>
            </a:pPr>
            <a:r>
              <a:rPr lang="en-US"/>
              <a:t>Indirect interconnect</a:t>
            </a:r>
            <a:endParaRPr/>
          </a:p>
          <a:p>
            <a:pPr indent="-228600" lvl="2" marL="1143000" rtl="0" algn="l">
              <a:lnSpc>
                <a:spcPct val="90000"/>
              </a:lnSpc>
              <a:spcBef>
                <a:spcPts val="500"/>
              </a:spcBef>
              <a:spcAft>
                <a:spcPts val="0"/>
              </a:spcAft>
              <a:buClr>
                <a:schemeClr val="dk1"/>
              </a:buClr>
              <a:buSzPts val="2000"/>
              <a:buChar char="•"/>
            </a:pPr>
            <a:r>
              <a:rPr lang="en-US"/>
              <a:t>Switches may not be directly connected to a processor.</a:t>
            </a:r>
            <a:endParaRPr/>
          </a:p>
        </p:txBody>
      </p:sp>
      <p:sp>
        <p:nvSpPr>
          <p:cNvPr id="1189" name="Google Shape;1189;p12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pic>
        <p:nvPicPr>
          <p:cNvPr id="1194" name="Google Shape;1194;p122"/>
          <p:cNvPicPr preferRelativeResize="0"/>
          <p:nvPr/>
        </p:nvPicPr>
        <p:blipFill rotWithShape="1">
          <a:blip r:embed="rId3">
            <a:alphaModFix/>
          </a:blip>
          <a:srcRect b="0" l="0" r="0" t="0"/>
          <a:stretch/>
        </p:blipFill>
        <p:spPr>
          <a:xfrm>
            <a:off x="2566988" y="1196976"/>
            <a:ext cx="7523162" cy="4410075"/>
          </a:xfrm>
          <a:prstGeom prst="rect">
            <a:avLst/>
          </a:prstGeom>
          <a:noFill/>
          <a:ln>
            <a:noFill/>
          </a:ln>
        </p:spPr>
      </p:pic>
      <p:sp>
        <p:nvSpPr>
          <p:cNvPr id="1195" name="Google Shape;1195;p122"/>
          <p:cNvSpPr txBox="1"/>
          <p:nvPr>
            <p:ph type="title"/>
          </p:nvPr>
        </p:nvSpPr>
        <p:spPr>
          <a:xfrm>
            <a:off x="1075646" y="638970"/>
            <a:ext cx="8281987" cy="708025"/>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4400"/>
              <a:buFont typeface="Calibri"/>
              <a:buNone/>
            </a:pPr>
            <a:r>
              <a:rPr lang="en-US"/>
              <a:t>Direct interconnect</a:t>
            </a:r>
            <a:endParaRPr/>
          </a:p>
        </p:txBody>
      </p:sp>
      <p:sp>
        <p:nvSpPr>
          <p:cNvPr id="1196" name="Google Shape;1196;p12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197" name="Google Shape;1197;p122"/>
          <p:cNvSpPr txBox="1"/>
          <p:nvPr/>
        </p:nvSpPr>
        <p:spPr>
          <a:xfrm>
            <a:off x="3216276" y="2205038"/>
            <a:ext cx="13382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2.8</a:t>
            </a:r>
            <a:endParaRPr b="0" i="0" sz="2000" u="none" cap="none" strike="noStrike">
              <a:solidFill>
                <a:srgbClr val="000066"/>
              </a:solidFill>
              <a:latin typeface="Arial"/>
              <a:ea typeface="Arial"/>
              <a:cs typeface="Arial"/>
              <a:sym typeface="Arial"/>
            </a:endParaRPr>
          </a:p>
        </p:txBody>
      </p:sp>
      <p:sp>
        <p:nvSpPr>
          <p:cNvPr id="1198" name="Google Shape;1198;p122"/>
          <p:cNvSpPr txBox="1"/>
          <p:nvPr/>
        </p:nvSpPr>
        <p:spPr>
          <a:xfrm>
            <a:off x="3648076" y="5373688"/>
            <a:ext cx="61277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ring</a:t>
            </a:r>
            <a:endParaRPr b="0" i="0" sz="2000" u="none" cap="none" strike="noStrike">
              <a:solidFill>
                <a:srgbClr val="000066"/>
              </a:solidFill>
              <a:latin typeface="Arial"/>
              <a:ea typeface="Arial"/>
              <a:cs typeface="Arial"/>
              <a:sym typeface="Arial"/>
            </a:endParaRPr>
          </a:p>
        </p:txBody>
      </p:sp>
      <p:sp>
        <p:nvSpPr>
          <p:cNvPr id="1199" name="Google Shape;1199;p122"/>
          <p:cNvSpPr txBox="1"/>
          <p:nvPr/>
        </p:nvSpPr>
        <p:spPr>
          <a:xfrm>
            <a:off x="6672264" y="5373688"/>
            <a:ext cx="172402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toroidal mesh</a:t>
            </a:r>
            <a:endParaRPr b="0" i="0" sz="2000" u="none" cap="none" strike="noStrike">
              <a:solidFill>
                <a:srgbClr val="000066"/>
              </a:solidFill>
              <a:latin typeface="Arial"/>
              <a:ea typeface="Arial"/>
              <a:cs typeface="Arial"/>
              <a:sym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123"/>
          <p:cNvSpPr txBox="1"/>
          <p:nvPr>
            <p:ph type="title"/>
          </p:nvPr>
        </p:nvSpPr>
        <p:spPr>
          <a:xfrm>
            <a:off x="838200" y="559482"/>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Bisection width </a:t>
            </a:r>
            <a:endParaRPr/>
          </a:p>
        </p:txBody>
      </p:sp>
      <p:sp>
        <p:nvSpPr>
          <p:cNvPr id="1205" name="Google Shape;1205;p1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measure of “number of simultaneous communications” or “connectivity”.</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How many simultaneous communications can take place “across the divide” between the halves?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206" name="Google Shape;1206;p12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0AVCOKV0\MC900434789[1].png" id="1207" name="Google Shape;1207;p123"/>
          <p:cNvPicPr preferRelativeResize="0"/>
          <p:nvPr/>
        </p:nvPicPr>
        <p:blipFill rotWithShape="1">
          <a:blip r:embed="rId3">
            <a:alphaModFix/>
          </a:blip>
          <a:srcRect b="0" l="0" r="0" t="0"/>
          <a:stretch/>
        </p:blipFill>
        <p:spPr>
          <a:xfrm>
            <a:off x="7824788" y="3933826"/>
            <a:ext cx="1827212" cy="1827213"/>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124"/>
          <p:cNvSpPr txBox="1"/>
          <p:nvPr>
            <p:ph type="title"/>
          </p:nvPr>
        </p:nvSpPr>
        <p:spPr>
          <a:xfrm>
            <a:off x="1307307" y="641576"/>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Two bisections of a ring</a:t>
            </a:r>
            <a:endParaRPr/>
          </a:p>
        </p:txBody>
      </p:sp>
      <p:sp>
        <p:nvSpPr>
          <p:cNvPr id="1213" name="Google Shape;1213;p12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214" name="Google Shape;1214;p124"/>
          <p:cNvSpPr txBox="1"/>
          <p:nvPr/>
        </p:nvSpPr>
        <p:spPr>
          <a:xfrm>
            <a:off x="5448301" y="5157788"/>
            <a:ext cx="133826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2.9</a:t>
            </a:r>
            <a:endParaRPr b="0" i="0" sz="2000" u="none" cap="none" strike="noStrike">
              <a:solidFill>
                <a:srgbClr val="000066"/>
              </a:solidFill>
              <a:latin typeface="Arial"/>
              <a:ea typeface="Arial"/>
              <a:cs typeface="Arial"/>
              <a:sym typeface="Arial"/>
            </a:endParaRPr>
          </a:p>
        </p:txBody>
      </p:sp>
      <p:pic>
        <p:nvPicPr>
          <p:cNvPr id="1215" name="Google Shape;1215;p124"/>
          <p:cNvPicPr preferRelativeResize="0"/>
          <p:nvPr/>
        </p:nvPicPr>
        <p:blipFill rotWithShape="1">
          <a:blip r:embed="rId3">
            <a:alphaModFix/>
          </a:blip>
          <a:srcRect b="0" l="0" r="0" t="0"/>
          <a:stretch/>
        </p:blipFill>
        <p:spPr>
          <a:xfrm>
            <a:off x="2238376" y="1747839"/>
            <a:ext cx="7713663" cy="336232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25"/>
          <p:cNvSpPr txBox="1"/>
          <p:nvPr>
            <p:ph type="title"/>
          </p:nvPr>
        </p:nvSpPr>
        <p:spPr>
          <a:xfrm>
            <a:off x="2135189" y="1095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 bisection of a toroidal mesh</a:t>
            </a:r>
            <a:endParaRPr/>
          </a:p>
        </p:txBody>
      </p:sp>
      <p:sp>
        <p:nvSpPr>
          <p:cNvPr id="1221" name="Google Shape;1221;p12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10-9780123742605.eps" id="1222" name="Google Shape;1222;p125"/>
          <p:cNvPicPr preferRelativeResize="0"/>
          <p:nvPr/>
        </p:nvPicPr>
        <p:blipFill rotWithShape="1">
          <a:blip r:embed="rId3">
            <a:alphaModFix/>
          </a:blip>
          <a:srcRect b="0" l="0" r="0" t="0"/>
          <a:stretch/>
        </p:blipFill>
        <p:spPr>
          <a:xfrm>
            <a:off x="3287713" y="1268414"/>
            <a:ext cx="5111750" cy="3825875"/>
          </a:xfrm>
          <a:prstGeom prst="rect">
            <a:avLst/>
          </a:prstGeom>
          <a:noFill/>
          <a:ln>
            <a:noFill/>
          </a:ln>
        </p:spPr>
      </p:pic>
      <p:sp>
        <p:nvSpPr>
          <p:cNvPr id="1223" name="Google Shape;1223;p125"/>
          <p:cNvSpPr txBox="1"/>
          <p:nvPr/>
        </p:nvSpPr>
        <p:spPr>
          <a:xfrm>
            <a:off x="5232400" y="5373688"/>
            <a:ext cx="1481138"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2.10</a:t>
            </a:r>
            <a:endParaRPr b="0" i="0" sz="2000" u="none" cap="none" strike="noStrike">
              <a:solidFill>
                <a:srgbClr val="000066"/>
              </a:solidFill>
              <a:latin typeface="Arial"/>
              <a:ea typeface="Arial"/>
              <a:cs typeface="Arial"/>
              <a:sym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1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Definitions  </a:t>
            </a:r>
            <a:endParaRPr/>
          </a:p>
        </p:txBody>
      </p:sp>
      <p:sp>
        <p:nvSpPr>
          <p:cNvPr id="1229" name="Google Shape;1229;p1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Bandwidth </a:t>
            </a:r>
            <a:endParaRPr/>
          </a:p>
          <a:p>
            <a:pPr indent="-228600" lvl="1" marL="685800" rtl="0" algn="l">
              <a:lnSpc>
                <a:spcPct val="90000"/>
              </a:lnSpc>
              <a:spcBef>
                <a:spcPts val="500"/>
              </a:spcBef>
              <a:spcAft>
                <a:spcPts val="0"/>
              </a:spcAft>
              <a:buClr>
                <a:schemeClr val="dk1"/>
              </a:buClr>
              <a:buSzPts val="2400"/>
              <a:buChar char="•"/>
            </a:pPr>
            <a:r>
              <a:rPr lang="en-US"/>
              <a:t>The rate at which a link can transmit data.</a:t>
            </a:r>
            <a:endParaRPr/>
          </a:p>
          <a:p>
            <a:pPr indent="-228600" lvl="1" marL="685800" rtl="0" algn="l">
              <a:lnSpc>
                <a:spcPct val="90000"/>
              </a:lnSpc>
              <a:spcBef>
                <a:spcPts val="500"/>
              </a:spcBef>
              <a:spcAft>
                <a:spcPts val="0"/>
              </a:spcAft>
              <a:buClr>
                <a:schemeClr val="dk1"/>
              </a:buClr>
              <a:buSzPts val="2400"/>
              <a:buChar char="•"/>
            </a:pPr>
            <a:r>
              <a:rPr lang="en-US"/>
              <a:t>Usually given in megabits or megabytes per second.</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Bisection bandwidth</a:t>
            </a:r>
            <a:endParaRPr/>
          </a:p>
          <a:p>
            <a:pPr indent="-228600" lvl="1" marL="685800" rtl="0" algn="l">
              <a:lnSpc>
                <a:spcPct val="90000"/>
              </a:lnSpc>
              <a:spcBef>
                <a:spcPts val="500"/>
              </a:spcBef>
              <a:spcAft>
                <a:spcPts val="0"/>
              </a:spcAft>
              <a:buClr>
                <a:schemeClr val="dk1"/>
              </a:buClr>
              <a:buSzPts val="2400"/>
              <a:buChar char="•"/>
            </a:pPr>
            <a:r>
              <a:rPr lang="en-US"/>
              <a:t>A measure of network quality.</a:t>
            </a:r>
            <a:endParaRPr/>
          </a:p>
          <a:p>
            <a:pPr indent="-228600" lvl="1" marL="685800" rtl="0" algn="l">
              <a:lnSpc>
                <a:spcPct val="90000"/>
              </a:lnSpc>
              <a:spcBef>
                <a:spcPts val="500"/>
              </a:spcBef>
              <a:spcAft>
                <a:spcPts val="0"/>
              </a:spcAft>
              <a:buClr>
                <a:schemeClr val="dk1"/>
              </a:buClr>
              <a:buSzPts val="2400"/>
              <a:buChar char="•"/>
            </a:pPr>
            <a:r>
              <a:rPr lang="en-US"/>
              <a:t>Instead of counting the number of links joining the halves, it sums the bandwidth of the links.</a:t>
            </a:r>
            <a:endParaRPr/>
          </a:p>
        </p:txBody>
      </p:sp>
      <p:sp>
        <p:nvSpPr>
          <p:cNvPr id="1230" name="Google Shape;1230;p12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4" name="Shape 1234"/>
        <p:cNvGrpSpPr/>
        <p:nvPr/>
      </p:nvGrpSpPr>
      <p:grpSpPr>
        <a:xfrm>
          <a:off x="0" y="0"/>
          <a:ext cx="0" cy="0"/>
          <a:chOff x="0" y="0"/>
          <a:chExt cx="0" cy="0"/>
        </a:xfrm>
      </p:grpSpPr>
      <p:sp>
        <p:nvSpPr>
          <p:cNvPr id="1235" name="Google Shape;1235;p127"/>
          <p:cNvSpPr txBox="1"/>
          <p:nvPr>
            <p:ph type="title"/>
          </p:nvPr>
        </p:nvSpPr>
        <p:spPr>
          <a:xfrm>
            <a:off x="2135189" y="1095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Fully connected network</a:t>
            </a:r>
            <a:endParaRPr/>
          </a:p>
        </p:txBody>
      </p:sp>
      <p:sp>
        <p:nvSpPr>
          <p:cNvPr id="1236" name="Google Shape;1236;p127"/>
          <p:cNvSpPr txBox="1"/>
          <p:nvPr>
            <p:ph idx="1" type="body"/>
          </p:nvPr>
        </p:nvSpPr>
        <p:spPr>
          <a:xfrm>
            <a:off x="2208214" y="1125539"/>
            <a:ext cx="8270875" cy="11509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Each switch is directly connected to every other switch.</a:t>
            </a:r>
            <a:endParaRPr/>
          </a:p>
        </p:txBody>
      </p:sp>
      <p:sp>
        <p:nvSpPr>
          <p:cNvPr id="1237" name="Google Shape;1237;p12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11-9780123742605.eps" id="1238" name="Google Shape;1238;p127"/>
          <p:cNvPicPr preferRelativeResize="0"/>
          <p:nvPr/>
        </p:nvPicPr>
        <p:blipFill rotWithShape="1">
          <a:blip r:embed="rId3">
            <a:alphaModFix/>
          </a:blip>
          <a:srcRect b="0" l="0" r="0" t="0"/>
          <a:stretch/>
        </p:blipFill>
        <p:spPr>
          <a:xfrm>
            <a:off x="5735638" y="2276475"/>
            <a:ext cx="4032250" cy="2393950"/>
          </a:xfrm>
          <a:prstGeom prst="rect">
            <a:avLst/>
          </a:prstGeom>
          <a:noFill/>
          <a:ln>
            <a:noFill/>
          </a:ln>
        </p:spPr>
      </p:pic>
      <p:sp>
        <p:nvSpPr>
          <p:cNvPr id="1239" name="Google Shape;1239;p127"/>
          <p:cNvSpPr txBox="1"/>
          <p:nvPr/>
        </p:nvSpPr>
        <p:spPr>
          <a:xfrm>
            <a:off x="6959601" y="5084763"/>
            <a:ext cx="1463675"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2.11</a:t>
            </a:r>
            <a:endParaRPr b="0" i="0" sz="2000" u="none" cap="none" strike="noStrike">
              <a:solidFill>
                <a:srgbClr val="000066"/>
              </a:solidFill>
              <a:latin typeface="Arial"/>
              <a:ea typeface="Arial"/>
              <a:cs typeface="Arial"/>
              <a:sym typeface="Arial"/>
            </a:endParaRPr>
          </a:p>
        </p:txBody>
      </p:sp>
      <p:sp>
        <p:nvSpPr>
          <p:cNvPr id="1240" name="Google Shape;1240;p127"/>
          <p:cNvSpPr/>
          <p:nvPr/>
        </p:nvSpPr>
        <p:spPr>
          <a:xfrm>
            <a:off x="2782889" y="4292601"/>
            <a:ext cx="34575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B050"/>
                </a:solidFill>
                <a:latin typeface="Arial"/>
                <a:ea typeface="Arial"/>
                <a:cs typeface="Arial"/>
                <a:sym typeface="Arial"/>
              </a:rPr>
              <a:t>bisection width = p</a:t>
            </a:r>
            <a:r>
              <a:rPr b="0" baseline="30000" i="0" lang="en-US" sz="2400" u="none" cap="none" strike="noStrike">
                <a:solidFill>
                  <a:srgbClr val="00B050"/>
                </a:solidFill>
                <a:latin typeface="Arial"/>
                <a:ea typeface="Arial"/>
                <a:cs typeface="Arial"/>
                <a:sym typeface="Arial"/>
              </a:rPr>
              <a:t>2</a:t>
            </a:r>
            <a:r>
              <a:rPr b="0" i="0" lang="en-US" sz="2400" u="none" cap="none" strike="noStrike">
                <a:solidFill>
                  <a:srgbClr val="00B050"/>
                </a:solidFill>
                <a:latin typeface="Old Standard TT"/>
                <a:ea typeface="Old Standard TT"/>
                <a:cs typeface="Old Standard TT"/>
                <a:sym typeface="Old Standard TT"/>
              </a:rPr>
              <a:t>/</a:t>
            </a:r>
            <a:r>
              <a:rPr b="0" i="0" lang="en-US" sz="2400" u="none" cap="none" strike="noStrike">
                <a:solidFill>
                  <a:srgbClr val="00B050"/>
                </a:solidFill>
                <a:latin typeface="Arial"/>
                <a:ea typeface="Arial"/>
                <a:cs typeface="Arial"/>
                <a:sym typeface="Arial"/>
              </a:rPr>
              <a:t>4</a:t>
            </a:r>
            <a:endParaRPr b="0" i="0" sz="2400" u="none" cap="none" strike="noStrike">
              <a:solidFill>
                <a:srgbClr val="00B050"/>
              </a:solidFill>
              <a:latin typeface="Arial Black"/>
              <a:ea typeface="Arial Black"/>
              <a:cs typeface="Arial Black"/>
              <a:sym typeface="Arial Black"/>
            </a:endParaRPr>
          </a:p>
        </p:txBody>
      </p:sp>
      <p:sp>
        <p:nvSpPr>
          <p:cNvPr id="1241" name="Google Shape;1241;p127"/>
          <p:cNvSpPr/>
          <p:nvPr/>
        </p:nvSpPr>
        <p:spPr>
          <a:xfrm rot="-2796285">
            <a:off x="3021013" y="2820988"/>
            <a:ext cx="2143125"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C00000"/>
                </a:solidFill>
                <a:latin typeface="Arial"/>
                <a:ea typeface="Arial"/>
                <a:cs typeface="Arial"/>
                <a:sym typeface="Arial"/>
              </a:rPr>
              <a:t>impractical</a:t>
            </a:r>
            <a:endParaRPr b="0" i="0" sz="3200" u="none" cap="none" strike="noStrike">
              <a:solidFill>
                <a:srgbClr val="C00000"/>
              </a:solidFill>
              <a:latin typeface="Calibri"/>
              <a:ea typeface="Calibri"/>
              <a:cs typeface="Calibri"/>
              <a:sym typeface="Calibri"/>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p1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Hypercube</a:t>
            </a:r>
            <a:endParaRPr/>
          </a:p>
        </p:txBody>
      </p:sp>
      <p:sp>
        <p:nvSpPr>
          <p:cNvPr id="1247" name="Google Shape;1247;p1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Highly connected direct interconnect.</a:t>
            </a:r>
            <a:endParaRPr/>
          </a:p>
          <a:p>
            <a:pPr indent="-228600" lvl="0" marL="228600" rtl="0" algn="l">
              <a:lnSpc>
                <a:spcPct val="90000"/>
              </a:lnSpc>
              <a:spcBef>
                <a:spcPts val="1000"/>
              </a:spcBef>
              <a:spcAft>
                <a:spcPts val="0"/>
              </a:spcAft>
              <a:buClr>
                <a:schemeClr val="dk1"/>
              </a:buClr>
              <a:buSzPts val="2800"/>
              <a:buChar char="•"/>
            </a:pPr>
            <a:r>
              <a:rPr lang="en-US"/>
              <a:t>Built inductively:</a:t>
            </a:r>
            <a:endParaRPr/>
          </a:p>
          <a:p>
            <a:pPr indent="-228600" lvl="1" marL="685800" rtl="0" algn="l">
              <a:lnSpc>
                <a:spcPct val="90000"/>
              </a:lnSpc>
              <a:spcBef>
                <a:spcPts val="500"/>
              </a:spcBef>
              <a:spcAft>
                <a:spcPts val="0"/>
              </a:spcAft>
              <a:buClr>
                <a:schemeClr val="dk1"/>
              </a:buClr>
              <a:buSzPts val="2400"/>
              <a:buChar char="•"/>
            </a:pPr>
            <a:r>
              <a:rPr lang="en-US"/>
              <a:t>A </a:t>
            </a:r>
            <a:r>
              <a:rPr lang="en-US">
                <a:solidFill>
                  <a:srgbClr val="00B050"/>
                </a:solidFill>
              </a:rPr>
              <a:t>one-dimensional hypercube </a:t>
            </a:r>
            <a:r>
              <a:rPr lang="en-US"/>
              <a:t>is a fully-connected system with two processors. </a:t>
            </a:r>
            <a:endParaRPr/>
          </a:p>
          <a:p>
            <a:pPr indent="-228600" lvl="1" marL="685800" rtl="0" algn="l">
              <a:lnSpc>
                <a:spcPct val="90000"/>
              </a:lnSpc>
              <a:spcBef>
                <a:spcPts val="500"/>
              </a:spcBef>
              <a:spcAft>
                <a:spcPts val="0"/>
              </a:spcAft>
              <a:buClr>
                <a:schemeClr val="dk1"/>
              </a:buClr>
              <a:buSzPts val="2400"/>
              <a:buChar char="•"/>
            </a:pPr>
            <a:r>
              <a:rPr lang="en-US"/>
              <a:t>A </a:t>
            </a:r>
            <a:r>
              <a:rPr lang="en-US">
                <a:solidFill>
                  <a:srgbClr val="00B050"/>
                </a:solidFill>
              </a:rPr>
              <a:t>two-dimensional hypercube </a:t>
            </a:r>
            <a:r>
              <a:rPr lang="en-US"/>
              <a:t>is built from two one-dimensional hypercubes by joining “corresponding” switches. </a:t>
            </a:r>
            <a:endParaRPr/>
          </a:p>
          <a:p>
            <a:pPr indent="-228600" lvl="1" marL="685800" rtl="0" algn="l">
              <a:lnSpc>
                <a:spcPct val="90000"/>
              </a:lnSpc>
              <a:spcBef>
                <a:spcPts val="500"/>
              </a:spcBef>
              <a:spcAft>
                <a:spcPts val="0"/>
              </a:spcAft>
              <a:buClr>
                <a:schemeClr val="dk1"/>
              </a:buClr>
              <a:buSzPts val="2400"/>
              <a:buChar char="•"/>
            </a:pPr>
            <a:r>
              <a:rPr lang="en-US"/>
              <a:t>Similarly a </a:t>
            </a:r>
            <a:r>
              <a:rPr lang="en-US">
                <a:solidFill>
                  <a:srgbClr val="00B050"/>
                </a:solidFill>
              </a:rPr>
              <a:t>three-dimensional hypercube </a:t>
            </a:r>
            <a:r>
              <a:rPr lang="en-US"/>
              <a:t>is built from two two-dimensional hypercubes.</a:t>
            </a:r>
            <a:endParaRPr/>
          </a:p>
        </p:txBody>
      </p:sp>
      <p:sp>
        <p:nvSpPr>
          <p:cNvPr id="1248" name="Google Shape;1248;p12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pic>
        <p:nvPicPr>
          <p:cNvPr id="1253" name="Google Shape;1253;p129"/>
          <p:cNvPicPr preferRelativeResize="0"/>
          <p:nvPr/>
        </p:nvPicPr>
        <p:blipFill rotWithShape="1">
          <a:blip r:embed="rId3">
            <a:alphaModFix/>
          </a:blip>
          <a:srcRect b="0" l="0" r="0" t="0"/>
          <a:stretch/>
        </p:blipFill>
        <p:spPr>
          <a:xfrm>
            <a:off x="1703389" y="1557338"/>
            <a:ext cx="8180387" cy="3657600"/>
          </a:xfrm>
          <a:prstGeom prst="rect">
            <a:avLst/>
          </a:prstGeom>
          <a:noFill/>
          <a:ln>
            <a:noFill/>
          </a:ln>
        </p:spPr>
      </p:pic>
      <p:sp>
        <p:nvSpPr>
          <p:cNvPr id="1254" name="Google Shape;1254;p1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Hypercubes</a:t>
            </a:r>
            <a:endParaRPr/>
          </a:p>
        </p:txBody>
      </p:sp>
      <p:sp>
        <p:nvSpPr>
          <p:cNvPr id="1255" name="Google Shape;1255;p12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256" name="Google Shape;1256;p129"/>
          <p:cNvSpPr txBox="1"/>
          <p:nvPr/>
        </p:nvSpPr>
        <p:spPr>
          <a:xfrm>
            <a:off x="2495550" y="1628775"/>
            <a:ext cx="1481138"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2.12</a:t>
            </a:r>
            <a:endParaRPr b="0" i="0" sz="2000" u="none" cap="none" strike="noStrike">
              <a:solidFill>
                <a:srgbClr val="000066"/>
              </a:solidFill>
              <a:latin typeface="Arial"/>
              <a:ea typeface="Arial"/>
              <a:cs typeface="Arial"/>
              <a:sym typeface="Arial"/>
            </a:endParaRPr>
          </a:p>
        </p:txBody>
      </p:sp>
      <p:sp>
        <p:nvSpPr>
          <p:cNvPr id="1257" name="Google Shape;1257;p129"/>
          <p:cNvSpPr/>
          <p:nvPr/>
        </p:nvSpPr>
        <p:spPr>
          <a:xfrm>
            <a:off x="2640014" y="5084763"/>
            <a:ext cx="801687"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one-</a:t>
            </a:r>
            <a:endParaRPr b="0" i="0" sz="2400" u="none" cap="none" strike="noStrike">
              <a:solidFill>
                <a:schemeClr val="dk1"/>
              </a:solidFill>
              <a:latin typeface="Arial Black"/>
              <a:ea typeface="Arial Black"/>
              <a:cs typeface="Arial Black"/>
              <a:sym typeface="Arial Black"/>
            </a:endParaRPr>
          </a:p>
        </p:txBody>
      </p:sp>
      <p:sp>
        <p:nvSpPr>
          <p:cNvPr id="1258" name="Google Shape;1258;p129"/>
          <p:cNvSpPr/>
          <p:nvPr/>
        </p:nvSpPr>
        <p:spPr>
          <a:xfrm>
            <a:off x="6816725" y="5084763"/>
            <a:ext cx="263525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three-dimensional</a:t>
            </a:r>
            <a:endParaRPr b="0" i="0" sz="2400" u="none" cap="none" strike="noStrike">
              <a:solidFill>
                <a:schemeClr val="dk1"/>
              </a:solidFill>
              <a:latin typeface="Arial Black"/>
              <a:ea typeface="Arial Black"/>
              <a:cs typeface="Arial Black"/>
              <a:sym typeface="Arial Black"/>
            </a:endParaRPr>
          </a:p>
        </p:txBody>
      </p:sp>
      <p:sp>
        <p:nvSpPr>
          <p:cNvPr id="1259" name="Google Shape;1259;p129"/>
          <p:cNvSpPr/>
          <p:nvPr/>
        </p:nvSpPr>
        <p:spPr>
          <a:xfrm>
            <a:off x="5087938" y="5084763"/>
            <a:ext cx="76676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two-</a:t>
            </a:r>
            <a:endParaRPr b="0" i="0" sz="24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130"/>
          <p:cNvSpPr txBox="1"/>
          <p:nvPr>
            <p:ph type="title"/>
          </p:nvPr>
        </p:nvSpPr>
        <p:spPr>
          <a:xfrm>
            <a:off x="838200" y="544968"/>
            <a:ext cx="8281987" cy="708025"/>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4400"/>
              <a:buFont typeface="Calibri"/>
              <a:buNone/>
            </a:pPr>
            <a:r>
              <a:rPr lang="en-US"/>
              <a:t>Indirect interconnects</a:t>
            </a:r>
            <a:endParaRPr/>
          </a:p>
        </p:txBody>
      </p:sp>
      <p:sp>
        <p:nvSpPr>
          <p:cNvPr id="1265" name="Google Shape;1265;p1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Simple examples of indirect networks:</a:t>
            </a:r>
            <a:endParaRPr/>
          </a:p>
          <a:p>
            <a:pPr indent="-228600" lvl="1" marL="685800" rtl="0" algn="l">
              <a:lnSpc>
                <a:spcPct val="90000"/>
              </a:lnSpc>
              <a:spcBef>
                <a:spcPts val="500"/>
              </a:spcBef>
              <a:spcAft>
                <a:spcPts val="0"/>
              </a:spcAft>
              <a:buClr>
                <a:srgbClr val="00B050"/>
              </a:buClr>
              <a:buSzPts val="2400"/>
              <a:buChar char="•"/>
            </a:pPr>
            <a:r>
              <a:rPr lang="en-US">
                <a:solidFill>
                  <a:srgbClr val="00B050"/>
                </a:solidFill>
              </a:rPr>
              <a:t>Crossbar</a:t>
            </a:r>
            <a:endParaRPr/>
          </a:p>
          <a:p>
            <a:pPr indent="-228600" lvl="1" marL="685800" rtl="0" algn="l">
              <a:lnSpc>
                <a:spcPct val="90000"/>
              </a:lnSpc>
              <a:spcBef>
                <a:spcPts val="500"/>
              </a:spcBef>
              <a:spcAft>
                <a:spcPts val="0"/>
              </a:spcAft>
              <a:buClr>
                <a:srgbClr val="00B050"/>
              </a:buClr>
              <a:buSzPts val="2400"/>
              <a:buChar char="•"/>
            </a:pPr>
            <a:r>
              <a:rPr lang="en-US">
                <a:solidFill>
                  <a:srgbClr val="00B050"/>
                </a:solidFill>
              </a:rPr>
              <a:t>Omega network</a:t>
            </a:r>
            <a:br>
              <a:rPr lang="en-US"/>
            </a:br>
            <a:endParaRPr/>
          </a:p>
          <a:p>
            <a:pPr indent="-228600" lvl="0" marL="228600" rtl="0" algn="l">
              <a:lnSpc>
                <a:spcPct val="90000"/>
              </a:lnSpc>
              <a:spcBef>
                <a:spcPts val="1000"/>
              </a:spcBef>
              <a:spcAft>
                <a:spcPts val="0"/>
              </a:spcAft>
              <a:buClr>
                <a:schemeClr val="dk1"/>
              </a:buClr>
              <a:buSzPts val="2800"/>
              <a:buChar char="•"/>
            </a:pPr>
            <a:r>
              <a:rPr lang="en-US"/>
              <a:t>Often shown with unidirectional links and a collection of processors, each of which has an outgoing and an incoming link, and a switching network.</a:t>
            </a:r>
            <a:endParaRPr/>
          </a:p>
        </p:txBody>
      </p:sp>
      <p:sp>
        <p:nvSpPr>
          <p:cNvPr id="1266" name="Google Shape;1266;p13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31"/>
          <p:cNvSpPr txBox="1"/>
          <p:nvPr>
            <p:ph type="title"/>
          </p:nvPr>
        </p:nvSpPr>
        <p:spPr>
          <a:xfrm>
            <a:off x="2135189" y="1095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50"/>
              </a:buClr>
              <a:buSzPts val="4400"/>
              <a:buFont typeface="Arial"/>
              <a:buNone/>
            </a:pPr>
            <a:r>
              <a:rPr lang="en-US">
                <a:solidFill>
                  <a:srgbClr val="00B050"/>
                </a:solidFill>
                <a:latin typeface="Arial"/>
                <a:ea typeface="Arial"/>
                <a:cs typeface="Arial"/>
                <a:sym typeface="Arial"/>
              </a:rPr>
              <a:t>A generic indirect network</a:t>
            </a:r>
            <a:endParaRPr/>
          </a:p>
        </p:txBody>
      </p:sp>
      <p:sp>
        <p:nvSpPr>
          <p:cNvPr id="1272" name="Google Shape;1272;p13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273" name="Google Shape;1273;p131"/>
          <p:cNvSpPr txBox="1"/>
          <p:nvPr/>
        </p:nvSpPr>
        <p:spPr>
          <a:xfrm>
            <a:off x="4943475" y="5661025"/>
            <a:ext cx="1481138"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2.13</a:t>
            </a:r>
            <a:endParaRPr b="0" i="0" sz="2000" u="none" cap="none" strike="noStrike">
              <a:solidFill>
                <a:srgbClr val="000066"/>
              </a:solidFill>
              <a:latin typeface="Arial"/>
              <a:ea typeface="Arial"/>
              <a:cs typeface="Arial"/>
              <a:sym typeface="Arial"/>
            </a:endParaRPr>
          </a:p>
        </p:txBody>
      </p:sp>
      <p:pic>
        <p:nvPicPr>
          <p:cNvPr id="1274" name="Google Shape;1274;p131"/>
          <p:cNvPicPr preferRelativeResize="0"/>
          <p:nvPr/>
        </p:nvPicPr>
        <p:blipFill rotWithShape="1">
          <a:blip r:embed="rId3">
            <a:alphaModFix/>
          </a:blip>
          <a:srcRect b="0" l="0" r="0" t="0"/>
          <a:stretch/>
        </p:blipFill>
        <p:spPr>
          <a:xfrm>
            <a:off x="2747964" y="1166814"/>
            <a:ext cx="6694487" cy="452437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pic>
        <p:nvPicPr>
          <p:cNvPr id="1279" name="Google Shape;1279;p132"/>
          <p:cNvPicPr preferRelativeResize="0"/>
          <p:nvPr/>
        </p:nvPicPr>
        <p:blipFill rotWithShape="1">
          <a:blip r:embed="rId3">
            <a:alphaModFix/>
          </a:blip>
          <a:srcRect b="0" l="0" r="0" t="0"/>
          <a:stretch/>
        </p:blipFill>
        <p:spPr>
          <a:xfrm>
            <a:off x="2566989" y="1484313"/>
            <a:ext cx="6637337" cy="4246562"/>
          </a:xfrm>
          <a:prstGeom prst="rect">
            <a:avLst/>
          </a:prstGeom>
          <a:noFill/>
          <a:ln>
            <a:noFill/>
          </a:ln>
        </p:spPr>
      </p:pic>
      <p:sp>
        <p:nvSpPr>
          <p:cNvPr id="1280" name="Google Shape;1280;p132"/>
          <p:cNvSpPr txBox="1"/>
          <p:nvPr>
            <p:ph type="title"/>
          </p:nvPr>
        </p:nvSpPr>
        <p:spPr>
          <a:xfrm>
            <a:off x="2135189" y="157163"/>
            <a:ext cx="8281987" cy="1231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700"/>
              <a:buFont typeface="Calibri"/>
              <a:buNone/>
            </a:pPr>
            <a:r>
              <a:rPr lang="en-US" sz="3700"/>
              <a:t>Crossbar interconnect for distributed memory</a:t>
            </a:r>
            <a:endParaRPr/>
          </a:p>
        </p:txBody>
      </p:sp>
      <p:sp>
        <p:nvSpPr>
          <p:cNvPr id="1281" name="Google Shape;1281;p13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282" name="Google Shape;1282;p132"/>
          <p:cNvSpPr txBox="1"/>
          <p:nvPr/>
        </p:nvSpPr>
        <p:spPr>
          <a:xfrm>
            <a:off x="5087939" y="5661025"/>
            <a:ext cx="1481137"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2.14</a:t>
            </a:r>
            <a:endParaRPr b="0" i="0" sz="2000" u="none" cap="none" strike="noStrike">
              <a:solidFill>
                <a:srgbClr val="000066"/>
              </a:solidFill>
              <a:latin typeface="Arial"/>
              <a:ea typeface="Arial"/>
              <a:cs typeface="Arial"/>
              <a:sym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33"/>
          <p:cNvSpPr txBox="1"/>
          <p:nvPr>
            <p:ph type="title"/>
          </p:nvPr>
        </p:nvSpPr>
        <p:spPr>
          <a:xfrm>
            <a:off x="2135189" y="1095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 omega network</a:t>
            </a:r>
            <a:endParaRPr/>
          </a:p>
        </p:txBody>
      </p:sp>
      <p:sp>
        <p:nvSpPr>
          <p:cNvPr id="1288" name="Google Shape;1288;p13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289" name="Google Shape;1289;p133"/>
          <p:cNvSpPr txBox="1"/>
          <p:nvPr/>
        </p:nvSpPr>
        <p:spPr>
          <a:xfrm>
            <a:off x="2208214" y="5589588"/>
            <a:ext cx="1481137"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2.15</a:t>
            </a:r>
            <a:endParaRPr b="0" i="0" sz="2000" u="none" cap="none" strike="noStrike">
              <a:solidFill>
                <a:srgbClr val="000066"/>
              </a:solidFill>
              <a:latin typeface="Arial"/>
              <a:ea typeface="Arial"/>
              <a:cs typeface="Arial"/>
              <a:sym typeface="Arial"/>
            </a:endParaRPr>
          </a:p>
        </p:txBody>
      </p:sp>
      <p:pic>
        <p:nvPicPr>
          <p:cNvPr id="1290" name="Google Shape;1290;p133"/>
          <p:cNvPicPr preferRelativeResize="0"/>
          <p:nvPr/>
        </p:nvPicPr>
        <p:blipFill rotWithShape="1">
          <a:blip r:embed="rId3">
            <a:alphaModFix/>
          </a:blip>
          <a:srcRect b="0" l="0" r="0" t="0"/>
          <a:stretch/>
        </p:blipFill>
        <p:spPr>
          <a:xfrm>
            <a:off x="4224338" y="908050"/>
            <a:ext cx="5148262" cy="5118100"/>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134"/>
          <p:cNvSpPr txBox="1"/>
          <p:nvPr>
            <p:ph type="title"/>
          </p:nvPr>
        </p:nvSpPr>
        <p:spPr>
          <a:xfrm>
            <a:off x="1453017" y="588510"/>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 switch in an omega network</a:t>
            </a:r>
            <a:endParaRPr/>
          </a:p>
        </p:txBody>
      </p:sp>
      <p:sp>
        <p:nvSpPr>
          <p:cNvPr id="1296" name="Google Shape;1296;p13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297" name="Google Shape;1297;p134"/>
          <p:cNvSpPr txBox="1"/>
          <p:nvPr/>
        </p:nvSpPr>
        <p:spPr>
          <a:xfrm>
            <a:off x="5303839" y="4941888"/>
            <a:ext cx="1481137"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2.16</a:t>
            </a:r>
            <a:endParaRPr b="0" i="0" sz="2000" u="none" cap="none" strike="noStrike">
              <a:solidFill>
                <a:srgbClr val="000066"/>
              </a:solidFill>
              <a:latin typeface="Arial"/>
              <a:ea typeface="Arial"/>
              <a:cs typeface="Arial"/>
              <a:sym typeface="Arial"/>
            </a:endParaRPr>
          </a:p>
        </p:txBody>
      </p:sp>
      <p:pic>
        <p:nvPicPr>
          <p:cNvPr id="1298" name="Google Shape;1298;p134"/>
          <p:cNvPicPr preferRelativeResize="0"/>
          <p:nvPr/>
        </p:nvPicPr>
        <p:blipFill rotWithShape="1">
          <a:blip r:embed="rId3">
            <a:alphaModFix/>
          </a:blip>
          <a:srcRect b="0" l="0" r="0" t="0"/>
          <a:stretch/>
        </p:blipFill>
        <p:spPr>
          <a:xfrm>
            <a:off x="3971925" y="2171700"/>
            <a:ext cx="4248150" cy="251460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definitions</a:t>
            </a:r>
            <a:endParaRPr/>
          </a:p>
        </p:txBody>
      </p:sp>
      <p:sp>
        <p:nvSpPr>
          <p:cNvPr id="1304" name="Google Shape;1304;p135"/>
          <p:cNvSpPr txBox="1"/>
          <p:nvPr>
            <p:ph idx="1" type="body"/>
          </p:nvPr>
        </p:nvSpPr>
        <p:spPr>
          <a:xfrm>
            <a:off x="1132227" y="1553029"/>
            <a:ext cx="9927546" cy="464139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Any time data is transmitted, we’re interested in how long it will take for the data to reach its destination.</a:t>
            </a:r>
            <a:endParaRPr/>
          </a:p>
          <a:p>
            <a:pPr indent="-228600" lvl="0" marL="228600" rtl="0" algn="l">
              <a:lnSpc>
                <a:spcPct val="90000"/>
              </a:lnSpc>
              <a:spcBef>
                <a:spcPts val="1000"/>
              </a:spcBef>
              <a:spcAft>
                <a:spcPts val="0"/>
              </a:spcAft>
              <a:buClr>
                <a:srgbClr val="C00000"/>
              </a:buClr>
              <a:buSzPts val="2800"/>
              <a:buChar char="•"/>
            </a:pPr>
            <a:r>
              <a:rPr lang="en-US">
                <a:solidFill>
                  <a:srgbClr val="C00000"/>
                </a:solidFill>
              </a:rPr>
              <a:t>Latency</a:t>
            </a:r>
            <a:endParaRPr/>
          </a:p>
          <a:p>
            <a:pPr indent="-228600" lvl="1" marL="685800" rtl="0" algn="l">
              <a:lnSpc>
                <a:spcPct val="90000"/>
              </a:lnSpc>
              <a:spcBef>
                <a:spcPts val="500"/>
              </a:spcBef>
              <a:spcAft>
                <a:spcPts val="0"/>
              </a:spcAft>
              <a:buClr>
                <a:schemeClr val="dk1"/>
              </a:buClr>
              <a:buSzPts val="2400"/>
              <a:buChar char="•"/>
            </a:pPr>
            <a:r>
              <a:rPr lang="en-US"/>
              <a:t>The time that elapses between the source’s beginning to transmit the data and the destination’s starting to receive the first byte.</a:t>
            </a:r>
            <a:endParaRPr/>
          </a:p>
          <a:p>
            <a:pPr indent="-228600" lvl="0" marL="228600" rtl="0" algn="l">
              <a:lnSpc>
                <a:spcPct val="90000"/>
              </a:lnSpc>
              <a:spcBef>
                <a:spcPts val="1000"/>
              </a:spcBef>
              <a:spcAft>
                <a:spcPts val="0"/>
              </a:spcAft>
              <a:buClr>
                <a:srgbClr val="C00000"/>
              </a:buClr>
              <a:buSzPts val="2800"/>
              <a:buChar char="•"/>
            </a:pPr>
            <a:r>
              <a:rPr lang="en-US">
                <a:solidFill>
                  <a:srgbClr val="C00000"/>
                </a:solidFill>
              </a:rPr>
              <a:t>Bandwidth</a:t>
            </a:r>
            <a:endParaRPr/>
          </a:p>
          <a:p>
            <a:pPr indent="-228600" lvl="1" marL="685800" rtl="0" algn="l">
              <a:lnSpc>
                <a:spcPct val="90000"/>
              </a:lnSpc>
              <a:spcBef>
                <a:spcPts val="500"/>
              </a:spcBef>
              <a:spcAft>
                <a:spcPts val="0"/>
              </a:spcAft>
              <a:buClr>
                <a:schemeClr val="dk1"/>
              </a:buClr>
              <a:buSzPts val="2400"/>
              <a:buChar char="•"/>
            </a:pPr>
            <a:r>
              <a:rPr lang="en-US"/>
              <a:t>The rate at which the destination receives data after it has started to receive the first byte.</a:t>
            </a:r>
            <a:endParaRPr/>
          </a:p>
        </p:txBody>
      </p:sp>
      <p:sp>
        <p:nvSpPr>
          <p:cNvPr id="1305" name="Google Shape;1305;p13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13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311" name="Google Shape;1311;p136"/>
          <p:cNvSpPr/>
          <p:nvPr/>
        </p:nvSpPr>
        <p:spPr>
          <a:xfrm>
            <a:off x="2424114" y="1557338"/>
            <a:ext cx="7272337"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Arial"/>
                <a:ea typeface="Arial"/>
                <a:cs typeface="Arial"/>
                <a:sym typeface="Arial"/>
              </a:rPr>
              <a:t>Message transmission time </a:t>
            </a:r>
            <a:r>
              <a:rPr b="0" i="0" lang="en-US" sz="3200" u="none" cap="none" strike="noStrike">
                <a:solidFill>
                  <a:schemeClr val="dk1"/>
                </a:solidFill>
                <a:latin typeface="Old Standard TT"/>
                <a:ea typeface="Old Standard TT"/>
                <a:cs typeface="Old Standard TT"/>
                <a:sym typeface="Old Standard TT"/>
              </a:rPr>
              <a:t>= </a:t>
            </a:r>
            <a:r>
              <a:rPr b="0" i="0" lang="en-US" sz="3200" u="none" cap="none" strike="noStrike">
                <a:solidFill>
                  <a:schemeClr val="dk1"/>
                </a:solidFill>
                <a:latin typeface="Arial"/>
                <a:ea typeface="Arial"/>
                <a:cs typeface="Arial"/>
                <a:sym typeface="Arial"/>
              </a:rPr>
              <a:t>l </a:t>
            </a:r>
            <a:r>
              <a:rPr b="0" i="0" lang="en-US" sz="3200" u="none" cap="none" strike="noStrike">
                <a:solidFill>
                  <a:schemeClr val="dk1"/>
                </a:solidFill>
                <a:latin typeface="Old Standard TT"/>
                <a:ea typeface="Old Standard TT"/>
                <a:cs typeface="Old Standard TT"/>
                <a:sym typeface="Old Standard TT"/>
              </a:rPr>
              <a:t>+ </a:t>
            </a:r>
            <a:r>
              <a:rPr b="0" i="0" lang="en-US" sz="3200" u="none" cap="none" strike="noStrike">
                <a:solidFill>
                  <a:schemeClr val="dk1"/>
                </a:solidFill>
                <a:latin typeface="Arial"/>
                <a:ea typeface="Arial"/>
                <a:cs typeface="Arial"/>
                <a:sym typeface="Arial"/>
              </a:rPr>
              <a:t>n </a:t>
            </a:r>
            <a:r>
              <a:rPr b="0" i="0" lang="en-US" sz="3200" u="none" cap="none" strike="noStrike">
                <a:solidFill>
                  <a:schemeClr val="dk1"/>
                </a:solidFill>
                <a:latin typeface="Old Standard TT"/>
                <a:ea typeface="Old Standard TT"/>
                <a:cs typeface="Old Standard TT"/>
                <a:sym typeface="Old Standard TT"/>
              </a:rPr>
              <a:t>/ </a:t>
            </a:r>
            <a:r>
              <a:rPr b="0" i="0" lang="en-US" sz="3200" u="none" cap="none" strike="noStrike">
                <a:solidFill>
                  <a:schemeClr val="dk1"/>
                </a:solidFill>
                <a:latin typeface="Arial"/>
                <a:ea typeface="Arial"/>
                <a:cs typeface="Arial"/>
                <a:sym typeface="Arial"/>
              </a:rPr>
              <a:t>b</a:t>
            </a:r>
            <a:endParaRPr b="0" i="0" sz="3200" u="none" cap="none" strike="noStrike">
              <a:solidFill>
                <a:schemeClr val="dk1"/>
              </a:solidFill>
              <a:latin typeface="Arial Black"/>
              <a:ea typeface="Arial Black"/>
              <a:cs typeface="Arial Black"/>
              <a:sym typeface="Arial Black"/>
            </a:endParaRPr>
          </a:p>
        </p:txBody>
      </p:sp>
      <p:sp>
        <p:nvSpPr>
          <p:cNvPr id="1312" name="Google Shape;1312;p136"/>
          <p:cNvSpPr/>
          <p:nvPr/>
        </p:nvSpPr>
        <p:spPr>
          <a:xfrm>
            <a:off x="3503614" y="2781301"/>
            <a:ext cx="2598737"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B050"/>
                </a:solidFill>
                <a:latin typeface="Arial"/>
                <a:ea typeface="Arial"/>
                <a:cs typeface="Arial"/>
                <a:sym typeface="Arial"/>
              </a:rPr>
              <a:t>latency (seconds)</a:t>
            </a:r>
            <a:endParaRPr b="0" i="0" sz="2400" u="none" cap="none" strike="noStrike">
              <a:solidFill>
                <a:srgbClr val="00B050"/>
              </a:solidFill>
              <a:latin typeface="Arial Black"/>
              <a:ea typeface="Arial Black"/>
              <a:cs typeface="Arial Black"/>
              <a:sym typeface="Arial Black"/>
            </a:endParaRPr>
          </a:p>
        </p:txBody>
      </p:sp>
      <p:sp>
        <p:nvSpPr>
          <p:cNvPr id="1313" name="Google Shape;1313;p136"/>
          <p:cNvSpPr/>
          <p:nvPr/>
        </p:nvSpPr>
        <p:spPr>
          <a:xfrm>
            <a:off x="4151314" y="4508501"/>
            <a:ext cx="422592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C00000"/>
                </a:solidFill>
                <a:latin typeface="Arial"/>
                <a:ea typeface="Arial"/>
                <a:cs typeface="Arial"/>
                <a:sym typeface="Arial"/>
              </a:rPr>
              <a:t>bandwidth (bytes per second)</a:t>
            </a:r>
            <a:endParaRPr b="0" i="0" sz="2400" u="none" cap="none" strike="noStrike">
              <a:solidFill>
                <a:srgbClr val="C00000"/>
              </a:solidFill>
              <a:latin typeface="Arial Black"/>
              <a:ea typeface="Arial Black"/>
              <a:cs typeface="Arial Black"/>
              <a:sym typeface="Arial Black"/>
            </a:endParaRPr>
          </a:p>
        </p:txBody>
      </p:sp>
      <p:sp>
        <p:nvSpPr>
          <p:cNvPr id="1314" name="Google Shape;1314;p136"/>
          <p:cNvSpPr/>
          <p:nvPr/>
        </p:nvSpPr>
        <p:spPr>
          <a:xfrm>
            <a:off x="4943476" y="3644901"/>
            <a:ext cx="36941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66FF"/>
                </a:solidFill>
                <a:latin typeface="Arial"/>
                <a:ea typeface="Arial"/>
                <a:cs typeface="Arial"/>
                <a:sym typeface="Arial"/>
              </a:rPr>
              <a:t>length of message (bytes)</a:t>
            </a:r>
            <a:endParaRPr b="0" i="0" sz="2400" u="none" cap="none" strike="noStrike">
              <a:solidFill>
                <a:srgbClr val="0066FF"/>
              </a:solidFill>
              <a:latin typeface="Arial Black"/>
              <a:ea typeface="Arial Black"/>
              <a:cs typeface="Arial Black"/>
              <a:sym typeface="Arial Black"/>
            </a:endParaRPr>
          </a:p>
        </p:txBody>
      </p:sp>
      <p:sp>
        <p:nvSpPr>
          <p:cNvPr id="1315" name="Google Shape;1315;p136"/>
          <p:cNvSpPr/>
          <p:nvPr/>
        </p:nvSpPr>
        <p:spPr>
          <a:xfrm>
            <a:off x="6138864" y="2176463"/>
            <a:ext cx="2251075" cy="874712"/>
          </a:xfrm>
          <a:custGeom>
            <a:rect b="b" l="l" r="r" t="t"/>
            <a:pathLst>
              <a:path extrusionOk="0" h="873276" w="2249714">
                <a:moveTo>
                  <a:pt x="0" y="812800"/>
                </a:moveTo>
                <a:cubicBezTo>
                  <a:pt x="878114" y="843038"/>
                  <a:pt x="1756228" y="873276"/>
                  <a:pt x="2002971" y="812800"/>
                </a:cubicBezTo>
                <a:cubicBezTo>
                  <a:pt x="2249714" y="752324"/>
                  <a:pt x="1482876" y="517676"/>
                  <a:pt x="1480457" y="449943"/>
                </a:cubicBezTo>
                <a:cubicBezTo>
                  <a:pt x="1478038" y="382210"/>
                  <a:pt x="1925562" y="481390"/>
                  <a:pt x="1988457" y="406400"/>
                </a:cubicBezTo>
                <a:cubicBezTo>
                  <a:pt x="2051352" y="331410"/>
                  <a:pt x="1954590" y="165705"/>
                  <a:pt x="1857828" y="0"/>
                </a:cubicBezTo>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1316" name="Google Shape;1316;p136"/>
          <p:cNvSpPr/>
          <p:nvPr/>
        </p:nvSpPr>
        <p:spPr>
          <a:xfrm>
            <a:off x="8469313" y="2105025"/>
            <a:ext cx="590550" cy="1797050"/>
          </a:xfrm>
          <a:custGeom>
            <a:rect b="b" l="l" r="r" t="t"/>
            <a:pathLst>
              <a:path extrusionOk="0" h="1797353" w="590247">
                <a:moveTo>
                  <a:pt x="137885" y="1785258"/>
                </a:moveTo>
                <a:cubicBezTo>
                  <a:pt x="335037" y="1791305"/>
                  <a:pt x="532190" y="1797353"/>
                  <a:pt x="515257" y="1712686"/>
                </a:cubicBezTo>
                <a:cubicBezTo>
                  <a:pt x="498324" y="1628019"/>
                  <a:pt x="24190" y="1390953"/>
                  <a:pt x="36285" y="1277258"/>
                </a:cubicBezTo>
                <a:cubicBezTo>
                  <a:pt x="48380" y="1163563"/>
                  <a:pt x="590247" y="1124858"/>
                  <a:pt x="587828" y="1030515"/>
                </a:cubicBezTo>
                <a:cubicBezTo>
                  <a:pt x="585409" y="936172"/>
                  <a:pt x="43542" y="815219"/>
                  <a:pt x="21771" y="711200"/>
                </a:cubicBezTo>
                <a:cubicBezTo>
                  <a:pt x="0" y="607181"/>
                  <a:pt x="449943" y="459619"/>
                  <a:pt x="457200" y="406400"/>
                </a:cubicBezTo>
                <a:cubicBezTo>
                  <a:pt x="464457" y="353181"/>
                  <a:pt x="130628" y="459619"/>
                  <a:pt x="65314" y="391886"/>
                </a:cubicBezTo>
                <a:cubicBezTo>
                  <a:pt x="0" y="324153"/>
                  <a:pt x="32657" y="162076"/>
                  <a:pt x="65314" y="0"/>
                </a:cubicBezTo>
              </a:path>
            </a:pathLst>
          </a:custGeom>
          <a:noFill/>
          <a:ln cap="flat" cmpd="sng" w="9525">
            <a:solidFill>
              <a:srgbClr val="0066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1317" name="Google Shape;1317;p136"/>
          <p:cNvSpPr/>
          <p:nvPr/>
        </p:nvSpPr>
        <p:spPr>
          <a:xfrm>
            <a:off x="8359775" y="2147889"/>
            <a:ext cx="1824038" cy="2852737"/>
          </a:xfrm>
          <a:custGeom>
            <a:rect b="b" l="l" r="r" t="t"/>
            <a:pathLst>
              <a:path extrusionOk="0" h="2852058" w="1823962">
                <a:moveTo>
                  <a:pt x="0" y="2598057"/>
                </a:moveTo>
                <a:cubicBezTo>
                  <a:pt x="713619" y="2725057"/>
                  <a:pt x="1427238" y="2852058"/>
                  <a:pt x="1625600" y="2670629"/>
                </a:cubicBezTo>
                <a:cubicBezTo>
                  <a:pt x="1823962" y="2489201"/>
                  <a:pt x="1168400" y="1804610"/>
                  <a:pt x="1190171" y="1509486"/>
                </a:cubicBezTo>
                <a:cubicBezTo>
                  <a:pt x="1211942" y="1214362"/>
                  <a:pt x="1792514" y="991810"/>
                  <a:pt x="1756228" y="899886"/>
                </a:cubicBezTo>
                <a:cubicBezTo>
                  <a:pt x="1719942" y="807962"/>
                  <a:pt x="1064381" y="1078895"/>
                  <a:pt x="972457" y="957943"/>
                </a:cubicBezTo>
                <a:cubicBezTo>
                  <a:pt x="880533" y="836991"/>
                  <a:pt x="1231294" y="297543"/>
                  <a:pt x="1204685" y="174172"/>
                </a:cubicBezTo>
                <a:cubicBezTo>
                  <a:pt x="1178076" y="50801"/>
                  <a:pt x="882952" y="246744"/>
                  <a:pt x="812800" y="217715"/>
                </a:cubicBezTo>
                <a:cubicBezTo>
                  <a:pt x="742648" y="188686"/>
                  <a:pt x="763209" y="94343"/>
                  <a:pt x="783771" y="0"/>
                </a:cubicBezTo>
              </a:path>
            </a:pathLst>
          </a:custGeom>
          <a:noFill/>
          <a:ln cap="flat" cmpd="sng" w="9525">
            <a:solidFill>
              <a:srgbClr val="C0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5" name="Shape 1325"/>
        <p:cNvGrpSpPr/>
        <p:nvPr/>
      </p:nvGrpSpPr>
      <p:grpSpPr>
        <a:xfrm>
          <a:off x="0" y="0"/>
          <a:ext cx="0" cy="0"/>
          <a:chOff x="0" y="0"/>
          <a:chExt cx="0" cy="0"/>
        </a:xfrm>
      </p:grpSpPr>
      <p:sp>
        <p:nvSpPr>
          <p:cNvPr id="1326" name="Google Shape;1326;p1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Cache coherence</a:t>
            </a:r>
            <a:endParaRPr/>
          </a:p>
        </p:txBody>
      </p:sp>
      <p:sp>
        <p:nvSpPr>
          <p:cNvPr id="1327" name="Google Shape;1327;p137"/>
          <p:cNvSpPr txBox="1"/>
          <p:nvPr>
            <p:ph idx="1" type="body"/>
          </p:nvPr>
        </p:nvSpPr>
        <p:spPr>
          <a:xfrm>
            <a:off x="1134157" y="1670050"/>
            <a:ext cx="5183187" cy="30956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Programmers have no </a:t>
            </a:r>
            <a:br>
              <a:rPr lang="en-US"/>
            </a:br>
            <a:r>
              <a:rPr lang="en-US"/>
              <a:t>control over caches </a:t>
            </a:r>
            <a:br>
              <a:rPr lang="en-US"/>
            </a:br>
            <a:r>
              <a:rPr lang="en-US"/>
              <a:t>and when they get updated.</a:t>
            </a:r>
            <a:endParaRPr/>
          </a:p>
        </p:txBody>
      </p:sp>
      <p:sp>
        <p:nvSpPr>
          <p:cNvPr id="1328" name="Google Shape;1328;p13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329" name="Google Shape;1329;p137"/>
          <p:cNvSpPr txBox="1"/>
          <p:nvPr/>
        </p:nvSpPr>
        <p:spPr>
          <a:xfrm>
            <a:off x="5303839" y="4365625"/>
            <a:ext cx="1481137"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0066"/>
                </a:solidFill>
                <a:latin typeface="Arial"/>
                <a:ea typeface="Arial"/>
                <a:cs typeface="Arial"/>
                <a:sym typeface="Arial"/>
              </a:rPr>
              <a:t>Figure 2.17</a:t>
            </a:r>
            <a:endParaRPr b="0" i="0" sz="2000" u="none" cap="none" strike="noStrike">
              <a:solidFill>
                <a:srgbClr val="000066"/>
              </a:solidFill>
              <a:latin typeface="Arial"/>
              <a:ea typeface="Arial"/>
              <a:cs typeface="Arial"/>
              <a:sym typeface="Arial"/>
            </a:endParaRPr>
          </a:p>
        </p:txBody>
      </p:sp>
      <p:sp>
        <p:nvSpPr>
          <p:cNvPr id="1330" name="Google Shape;1330;p137"/>
          <p:cNvSpPr/>
          <p:nvPr/>
        </p:nvSpPr>
        <p:spPr>
          <a:xfrm>
            <a:off x="2212975" y="4941889"/>
            <a:ext cx="4572000" cy="7064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2000" u="none" cap="none" strike="noStrike">
                <a:solidFill>
                  <a:schemeClr val="dk1"/>
                </a:solidFill>
                <a:latin typeface="Arial"/>
                <a:ea typeface="Arial"/>
                <a:cs typeface="Arial"/>
                <a:sym typeface="Arial"/>
              </a:rPr>
              <a:t>A shared memory system with two cores and two caches</a:t>
            </a:r>
            <a:endParaRPr b="0" i="0" sz="2000" u="none" cap="none" strike="noStrike">
              <a:solidFill>
                <a:schemeClr val="dk1"/>
              </a:solidFill>
              <a:latin typeface="Arial Black"/>
              <a:ea typeface="Arial Black"/>
              <a:cs typeface="Arial Black"/>
              <a:sym typeface="Arial Black"/>
            </a:endParaRPr>
          </a:p>
        </p:txBody>
      </p:sp>
      <p:pic>
        <p:nvPicPr>
          <p:cNvPr id="1331" name="Google Shape;1331;p137"/>
          <p:cNvPicPr preferRelativeResize="0"/>
          <p:nvPr/>
        </p:nvPicPr>
        <p:blipFill rotWithShape="1">
          <a:blip r:embed="rId3">
            <a:alphaModFix/>
          </a:blip>
          <a:srcRect b="0" l="0" r="0" t="0"/>
          <a:stretch/>
        </p:blipFill>
        <p:spPr>
          <a:xfrm>
            <a:off x="6956425" y="765176"/>
            <a:ext cx="3443288" cy="525462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Cache coherence</a:t>
            </a:r>
            <a:endParaRPr/>
          </a:p>
        </p:txBody>
      </p:sp>
      <p:sp>
        <p:nvSpPr>
          <p:cNvPr id="1337" name="Google Shape;1337;p13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1338" name="Google Shape;1338;p138"/>
          <p:cNvPicPr preferRelativeResize="0"/>
          <p:nvPr/>
        </p:nvPicPr>
        <p:blipFill rotWithShape="1">
          <a:blip r:embed="rId3">
            <a:alphaModFix/>
          </a:blip>
          <a:srcRect b="0" l="0" r="0" t="0"/>
          <a:stretch/>
        </p:blipFill>
        <p:spPr>
          <a:xfrm>
            <a:off x="2424114" y="2781300"/>
            <a:ext cx="7316787" cy="1460500"/>
          </a:xfrm>
          <a:prstGeom prst="rect">
            <a:avLst/>
          </a:prstGeom>
          <a:noFill/>
          <a:ln>
            <a:noFill/>
          </a:ln>
        </p:spPr>
      </p:pic>
      <p:sp>
        <p:nvSpPr>
          <p:cNvPr id="1339" name="Google Shape;1339;p138"/>
          <p:cNvSpPr/>
          <p:nvPr/>
        </p:nvSpPr>
        <p:spPr>
          <a:xfrm>
            <a:off x="2495550" y="2133600"/>
            <a:ext cx="3081338"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Bodoni"/>
                <a:ea typeface="Bodoni"/>
                <a:cs typeface="Bodoni"/>
                <a:sym typeface="Bodoni"/>
              </a:rPr>
              <a:t>x = 2;  /* shared variable */</a:t>
            </a:r>
            <a:endParaRPr/>
          </a:p>
        </p:txBody>
      </p:sp>
      <p:sp>
        <p:nvSpPr>
          <p:cNvPr id="1340" name="Google Shape;1340;p138"/>
          <p:cNvSpPr/>
          <p:nvPr/>
        </p:nvSpPr>
        <p:spPr>
          <a:xfrm>
            <a:off x="4692651" y="1204119"/>
            <a:ext cx="4392613" cy="768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Bodoni"/>
                <a:ea typeface="Bodoni"/>
                <a:cs typeface="Bodoni"/>
                <a:sym typeface="Bodoni"/>
              </a:rPr>
              <a:t>y0  privately owned by Core 0</a:t>
            </a:r>
            <a:endParaRPr/>
          </a:p>
          <a:p>
            <a:pPr indent="0" lvl="0" marL="0" marR="0" rtl="0" algn="l">
              <a:spcBef>
                <a:spcPts val="400"/>
              </a:spcBef>
              <a:spcAft>
                <a:spcPts val="0"/>
              </a:spcAft>
              <a:buNone/>
            </a:pPr>
            <a:r>
              <a:rPr b="0" i="0" lang="en-US" sz="2000" u="none" cap="none" strike="noStrike">
                <a:solidFill>
                  <a:schemeClr val="dk1"/>
                </a:solidFill>
                <a:latin typeface="Bodoni"/>
                <a:ea typeface="Bodoni"/>
                <a:cs typeface="Bodoni"/>
                <a:sym typeface="Bodoni"/>
              </a:rPr>
              <a:t>y1 and z1 privately owned by Core 1</a:t>
            </a:r>
            <a:endParaRPr/>
          </a:p>
        </p:txBody>
      </p:sp>
      <p:sp>
        <p:nvSpPr>
          <p:cNvPr id="1341" name="Google Shape;1341;p138"/>
          <p:cNvSpPr/>
          <p:nvPr/>
        </p:nvSpPr>
        <p:spPr>
          <a:xfrm>
            <a:off x="2495551" y="4437064"/>
            <a:ext cx="2936875" cy="11382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Bodoni"/>
                <a:ea typeface="Bodoni"/>
                <a:cs typeface="Bodoni"/>
                <a:sym typeface="Bodoni"/>
              </a:rPr>
              <a:t>y0 eventually ends up = 2</a:t>
            </a:r>
            <a:endParaRPr/>
          </a:p>
          <a:p>
            <a:pPr indent="0" lvl="0" marL="0" marR="0" rtl="0" algn="l">
              <a:spcBef>
                <a:spcPts val="400"/>
              </a:spcBef>
              <a:spcAft>
                <a:spcPts val="0"/>
              </a:spcAft>
              <a:buNone/>
            </a:pPr>
            <a:r>
              <a:rPr b="0" i="0" lang="en-US" sz="2000" u="none" cap="none" strike="noStrike">
                <a:solidFill>
                  <a:schemeClr val="dk1"/>
                </a:solidFill>
                <a:latin typeface="Bodoni"/>
                <a:ea typeface="Bodoni"/>
                <a:cs typeface="Bodoni"/>
                <a:sym typeface="Bodoni"/>
              </a:rPr>
              <a:t>y1 eventually ends up = 6</a:t>
            </a:r>
            <a:endParaRPr/>
          </a:p>
          <a:p>
            <a:pPr indent="0" lvl="0" marL="0" marR="0" rtl="0" algn="l">
              <a:spcBef>
                <a:spcPts val="400"/>
              </a:spcBef>
              <a:spcAft>
                <a:spcPts val="0"/>
              </a:spcAft>
              <a:buNone/>
            </a:pPr>
            <a:r>
              <a:rPr b="0" i="0" lang="en-US" sz="2000" u="none" cap="none" strike="noStrike">
                <a:solidFill>
                  <a:schemeClr val="dk1"/>
                </a:solidFill>
                <a:latin typeface="Bodoni"/>
                <a:ea typeface="Bodoni"/>
                <a:cs typeface="Bodoni"/>
                <a:sym typeface="Bodoni"/>
              </a:rPr>
              <a:t>z1 = ???</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139"/>
          <p:cNvSpPr txBox="1"/>
          <p:nvPr>
            <p:ph type="title"/>
          </p:nvPr>
        </p:nvSpPr>
        <p:spPr>
          <a:xfrm>
            <a:off x="838200" y="5159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Snooping Cache Coherence</a:t>
            </a:r>
            <a:endParaRPr/>
          </a:p>
        </p:txBody>
      </p:sp>
      <p:sp>
        <p:nvSpPr>
          <p:cNvPr id="1347" name="Google Shape;1347;p1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cores share a bus .</a:t>
            </a:r>
            <a:endParaRPr/>
          </a:p>
          <a:p>
            <a:pPr indent="-228600" lvl="0" marL="228600" rtl="0" algn="l">
              <a:lnSpc>
                <a:spcPct val="90000"/>
              </a:lnSpc>
              <a:spcBef>
                <a:spcPts val="1000"/>
              </a:spcBef>
              <a:spcAft>
                <a:spcPts val="0"/>
              </a:spcAft>
              <a:buClr>
                <a:schemeClr val="dk1"/>
              </a:buClr>
              <a:buSzPts val="2800"/>
              <a:buChar char="•"/>
            </a:pPr>
            <a:r>
              <a:rPr lang="en-US"/>
              <a:t>Any signal transmitted on the bus can be “seen” by all cores connected to the bus.</a:t>
            </a:r>
            <a:endParaRPr/>
          </a:p>
          <a:p>
            <a:pPr indent="-228600" lvl="0" marL="228600" rtl="0" algn="l">
              <a:lnSpc>
                <a:spcPct val="90000"/>
              </a:lnSpc>
              <a:spcBef>
                <a:spcPts val="1000"/>
              </a:spcBef>
              <a:spcAft>
                <a:spcPts val="0"/>
              </a:spcAft>
              <a:buClr>
                <a:schemeClr val="dk1"/>
              </a:buClr>
              <a:buSzPts val="2800"/>
              <a:buChar char="•"/>
            </a:pPr>
            <a:r>
              <a:rPr lang="en-US"/>
              <a:t>When core 0 updates the copy of x stored in its cache it also broadcasts this information across the bus.</a:t>
            </a:r>
            <a:endParaRPr/>
          </a:p>
          <a:p>
            <a:pPr indent="-228600" lvl="0" marL="228600" rtl="0" algn="l">
              <a:lnSpc>
                <a:spcPct val="90000"/>
              </a:lnSpc>
              <a:spcBef>
                <a:spcPts val="1000"/>
              </a:spcBef>
              <a:spcAft>
                <a:spcPts val="0"/>
              </a:spcAft>
              <a:buClr>
                <a:schemeClr val="dk1"/>
              </a:buClr>
              <a:buSzPts val="2800"/>
              <a:buChar char="•"/>
            </a:pPr>
            <a:r>
              <a:rPr lang="en-US"/>
              <a:t>If core 1 is “snooping” the bus, it will see that x has been updated and it can mark its copy of x as invalid.</a:t>
            </a:r>
            <a:endParaRPr/>
          </a:p>
        </p:txBody>
      </p:sp>
      <p:sp>
        <p:nvSpPr>
          <p:cNvPr id="1348" name="Google Shape;1348;p13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40"/>
          <p:cNvSpPr txBox="1"/>
          <p:nvPr>
            <p:ph type="title"/>
          </p:nvPr>
        </p:nvSpPr>
        <p:spPr>
          <a:xfrm>
            <a:off x="838200" y="136525"/>
            <a:ext cx="8532812" cy="132397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Directory Based Cache Coherence</a:t>
            </a:r>
            <a:endParaRPr/>
          </a:p>
        </p:txBody>
      </p:sp>
      <p:sp>
        <p:nvSpPr>
          <p:cNvPr id="1354" name="Google Shape;1354;p1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Uses a data structure called a </a:t>
            </a:r>
            <a:r>
              <a:rPr lang="en-US">
                <a:solidFill>
                  <a:srgbClr val="0066FF"/>
                </a:solidFill>
              </a:rPr>
              <a:t>directory</a:t>
            </a:r>
            <a:r>
              <a:rPr lang="en-US"/>
              <a:t> that stores the status of each cache line.</a:t>
            </a:r>
            <a:br>
              <a:rPr lang="en-US"/>
            </a:br>
            <a:endParaRPr/>
          </a:p>
          <a:p>
            <a:pPr indent="-228600" lvl="0" marL="228600" rtl="0" algn="l">
              <a:lnSpc>
                <a:spcPct val="90000"/>
              </a:lnSpc>
              <a:spcBef>
                <a:spcPts val="1000"/>
              </a:spcBef>
              <a:spcAft>
                <a:spcPts val="0"/>
              </a:spcAft>
              <a:buClr>
                <a:schemeClr val="dk1"/>
              </a:buClr>
              <a:buSzPts val="2800"/>
              <a:buChar char="•"/>
            </a:pPr>
            <a:r>
              <a:rPr lang="en-US"/>
              <a:t>When a variable is updated, the directory is consulted, and the cache controllers of the cores that have that variable’s cache line in their caches are invalidated.</a:t>
            </a:r>
            <a:endParaRPr/>
          </a:p>
        </p:txBody>
      </p:sp>
      <p:sp>
        <p:nvSpPr>
          <p:cNvPr id="1355" name="Google Shape;1355;p14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41"/>
          <p:cNvSpPr txBox="1"/>
          <p:nvPr>
            <p:ph type="title"/>
          </p:nvPr>
        </p:nvSpPr>
        <p:spPr>
          <a:xfrm>
            <a:off x="2362427" y="4718050"/>
            <a:ext cx="7772400" cy="70802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Parallel software</a:t>
            </a:r>
            <a:endParaRPr/>
          </a:p>
        </p:txBody>
      </p:sp>
      <p:sp>
        <p:nvSpPr>
          <p:cNvPr id="1361" name="Google Shape;1361;p14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Documents and Settings\liszka\Local Settings\Temporary Internet Files\Content.IE5\0AVCOKV0\MP900316342[1].jpg" id="1362" name="Google Shape;1362;p141"/>
          <p:cNvPicPr preferRelativeResize="0"/>
          <p:nvPr/>
        </p:nvPicPr>
        <p:blipFill rotWithShape="1">
          <a:blip r:embed="rId3">
            <a:alphaModFix/>
          </a:blip>
          <a:srcRect b="0" l="0" r="0" t="0"/>
          <a:stretch/>
        </p:blipFill>
        <p:spPr>
          <a:xfrm>
            <a:off x="1919288" y="1916114"/>
            <a:ext cx="3657600" cy="2579687"/>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1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burden is on software</a:t>
            </a:r>
            <a:endParaRPr/>
          </a:p>
        </p:txBody>
      </p:sp>
      <p:sp>
        <p:nvSpPr>
          <p:cNvPr id="1368" name="Google Shape;1368;p1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Hardware and compilers can keep up the pace needed.</a:t>
            </a:r>
            <a:endParaRPr/>
          </a:p>
          <a:p>
            <a:pPr indent="-228600" lvl="0" marL="228600" rtl="0" algn="l">
              <a:lnSpc>
                <a:spcPct val="90000"/>
              </a:lnSpc>
              <a:spcBef>
                <a:spcPts val="1000"/>
              </a:spcBef>
              <a:spcAft>
                <a:spcPts val="0"/>
              </a:spcAft>
              <a:buClr>
                <a:schemeClr val="dk1"/>
              </a:buClr>
              <a:buSzPts val="2800"/>
              <a:buChar char="•"/>
            </a:pPr>
            <a:r>
              <a:rPr lang="en-US"/>
              <a:t>From now on…</a:t>
            </a:r>
            <a:endParaRPr/>
          </a:p>
          <a:p>
            <a:pPr indent="-228600" lvl="1" marL="685800" rtl="0" algn="l">
              <a:lnSpc>
                <a:spcPct val="90000"/>
              </a:lnSpc>
              <a:spcBef>
                <a:spcPts val="500"/>
              </a:spcBef>
              <a:spcAft>
                <a:spcPts val="0"/>
              </a:spcAft>
              <a:buClr>
                <a:schemeClr val="dk1"/>
              </a:buClr>
              <a:buSzPts val="2400"/>
              <a:buChar char="•"/>
            </a:pPr>
            <a:r>
              <a:rPr lang="en-US"/>
              <a:t>In shared memory programs:</a:t>
            </a:r>
            <a:endParaRPr/>
          </a:p>
          <a:p>
            <a:pPr indent="-228600" lvl="2" marL="1143000" rtl="0" algn="l">
              <a:lnSpc>
                <a:spcPct val="90000"/>
              </a:lnSpc>
              <a:spcBef>
                <a:spcPts val="500"/>
              </a:spcBef>
              <a:spcAft>
                <a:spcPts val="0"/>
              </a:spcAft>
              <a:buClr>
                <a:schemeClr val="dk1"/>
              </a:buClr>
              <a:buSzPts val="2000"/>
              <a:buChar char="•"/>
            </a:pPr>
            <a:r>
              <a:rPr lang="en-US"/>
              <a:t>Start a single process and fork threads.</a:t>
            </a:r>
            <a:endParaRPr/>
          </a:p>
          <a:p>
            <a:pPr indent="-228600" lvl="2" marL="1143000" rtl="0" algn="l">
              <a:lnSpc>
                <a:spcPct val="90000"/>
              </a:lnSpc>
              <a:spcBef>
                <a:spcPts val="500"/>
              </a:spcBef>
              <a:spcAft>
                <a:spcPts val="0"/>
              </a:spcAft>
              <a:buClr>
                <a:schemeClr val="dk1"/>
              </a:buClr>
              <a:buSzPts val="2000"/>
              <a:buChar char="•"/>
            </a:pPr>
            <a:r>
              <a:rPr lang="en-US"/>
              <a:t>Threads carry out tasks.</a:t>
            </a:r>
            <a:endParaRPr/>
          </a:p>
          <a:p>
            <a:pPr indent="-228600" lvl="1" marL="685800" rtl="0" algn="l">
              <a:lnSpc>
                <a:spcPct val="90000"/>
              </a:lnSpc>
              <a:spcBef>
                <a:spcPts val="500"/>
              </a:spcBef>
              <a:spcAft>
                <a:spcPts val="0"/>
              </a:spcAft>
              <a:buClr>
                <a:schemeClr val="dk1"/>
              </a:buClr>
              <a:buSzPts val="2400"/>
              <a:buChar char="•"/>
            </a:pPr>
            <a:r>
              <a:rPr lang="en-US"/>
              <a:t>In distributed memory programs:</a:t>
            </a:r>
            <a:endParaRPr/>
          </a:p>
          <a:p>
            <a:pPr indent="-228600" lvl="2" marL="1143000" rtl="0" algn="l">
              <a:lnSpc>
                <a:spcPct val="90000"/>
              </a:lnSpc>
              <a:spcBef>
                <a:spcPts val="500"/>
              </a:spcBef>
              <a:spcAft>
                <a:spcPts val="0"/>
              </a:spcAft>
              <a:buClr>
                <a:schemeClr val="dk1"/>
              </a:buClr>
              <a:buSzPts val="2000"/>
              <a:buChar char="•"/>
            </a:pPr>
            <a:r>
              <a:rPr lang="en-US"/>
              <a:t>Start multiple processes.</a:t>
            </a:r>
            <a:endParaRPr/>
          </a:p>
          <a:p>
            <a:pPr indent="-228600" lvl="2" marL="1143000" rtl="0" algn="l">
              <a:lnSpc>
                <a:spcPct val="90000"/>
              </a:lnSpc>
              <a:spcBef>
                <a:spcPts val="500"/>
              </a:spcBef>
              <a:spcAft>
                <a:spcPts val="0"/>
              </a:spcAft>
              <a:buClr>
                <a:schemeClr val="dk1"/>
              </a:buClr>
              <a:buSzPts val="2000"/>
              <a:buChar char="•"/>
            </a:pPr>
            <a:r>
              <a:rPr lang="en-US"/>
              <a:t>Processes carry out tasks.</a:t>
            </a:r>
            <a:endParaRPr/>
          </a:p>
        </p:txBody>
      </p:sp>
      <p:sp>
        <p:nvSpPr>
          <p:cNvPr id="1369" name="Google Shape;1369;p14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43"/>
          <p:cNvSpPr txBox="1"/>
          <p:nvPr>
            <p:ph type="title"/>
          </p:nvPr>
        </p:nvSpPr>
        <p:spPr>
          <a:xfrm>
            <a:off x="2135189" y="109539"/>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SPMD – </a:t>
            </a:r>
            <a:r>
              <a:rPr lang="en-US" sz="3200"/>
              <a:t>single program multiple data</a:t>
            </a:r>
            <a:endParaRPr/>
          </a:p>
        </p:txBody>
      </p:sp>
      <p:sp>
        <p:nvSpPr>
          <p:cNvPr id="1375" name="Google Shape;1375;p143"/>
          <p:cNvSpPr txBox="1"/>
          <p:nvPr>
            <p:ph idx="1" type="body"/>
          </p:nvPr>
        </p:nvSpPr>
        <p:spPr>
          <a:xfrm>
            <a:off x="2208214" y="1125538"/>
            <a:ext cx="8270875" cy="23749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SPMD programs consists of a single executable that can behave as if it were multiple different programs through the use of conditional branches.</a:t>
            </a:r>
            <a:endParaRPr/>
          </a:p>
        </p:txBody>
      </p:sp>
      <p:sp>
        <p:nvSpPr>
          <p:cNvPr id="1376" name="Google Shape;1376;p14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377" name="Google Shape;1377;p143"/>
          <p:cNvSpPr txBox="1"/>
          <p:nvPr/>
        </p:nvSpPr>
        <p:spPr>
          <a:xfrm>
            <a:off x="3719513" y="3284539"/>
            <a:ext cx="4254500" cy="2357437"/>
          </a:xfrm>
          <a:prstGeom prst="rect">
            <a:avLst/>
          </a:prstGeom>
          <a:noFill/>
          <a:ln cap="flat" cmpd="sng" w="28575">
            <a:solidFill>
              <a:srgbClr val="0066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Bodoni"/>
                <a:ea typeface="Bodoni"/>
                <a:cs typeface="Bodoni"/>
                <a:sym typeface="Bodoni"/>
              </a:rPr>
              <a:t>if (I’m thread process i)</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do this;</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else</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do that;</a:t>
            </a:r>
            <a:endParaRPr/>
          </a:p>
        </p:txBody>
      </p:sp>
      <p:pic>
        <p:nvPicPr>
          <p:cNvPr descr="View Details" id="1378" name="Google Shape;1378;p143"/>
          <p:cNvPicPr preferRelativeResize="0"/>
          <p:nvPr/>
        </p:nvPicPr>
        <p:blipFill rotWithShape="1">
          <a:blip r:embed="rId3">
            <a:alphaModFix/>
          </a:blip>
          <a:srcRect b="0" l="0" r="0" t="0"/>
          <a:stretch/>
        </p:blipFill>
        <p:spPr>
          <a:xfrm>
            <a:off x="6959600" y="4581525"/>
            <a:ext cx="914400" cy="914400"/>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44"/>
          <p:cNvSpPr txBox="1"/>
          <p:nvPr>
            <p:ph type="title"/>
          </p:nvPr>
        </p:nvSpPr>
        <p:spPr>
          <a:xfrm>
            <a:off x="1077914" y="240735"/>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Writing Parallel Programs</a:t>
            </a:r>
            <a:endParaRPr/>
          </a:p>
        </p:txBody>
      </p:sp>
      <p:sp>
        <p:nvSpPr>
          <p:cNvPr id="1384" name="Google Shape;1384;p14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385" name="Google Shape;1385;p144"/>
          <p:cNvSpPr txBox="1"/>
          <p:nvPr/>
        </p:nvSpPr>
        <p:spPr>
          <a:xfrm>
            <a:off x="6600826" y="1196975"/>
            <a:ext cx="3711575" cy="2357438"/>
          </a:xfrm>
          <a:prstGeom prst="rect">
            <a:avLst/>
          </a:prstGeom>
          <a:noFill/>
          <a:ln cap="flat" cmpd="sng" w="28575">
            <a:solidFill>
              <a:srgbClr val="0066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Bodoni"/>
                <a:ea typeface="Bodoni"/>
                <a:cs typeface="Bodoni"/>
                <a:sym typeface="Bodoni"/>
              </a:rPr>
              <a:t>double x[n], y[n];</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for (i = 0; i &lt; n; i++)</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x[i] += y[i];</a:t>
            </a:r>
            <a:endParaRPr/>
          </a:p>
        </p:txBody>
      </p:sp>
      <p:sp>
        <p:nvSpPr>
          <p:cNvPr id="1386" name="Google Shape;1386;p144"/>
          <p:cNvSpPr txBox="1"/>
          <p:nvPr/>
        </p:nvSpPr>
        <p:spPr>
          <a:xfrm>
            <a:off x="1992313" y="1268414"/>
            <a:ext cx="8058150" cy="3711575"/>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400"/>
              <a:buFont typeface="Noto Sans Symbols"/>
              <a:buAutoNum type="arabicPeriod"/>
            </a:pPr>
            <a:r>
              <a:rPr b="0" i="0" lang="en-US" sz="2400" u="none" cap="none" strike="noStrike">
                <a:solidFill>
                  <a:schemeClr val="dk1"/>
                </a:solidFill>
                <a:latin typeface="Arial"/>
                <a:ea typeface="Arial"/>
                <a:cs typeface="Arial"/>
                <a:sym typeface="Arial"/>
              </a:rPr>
              <a:t>Divide the work among the</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     processes/threads</a:t>
            </a:r>
            <a:endParaRPr/>
          </a:p>
          <a:p>
            <a:pPr indent="-457200" lvl="1" marL="914400" marR="0" rtl="0" algn="l">
              <a:spcBef>
                <a:spcPts val="480"/>
              </a:spcBef>
              <a:spcAft>
                <a:spcPts val="0"/>
              </a:spcAft>
              <a:buClr>
                <a:schemeClr val="dk1"/>
              </a:buClr>
              <a:buSzPts val="2400"/>
              <a:buFont typeface="Noto Sans Symbols"/>
              <a:buAutoNum type="alphaLcParenBoth"/>
            </a:pPr>
            <a:r>
              <a:rPr b="0" i="0" lang="en-US" sz="2400" u="none" cap="none" strike="noStrike">
                <a:solidFill>
                  <a:schemeClr val="dk1"/>
                </a:solidFill>
                <a:latin typeface="Arial"/>
                <a:ea typeface="Arial"/>
                <a:cs typeface="Arial"/>
                <a:sym typeface="Arial"/>
              </a:rPr>
              <a:t>so each process/thread</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gets roughly the same </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amount of work</a:t>
            </a:r>
            <a:endParaRPr/>
          </a:p>
          <a:p>
            <a:pPr indent="-457200" lvl="1" marL="914400" marR="0" rtl="0" algn="l">
              <a:spcBef>
                <a:spcPts val="480"/>
              </a:spcBef>
              <a:spcAft>
                <a:spcPts val="0"/>
              </a:spcAft>
              <a:buClr>
                <a:schemeClr val="dk1"/>
              </a:buClr>
              <a:buSzPts val="2400"/>
              <a:buFont typeface="Noto Sans Symbols"/>
              <a:buAutoNum type="alphaLcParenBoth"/>
            </a:pPr>
            <a:r>
              <a:rPr b="0" i="0" lang="en-US" sz="2400" u="none" cap="none" strike="noStrike">
                <a:solidFill>
                  <a:schemeClr val="dk1"/>
                </a:solidFill>
                <a:latin typeface="Arial"/>
                <a:ea typeface="Arial"/>
                <a:cs typeface="Arial"/>
                <a:sym typeface="Arial"/>
              </a:rPr>
              <a:t>and communication is</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minimized.</a:t>
            </a:r>
            <a:endParaRPr/>
          </a:p>
          <a:p>
            <a:pPr indent="-457200" lvl="0" marL="457200" marR="0" rtl="0" algn="l">
              <a:spcBef>
                <a:spcPts val="480"/>
              </a:spcBef>
              <a:spcAft>
                <a:spcPts val="0"/>
              </a:spcAft>
              <a:buClr>
                <a:schemeClr val="dk1"/>
              </a:buClr>
              <a:buSzPts val="2400"/>
              <a:buFont typeface="Noto Sans Symbols"/>
              <a:buAutoNum type="arabicPeriod"/>
            </a:pPr>
            <a:r>
              <a:rPr b="0" i="0" lang="en-US" sz="2400" u="none" cap="none" strike="noStrike">
                <a:solidFill>
                  <a:schemeClr val="dk1"/>
                </a:solidFill>
                <a:latin typeface="Arial"/>
                <a:ea typeface="Arial"/>
                <a:cs typeface="Arial"/>
                <a:sym typeface="Arial"/>
              </a:rPr>
              <a:t>Arrange for the processes/threads to synchronize.</a:t>
            </a:r>
            <a:endParaRPr/>
          </a:p>
          <a:p>
            <a:pPr indent="-457200" lvl="0" marL="457200" marR="0" rtl="0" algn="l">
              <a:spcBef>
                <a:spcPts val="480"/>
              </a:spcBef>
              <a:spcAft>
                <a:spcPts val="0"/>
              </a:spcAft>
              <a:buClr>
                <a:schemeClr val="dk1"/>
              </a:buClr>
              <a:buSzPts val="2400"/>
              <a:buFont typeface="Noto Sans Symbols"/>
              <a:buAutoNum type="arabicPeriod"/>
            </a:pPr>
            <a:r>
              <a:rPr b="0" i="0" lang="en-US" sz="2400" u="none" cap="none" strike="noStrike">
                <a:solidFill>
                  <a:schemeClr val="dk1"/>
                </a:solidFill>
                <a:latin typeface="Arial"/>
                <a:ea typeface="Arial"/>
                <a:cs typeface="Arial"/>
                <a:sym typeface="Arial"/>
              </a:rPr>
              <a:t>Arrange for communication among processes/threads.</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0" name="Shape 1390"/>
        <p:cNvGrpSpPr/>
        <p:nvPr/>
      </p:nvGrpSpPr>
      <p:grpSpPr>
        <a:xfrm>
          <a:off x="0" y="0"/>
          <a:ext cx="0" cy="0"/>
          <a:chOff x="0" y="0"/>
          <a:chExt cx="0" cy="0"/>
        </a:xfrm>
      </p:grpSpPr>
      <p:sp>
        <p:nvSpPr>
          <p:cNvPr id="1391" name="Google Shape;1391;p1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Shared Memory</a:t>
            </a:r>
            <a:endParaRPr/>
          </a:p>
        </p:txBody>
      </p:sp>
      <p:sp>
        <p:nvSpPr>
          <p:cNvPr id="1392" name="Google Shape;1392;p145"/>
          <p:cNvSpPr txBox="1"/>
          <p:nvPr>
            <p:ph idx="1" type="body"/>
          </p:nvPr>
        </p:nvSpPr>
        <p:spPr>
          <a:xfrm>
            <a:off x="1016000" y="1690687"/>
            <a:ext cx="10515599" cy="44021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Dynamic threads</a:t>
            </a:r>
            <a:endParaRPr/>
          </a:p>
          <a:p>
            <a:pPr indent="-228600" lvl="1" marL="685800" rtl="0" algn="l">
              <a:lnSpc>
                <a:spcPct val="90000"/>
              </a:lnSpc>
              <a:spcBef>
                <a:spcPts val="500"/>
              </a:spcBef>
              <a:spcAft>
                <a:spcPts val="0"/>
              </a:spcAft>
              <a:buClr>
                <a:schemeClr val="dk1"/>
              </a:buClr>
              <a:buSzPts val="2400"/>
              <a:buChar char="•"/>
            </a:pPr>
            <a:r>
              <a:rPr lang="en-US"/>
              <a:t>Master thread waits for work, forks new threads, and when threads are done, they terminate</a:t>
            </a:r>
            <a:endParaRPr/>
          </a:p>
          <a:p>
            <a:pPr indent="-228600" lvl="1" marL="685800" rtl="0" algn="l">
              <a:lnSpc>
                <a:spcPct val="90000"/>
              </a:lnSpc>
              <a:spcBef>
                <a:spcPts val="500"/>
              </a:spcBef>
              <a:spcAft>
                <a:spcPts val="0"/>
              </a:spcAft>
              <a:buClr>
                <a:schemeClr val="dk1"/>
              </a:buClr>
              <a:buSzPts val="2400"/>
              <a:buChar char="•"/>
            </a:pPr>
            <a:r>
              <a:rPr lang="en-US"/>
              <a:t>Efficient use of resources, but thread creation and termination is time consuming.</a:t>
            </a:r>
            <a:endParaRPr/>
          </a:p>
          <a:p>
            <a:pPr indent="-228600" lvl="0" marL="228600" rtl="0" algn="l">
              <a:lnSpc>
                <a:spcPct val="90000"/>
              </a:lnSpc>
              <a:spcBef>
                <a:spcPts val="1000"/>
              </a:spcBef>
              <a:spcAft>
                <a:spcPts val="0"/>
              </a:spcAft>
              <a:buClr>
                <a:schemeClr val="dk1"/>
              </a:buClr>
              <a:buSzPts val="2800"/>
              <a:buChar char="•"/>
            </a:pPr>
            <a:r>
              <a:rPr lang="en-US"/>
              <a:t>Static threads</a:t>
            </a:r>
            <a:endParaRPr/>
          </a:p>
          <a:p>
            <a:pPr indent="-228600" lvl="1" marL="685800" rtl="0" algn="l">
              <a:lnSpc>
                <a:spcPct val="90000"/>
              </a:lnSpc>
              <a:spcBef>
                <a:spcPts val="500"/>
              </a:spcBef>
              <a:spcAft>
                <a:spcPts val="0"/>
              </a:spcAft>
              <a:buClr>
                <a:schemeClr val="dk1"/>
              </a:buClr>
              <a:buSzPts val="2400"/>
              <a:buChar char="•"/>
            </a:pPr>
            <a:r>
              <a:rPr lang="en-US"/>
              <a:t>Pool of threads created and are allocated work, but do not terminate until cleanup.</a:t>
            </a:r>
            <a:endParaRPr/>
          </a:p>
          <a:p>
            <a:pPr indent="-228600" lvl="1" marL="685800" rtl="0" algn="l">
              <a:lnSpc>
                <a:spcPct val="90000"/>
              </a:lnSpc>
              <a:spcBef>
                <a:spcPts val="500"/>
              </a:spcBef>
              <a:spcAft>
                <a:spcPts val="0"/>
              </a:spcAft>
              <a:buClr>
                <a:schemeClr val="dk1"/>
              </a:buClr>
              <a:buSzPts val="2400"/>
              <a:buChar char="•"/>
            </a:pPr>
            <a:r>
              <a:rPr lang="en-US"/>
              <a:t>Better performance, but potential waste of system resources.</a:t>
            </a:r>
            <a:endParaRPr/>
          </a:p>
        </p:txBody>
      </p:sp>
      <p:sp>
        <p:nvSpPr>
          <p:cNvPr id="1393" name="Google Shape;1393;p14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1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Nondeterminism</a:t>
            </a:r>
            <a:endParaRPr/>
          </a:p>
        </p:txBody>
      </p:sp>
      <p:sp>
        <p:nvSpPr>
          <p:cNvPr id="1399" name="Google Shape;1399;p14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00" name="Google Shape;1400;p146"/>
          <p:cNvSpPr/>
          <p:nvPr/>
        </p:nvSpPr>
        <p:spPr>
          <a:xfrm>
            <a:off x="2351087" y="1578935"/>
            <a:ext cx="7489825" cy="2259013"/>
          </a:xfrm>
          <a:prstGeom prst="rect">
            <a:avLst/>
          </a:prstGeom>
          <a:noFill/>
          <a:ln cap="flat" cmpd="sng" w="28575">
            <a:solidFill>
              <a:srgbClr val="0066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Bodoni"/>
                <a:ea typeface="Bodoni"/>
                <a:cs typeface="Bodoni"/>
                <a:sym typeface="Bodoni"/>
              </a:rPr>
              <a:t>. . .</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printf ( "Thread %d &gt; my_val = %d\n" , </a:t>
            </a:r>
            <a:br>
              <a:rPr b="0" i="0" lang="en-US" sz="3200" u="none" cap="none" strike="noStrike">
                <a:solidFill>
                  <a:schemeClr val="dk1"/>
                </a:solidFill>
                <a:latin typeface="Bodoni"/>
                <a:ea typeface="Bodoni"/>
                <a:cs typeface="Bodoni"/>
                <a:sym typeface="Bodoni"/>
              </a:rPr>
            </a:br>
            <a:r>
              <a:rPr b="0" i="0" lang="en-US" sz="3200" u="none" cap="none" strike="noStrike">
                <a:solidFill>
                  <a:schemeClr val="dk1"/>
                </a:solidFill>
                <a:latin typeface="Bodoni"/>
                <a:ea typeface="Bodoni"/>
                <a:cs typeface="Bodoni"/>
                <a:sym typeface="Bodoni"/>
              </a:rPr>
              <a:t>              my_rank , my_x ) ;</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 .</a:t>
            </a:r>
            <a:endParaRPr/>
          </a:p>
        </p:txBody>
      </p:sp>
      <p:sp>
        <p:nvSpPr>
          <p:cNvPr id="1401" name="Google Shape;1401;p146"/>
          <p:cNvSpPr/>
          <p:nvPr/>
        </p:nvSpPr>
        <p:spPr>
          <a:xfrm>
            <a:off x="7050996" y="4599320"/>
            <a:ext cx="3600450" cy="904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Thread 0 </a:t>
            </a:r>
            <a:r>
              <a:rPr b="0" i="0" lang="en-US" sz="2400" u="none" cap="none" strike="noStrike">
                <a:solidFill>
                  <a:schemeClr val="dk1"/>
                </a:solidFill>
                <a:latin typeface="Old Standard TT"/>
                <a:ea typeface="Old Standard TT"/>
                <a:cs typeface="Old Standard TT"/>
                <a:sym typeface="Old Standard TT"/>
              </a:rPr>
              <a:t>&gt; </a:t>
            </a:r>
            <a:r>
              <a:rPr b="0" i="0" lang="en-US" sz="2400" u="none" cap="none" strike="noStrike">
                <a:solidFill>
                  <a:schemeClr val="dk1"/>
                </a:solidFill>
                <a:latin typeface="Arial"/>
                <a:ea typeface="Arial"/>
                <a:cs typeface="Arial"/>
                <a:sym typeface="Arial"/>
              </a:rPr>
              <a:t>my_val = 7</a:t>
            </a:r>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Thread 1 </a:t>
            </a:r>
            <a:r>
              <a:rPr b="0" i="0" lang="en-US" sz="2400" u="none" cap="none" strike="noStrike">
                <a:solidFill>
                  <a:schemeClr val="dk1"/>
                </a:solidFill>
                <a:latin typeface="Old Standard TT"/>
                <a:ea typeface="Old Standard TT"/>
                <a:cs typeface="Old Standard TT"/>
                <a:sym typeface="Old Standard TT"/>
              </a:rPr>
              <a:t>&gt; </a:t>
            </a:r>
            <a:r>
              <a:rPr b="0" i="0" lang="en-US" sz="2400" u="none" cap="none" strike="noStrike">
                <a:solidFill>
                  <a:schemeClr val="dk1"/>
                </a:solidFill>
                <a:latin typeface="Arial"/>
                <a:ea typeface="Arial"/>
                <a:cs typeface="Arial"/>
                <a:sym typeface="Arial"/>
              </a:rPr>
              <a:t>my_val = 19</a:t>
            </a:r>
            <a:endParaRPr b="0" i="0" sz="2400" u="none" cap="none" strike="noStrike">
              <a:solidFill>
                <a:schemeClr val="dk1"/>
              </a:solidFill>
              <a:latin typeface="Arial Black"/>
              <a:ea typeface="Arial Black"/>
              <a:cs typeface="Arial Black"/>
              <a:sym typeface="Arial Black"/>
            </a:endParaRPr>
          </a:p>
        </p:txBody>
      </p:sp>
      <p:sp>
        <p:nvSpPr>
          <p:cNvPr id="1402" name="Google Shape;1402;p146"/>
          <p:cNvSpPr/>
          <p:nvPr/>
        </p:nvSpPr>
        <p:spPr>
          <a:xfrm>
            <a:off x="2711451" y="4652964"/>
            <a:ext cx="3529013" cy="904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Thread 1 </a:t>
            </a:r>
            <a:r>
              <a:rPr b="0" i="0" lang="en-US" sz="2400" u="none" cap="none" strike="noStrike">
                <a:solidFill>
                  <a:schemeClr val="dk1"/>
                </a:solidFill>
                <a:latin typeface="Old Standard TT"/>
                <a:ea typeface="Old Standard TT"/>
                <a:cs typeface="Old Standard TT"/>
                <a:sym typeface="Old Standard TT"/>
              </a:rPr>
              <a:t>&gt; </a:t>
            </a:r>
            <a:r>
              <a:rPr b="0" i="0" lang="en-US" sz="2400" u="none" cap="none" strike="noStrike">
                <a:solidFill>
                  <a:schemeClr val="dk1"/>
                </a:solidFill>
                <a:latin typeface="Arial"/>
                <a:ea typeface="Arial"/>
                <a:cs typeface="Arial"/>
                <a:sym typeface="Arial"/>
              </a:rPr>
              <a:t>my_val = 19</a:t>
            </a:r>
            <a:endParaRPr b="0" i="0" sz="2400" u="none" cap="none" strike="noStrike">
              <a:solidFill>
                <a:schemeClr val="dk1"/>
              </a:solidFill>
              <a:latin typeface="Arial Black"/>
              <a:ea typeface="Arial Black"/>
              <a:cs typeface="Arial Black"/>
              <a:sym typeface="Arial Black"/>
            </a:endParaRPr>
          </a:p>
          <a:p>
            <a:pPr indent="0" lvl="0" marL="0" marR="0" rtl="0" algn="l">
              <a:spcBef>
                <a:spcPts val="480"/>
              </a:spcBef>
              <a:spcAft>
                <a:spcPts val="0"/>
              </a:spcAft>
              <a:buNone/>
            </a:pPr>
            <a:r>
              <a:rPr b="0" i="0" lang="en-US" sz="2400" u="none" cap="none" strike="noStrike">
                <a:solidFill>
                  <a:schemeClr val="dk1"/>
                </a:solidFill>
                <a:latin typeface="Arial"/>
                <a:ea typeface="Arial"/>
                <a:cs typeface="Arial"/>
                <a:sym typeface="Arial"/>
              </a:rPr>
              <a:t>Thread 0 </a:t>
            </a:r>
            <a:r>
              <a:rPr b="0" i="0" lang="en-US" sz="2400" u="none" cap="none" strike="noStrike">
                <a:solidFill>
                  <a:schemeClr val="dk1"/>
                </a:solidFill>
                <a:latin typeface="Old Standard TT"/>
                <a:ea typeface="Old Standard TT"/>
                <a:cs typeface="Old Standard TT"/>
                <a:sym typeface="Old Standard TT"/>
              </a:rPr>
              <a:t>&gt; </a:t>
            </a:r>
            <a:r>
              <a:rPr b="0" i="0" lang="en-US" sz="2400" u="none" cap="none" strike="noStrike">
                <a:solidFill>
                  <a:schemeClr val="dk1"/>
                </a:solidFill>
                <a:latin typeface="Arial"/>
                <a:ea typeface="Arial"/>
                <a:cs typeface="Arial"/>
                <a:sym typeface="Arial"/>
              </a:rPr>
              <a:t>my_val = 7</a:t>
            </a:r>
            <a:endParaRPr/>
          </a:p>
        </p:txBody>
      </p:sp>
      <p:pic>
        <p:nvPicPr>
          <p:cNvPr descr="C:\Documents and Settings\liszka\Local Settings\Temporary Internet Files\Content.IE5\60RV4HYO\MC900439799[1].png" id="1403" name="Google Shape;1403;p146"/>
          <p:cNvPicPr preferRelativeResize="0"/>
          <p:nvPr/>
        </p:nvPicPr>
        <p:blipFill rotWithShape="1">
          <a:blip r:embed="rId3">
            <a:alphaModFix/>
          </a:blip>
          <a:srcRect b="0" l="0" r="0" t="0"/>
          <a:stretch/>
        </p:blipFill>
        <p:spPr>
          <a:xfrm rot="7522728">
            <a:off x="3211415" y="3344975"/>
            <a:ext cx="1512888" cy="1512888"/>
          </a:xfrm>
          <a:prstGeom prst="rect">
            <a:avLst/>
          </a:prstGeom>
          <a:noFill/>
          <a:ln>
            <a:noFill/>
          </a:ln>
        </p:spPr>
      </p:pic>
      <p:pic>
        <p:nvPicPr>
          <p:cNvPr descr="C:\Documents and Settings\liszka\Local Settings\Temporary Internet Files\Content.IE5\60RV4HYO\MC900439799[1].png" id="1404" name="Google Shape;1404;p146"/>
          <p:cNvPicPr preferRelativeResize="0"/>
          <p:nvPr/>
        </p:nvPicPr>
        <p:blipFill rotWithShape="1">
          <a:blip r:embed="rId3">
            <a:alphaModFix/>
          </a:blip>
          <a:srcRect b="0" l="0" r="0" t="0"/>
          <a:stretch/>
        </p:blipFill>
        <p:spPr>
          <a:xfrm rot="6257650">
            <a:off x="6997701" y="3209271"/>
            <a:ext cx="1511300" cy="1512888"/>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1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Nondeterminism</a:t>
            </a:r>
            <a:endParaRPr/>
          </a:p>
        </p:txBody>
      </p:sp>
      <p:sp>
        <p:nvSpPr>
          <p:cNvPr id="1410" name="Google Shape;1410;p14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11" name="Google Shape;1411;p147"/>
          <p:cNvSpPr/>
          <p:nvPr/>
        </p:nvSpPr>
        <p:spPr>
          <a:xfrm>
            <a:off x="2065338" y="1495426"/>
            <a:ext cx="7705725" cy="11747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Bodoni"/>
                <a:ea typeface="Bodoni"/>
                <a:cs typeface="Bodoni"/>
                <a:sym typeface="Bodoni"/>
              </a:rPr>
              <a:t>my_val = Compute_val ( my_rank ) ;</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x += my_val ;</a:t>
            </a:r>
            <a:endParaRPr/>
          </a:p>
        </p:txBody>
      </p:sp>
      <p:pic>
        <p:nvPicPr>
          <p:cNvPr id="1412" name="Google Shape;1412;p147"/>
          <p:cNvPicPr preferRelativeResize="0"/>
          <p:nvPr/>
        </p:nvPicPr>
        <p:blipFill rotWithShape="1">
          <a:blip r:embed="rId3">
            <a:alphaModFix/>
          </a:blip>
          <a:srcRect b="0" l="0" r="0" t="0"/>
          <a:stretch/>
        </p:blipFill>
        <p:spPr>
          <a:xfrm>
            <a:off x="2424114" y="2852738"/>
            <a:ext cx="6988175" cy="21463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6" name="Shape 1416"/>
        <p:cNvGrpSpPr/>
        <p:nvPr/>
      </p:nvGrpSpPr>
      <p:grpSpPr>
        <a:xfrm>
          <a:off x="0" y="0"/>
          <a:ext cx="0" cy="0"/>
          <a:chOff x="0" y="0"/>
          <a:chExt cx="0" cy="0"/>
        </a:xfrm>
      </p:grpSpPr>
      <p:sp>
        <p:nvSpPr>
          <p:cNvPr id="1417" name="Google Shape;1417;p1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Nondeterminism</a:t>
            </a:r>
            <a:endParaRPr b="0"/>
          </a:p>
        </p:txBody>
      </p:sp>
      <p:sp>
        <p:nvSpPr>
          <p:cNvPr id="1418" name="Google Shape;1418;p148"/>
          <p:cNvSpPr txBox="1"/>
          <p:nvPr>
            <p:ph idx="1" type="body"/>
          </p:nvPr>
        </p:nvSpPr>
        <p:spPr>
          <a:xfrm>
            <a:off x="2208214" y="1538514"/>
            <a:ext cx="8270875" cy="246675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Race condition</a:t>
            </a:r>
            <a:endParaRPr/>
          </a:p>
          <a:p>
            <a:pPr indent="-228600" lvl="0" marL="228600" rtl="0" algn="l">
              <a:lnSpc>
                <a:spcPct val="90000"/>
              </a:lnSpc>
              <a:spcBef>
                <a:spcPts val="1000"/>
              </a:spcBef>
              <a:spcAft>
                <a:spcPts val="0"/>
              </a:spcAft>
              <a:buClr>
                <a:schemeClr val="dk1"/>
              </a:buClr>
              <a:buSzPts val="2800"/>
              <a:buChar char="•"/>
            </a:pPr>
            <a:r>
              <a:rPr lang="en-US"/>
              <a:t>Critical section</a:t>
            </a:r>
            <a:endParaRPr/>
          </a:p>
          <a:p>
            <a:pPr indent="-228600" lvl="0" marL="228600" rtl="0" algn="l">
              <a:lnSpc>
                <a:spcPct val="90000"/>
              </a:lnSpc>
              <a:spcBef>
                <a:spcPts val="1000"/>
              </a:spcBef>
              <a:spcAft>
                <a:spcPts val="0"/>
              </a:spcAft>
              <a:buClr>
                <a:schemeClr val="dk1"/>
              </a:buClr>
              <a:buSzPts val="2800"/>
              <a:buChar char="•"/>
            </a:pPr>
            <a:r>
              <a:rPr lang="en-US"/>
              <a:t>Mutually exclusive</a:t>
            </a:r>
            <a:endParaRPr/>
          </a:p>
          <a:p>
            <a:pPr indent="-228600" lvl="0" marL="228600" rtl="0" algn="l">
              <a:lnSpc>
                <a:spcPct val="90000"/>
              </a:lnSpc>
              <a:spcBef>
                <a:spcPts val="1000"/>
              </a:spcBef>
              <a:spcAft>
                <a:spcPts val="0"/>
              </a:spcAft>
              <a:buClr>
                <a:schemeClr val="dk1"/>
              </a:buClr>
              <a:buSzPts val="2800"/>
              <a:buChar char="•"/>
            </a:pPr>
            <a:r>
              <a:rPr lang="en-US"/>
              <a:t>Mutual exclusion lock (mutex, or simply lock)</a:t>
            </a:r>
            <a:endParaRPr/>
          </a:p>
        </p:txBody>
      </p:sp>
      <p:sp>
        <p:nvSpPr>
          <p:cNvPr id="1419" name="Google Shape;1419;p14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20" name="Google Shape;1420;p148"/>
          <p:cNvSpPr/>
          <p:nvPr/>
        </p:nvSpPr>
        <p:spPr>
          <a:xfrm>
            <a:off x="3792538" y="3860801"/>
            <a:ext cx="6119812" cy="2074863"/>
          </a:xfrm>
          <a:prstGeom prst="rect">
            <a:avLst/>
          </a:prstGeom>
          <a:noFill/>
          <a:ln cap="flat" cmpd="sng" w="28575">
            <a:solidFill>
              <a:srgbClr val="0066FF"/>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Bodoni"/>
                <a:ea typeface="Bodoni"/>
                <a:cs typeface="Bodoni"/>
                <a:sym typeface="Bodoni"/>
              </a:rPr>
              <a:t>my_val = Compute_val ( my_rank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Lock(&amp;add_my_val_lock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x += my_val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Unlock(&amp;add_my_val_lock ) ;</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busy-waiting</a:t>
            </a:r>
            <a:endParaRPr/>
          </a:p>
        </p:txBody>
      </p:sp>
      <p:sp>
        <p:nvSpPr>
          <p:cNvPr id="1426" name="Google Shape;1426;p14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27" name="Google Shape;1427;p149"/>
          <p:cNvSpPr/>
          <p:nvPr/>
        </p:nvSpPr>
        <p:spPr>
          <a:xfrm>
            <a:off x="2063750" y="1484314"/>
            <a:ext cx="8388350" cy="35401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dk1"/>
                </a:solidFill>
                <a:latin typeface="Bodoni"/>
                <a:ea typeface="Bodoni"/>
                <a:cs typeface="Bodoni"/>
                <a:sym typeface="Bodoni"/>
              </a:rPr>
              <a:t>my_val = Compute_val ( my_rank ) ;</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i f ( my_rank == 1)</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whi l e ( ! ok_for_1 ) ;  /* </a:t>
            </a:r>
            <a:r>
              <a:rPr b="0" i="1" lang="en-US" sz="3200" u="none" cap="none" strike="noStrike">
                <a:solidFill>
                  <a:schemeClr val="dk1"/>
                </a:solidFill>
                <a:latin typeface="Bodoni"/>
                <a:ea typeface="Bodoni"/>
                <a:cs typeface="Bodoni"/>
                <a:sym typeface="Bodoni"/>
              </a:rPr>
              <a:t>Busy−wait loop </a:t>
            </a:r>
            <a:r>
              <a:rPr b="0" i="0" lang="en-US" sz="3200" u="none" cap="none" strike="noStrike">
                <a:solidFill>
                  <a:schemeClr val="dk1"/>
                </a:solidFill>
                <a:latin typeface="Bodoni"/>
                <a:ea typeface="Bodoni"/>
                <a:cs typeface="Bodoni"/>
                <a:sym typeface="Bodoni"/>
              </a:rPr>
              <a:t>*/</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x += my_val ;  /* </a:t>
            </a:r>
            <a:r>
              <a:rPr b="0" i="1" lang="en-US" sz="3200" u="none" cap="none" strike="noStrike">
                <a:solidFill>
                  <a:schemeClr val="dk1"/>
                </a:solidFill>
                <a:latin typeface="Bodoni"/>
                <a:ea typeface="Bodoni"/>
                <a:cs typeface="Bodoni"/>
                <a:sym typeface="Bodoni"/>
              </a:rPr>
              <a:t>Critical section </a:t>
            </a:r>
            <a:r>
              <a:rPr b="0" i="0" lang="en-US" sz="3200" u="none" cap="none" strike="noStrike">
                <a:solidFill>
                  <a:schemeClr val="dk1"/>
                </a:solidFill>
                <a:latin typeface="Bodoni"/>
                <a:ea typeface="Bodoni"/>
                <a:cs typeface="Bodoni"/>
                <a:sym typeface="Bodoni"/>
              </a:rPr>
              <a:t>*/</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i f ( my_rank == 0)</a:t>
            </a:r>
            <a:endParaRPr/>
          </a:p>
          <a:p>
            <a:pPr indent="0" lvl="0" marL="0" marR="0" rtl="0" algn="l">
              <a:spcBef>
                <a:spcPts val="640"/>
              </a:spcBef>
              <a:spcAft>
                <a:spcPts val="0"/>
              </a:spcAft>
              <a:buNone/>
            </a:pPr>
            <a:r>
              <a:rPr b="0" i="0" lang="en-US" sz="3200" u="none" cap="none" strike="noStrike">
                <a:solidFill>
                  <a:schemeClr val="dk1"/>
                </a:solidFill>
                <a:latin typeface="Bodoni"/>
                <a:ea typeface="Bodoni"/>
                <a:cs typeface="Bodoni"/>
                <a:sym typeface="Bodoni"/>
              </a:rPr>
              <a:t>     ok_for_1 = true ;  /* </a:t>
            </a:r>
            <a:r>
              <a:rPr b="0" i="1" lang="en-US" sz="3200" u="none" cap="none" strike="noStrike">
                <a:solidFill>
                  <a:schemeClr val="dk1"/>
                </a:solidFill>
                <a:latin typeface="Bodoni"/>
                <a:ea typeface="Bodoni"/>
                <a:cs typeface="Bodoni"/>
                <a:sym typeface="Bodoni"/>
              </a:rPr>
              <a:t>Let thread 1 update x </a:t>
            </a:r>
            <a:r>
              <a:rPr b="0" i="0" lang="en-US" sz="3200" u="none" cap="none" strike="noStrike">
                <a:solidFill>
                  <a:schemeClr val="dk1"/>
                </a:solidFill>
                <a:latin typeface="Bodoni"/>
                <a:ea typeface="Bodoni"/>
                <a:cs typeface="Bodoni"/>
                <a:sym typeface="Bodoni"/>
              </a:rPr>
              <a:t>*/</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150"/>
          <p:cNvSpPr txBox="1"/>
          <p:nvPr>
            <p:ph type="title"/>
          </p:nvPr>
        </p:nvSpPr>
        <p:spPr>
          <a:xfrm>
            <a:off x="838200" y="365125"/>
            <a:ext cx="10515600" cy="54292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message-passing</a:t>
            </a:r>
            <a:endParaRPr/>
          </a:p>
        </p:txBody>
      </p:sp>
      <p:sp>
        <p:nvSpPr>
          <p:cNvPr id="1433" name="Google Shape;1433;p15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34" name="Google Shape;1434;p150"/>
          <p:cNvSpPr/>
          <p:nvPr/>
        </p:nvSpPr>
        <p:spPr>
          <a:xfrm>
            <a:off x="2135188" y="908050"/>
            <a:ext cx="8532812" cy="51768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Bodoni"/>
                <a:ea typeface="Bodoni"/>
                <a:cs typeface="Bodoni"/>
                <a:sym typeface="Bodoni"/>
              </a:rPr>
              <a:t>char message [ 1 0 0 ]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my_rank = Get_rank (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i f ( my_rank == 1)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     sprintf ( message , "Greetings from process 1"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     Send ( message , MSG_CHAR , 100 , 0 )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 e l s e i f ( my_rank == 0)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     Receive ( message , MSG_CHAR , 100 , 1 )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     printf ( "Process 0 &gt; Received: %s\n" , message ) ;</a:t>
            </a:r>
            <a:endParaRPr/>
          </a:p>
          <a:p>
            <a:pPr indent="0" lvl="0" marL="0" marR="0" rtl="0" algn="l">
              <a:spcBef>
                <a:spcPts val="560"/>
              </a:spcBef>
              <a:spcAft>
                <a:spcPts val="0"/>
              </a:spcAft>
              <a:buNone/>
            </a:pPr>
            <a:r>
              <a:rPr b="0" i="0" lang="en-US" sz="2800" u="none" cap="none" strike="noStrike">
                <a:solidFill>
                  <a:schemeClr val="dk1"/>
                </a:solidFill>
                <a:latin typeface="Bodoni"/>
                <a:ea typeface="Bodoni"/>
                <a:cs typeface="Bodoni"/>
                <a:sym typeface="Bodoni"/>
              </a:rPr>
              <a:t>}</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151"/>
          <p:cNvSpPr txBox="1"/>
          <p:nvPr>
            <p:ph type="title"/>
          </p:nvPr>
        </p:nvSpPr>
        <p:spPr>
          <a:xfrm>
            <a:off x="838200" y="290286"/>
            <a:ext cx="8281987"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Partitioned Global Address Space Languages</a:t>
            </a:r>
            <a:endParaRPr/>
          </a:p>
        </p:txBody>
      </p:sp>
      <p:sp>
        <p:nvSpPr>
          <p:cNvPr id="1440" name="Google Shape;1440;p15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41" name="Google Shape;1441;p151"/>
          <p:cNvSpPr/>
          <p:nvPr/>
        </p:nvSpPr>
        <p:spPr>
          <a:xfrm>
            <a:off x="2279650" y="1628775"/>
            <a:ext cx="8064500" cy="40068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Bodoni"/>
                <a:ea typeface="Bodoni"/>
                <a:cs typeface="Bodoni"/>
                <a:sym typeface="Bodoni"/>
              </a:rPr>
              <a:t>shared i n t n = . . . ;</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shared double x [ n ] , y [ n ] ;</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private i n t i , my_first_element , my_last_element ;</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my_first_element = . . . ;</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my_last_element = . . . ;</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 * Initialize x and y  */</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 . .</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f o r ( i = my_first_element ; i &lt;= my_last_element ; i++)</a:t>
            </a:r>
            <a:endParaRPr/>
          </a:p>
          <a:p>
            <a:pPr indent="0" lvl="0" marL="0" marR="0" rtl="0" algn="l">
              <a:spcBef>
                <a:spcPts val="480"/>
              </a:spcBef>
              <a:spcAft>
                <a:spcPts val="0"/>
              </a:spcAft>
              <a:buNone/>
            </a:pPr>
            <a:r>
              <a:rPr b="0" i="0" lang="en-US" sz="2400" u="none" cap="none" strike="noStrike">
                <a:solidFill>
                  <a:schemeClr val="dk1"/>
                </a:solidFill>
                <a:latin typeface="Bodoni"/>
                <a:ea typeface="Bodoni"/>
                <a:cs typeface="Bodoni"/>
                <a:sym typeface="Bodoni"/>
              </a:rPr>
              <a:t>     x [ i ] += y [ i ] ;</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Input and Output</a:t>
            </a:r>
            <a:endParaRPr/>
          </a:p>
        </p:txBody>
      </p:sp>
      <p:sp>
        <p:nvSpPr>
          <p:cNvPr id="1447" name="Google Shape;1447;p1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distributed memory programs, only process 0 will access </a:t>
            </a:r>
            <a:r>
              <a:rPr i="1" lang="en-US">
                <a:solidFill>
                  <a:srgbClr val="00B0F0"/>
                </a:solidFill>
              </a:rPr>
              <a:t>stdin</a:t>
            </a:r>
            <a:r>
              <a:rPr lang="en-US"/>
              <a:t>. In shared memory programs, only the master thread or thread 0 will access </a:t>
            </a:r>
            <a:r>
              <a:rPr i="1" lang="en-US">
                <a:solidFill>
                  <a:srgbClr val="00B0F0"/>
                </a:solidFill>
              </a:rPr>
              <a:t>stdin</a:t>
            </a:r>
            <a:r>
              <a:rPr lang="en-US"/>
              <a:t>.</a:t>
            </a:r>
            <a:br>
              <a:rPr lang="en-US"/>
            </a:br>
            <a:endParaRPr/>
          </a:p>
          <a:p>
            <a:pPr indent="-228600" lvl="0" marL="228600" rtl="0" algn="l">
              <a:lnSpc>
                <a:spcPct val="90000"/>
              </a:lnSpc>
              <a:spcBef>
                <a:spcPts val="1000"/>
              </a:spcBef>
              <a:spcAft>
                <a:spcPts val="0"/>
              </a:spcAft>
              <a:buClr>
                <a:schemeClr val="dk1"/>
              </a:buClr>
              <a:buSzPts val="2800"/>
              <a:buChar char="•"/>
            </a:pPr>
            <a:r>
              <a:rPr lang="en-US"/>
              <a:t>In both distributed memory and shared memory programs all the processes/threads can access </a:t>
            </a:r>
            <a:r>
              <a:rPr i="1" lang="en-US">
                <a:solidFill>
                  <a:srgbClr val="00B0F0"/>
                </a:solidFill>
              </a:rPr>
              <a:t>stdout</a:t>
            </a:r>
            <a:r>
              <a:rPr lang="en-US"/>
              <a:t> and </a:t>
            </a:r>
            <a:r>
              <a:rPr i="1" lang="en-US">
                <a:solidFill>
                  <a:srgbClr val="00B0F0"/>
                </a:solidFill>
              </a:rPr>
              <a:t>stderr</a:t>
            </a:r>
            <a:r>
              <a:rPr lang="en-US"/>
              <a:t>.</a:t>
            </a:r>
            <a:endParaRPr/>
          </a:p>
        </p:txBody>
      </p:sp>
      <p:sp>
        <p:nvSpPr>
          <p:cNvPr id="1448" name="Google Shape;1448;p15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2" name="Shape 1452"/>
        <p:cNvGrpSpPr/>
        <p:nvPr/>
      </p:nvGrpSpPr>
      <p:grpSpPr>
        <a:xfrm>
          <a:off x="0" y="0"/>
          <a:ext cx="0" cy="0"/>
          <a:chOff x="0" y="0"/>
          <a:chExt cx="0" cy="0"/>
        </a:xfrm>
      </p:grpSpPr>
      <p:sp>
        <p:nvSpPr>
          <p:cNvPr id="1453" name="Google Shape;1453;p1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Input and Output</a:t>
            </a:r>
            <a:endParaRPr/>
          </a:p>
        </p:txBody>
      </p:sp>
      <p:sp>
        <p:nvSpPr>
          <p:cNvPr id="1454" name="Google Shape;1454;p1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However, because of the indeterminacy of the order of output to </a:t>
            </a:r>
            <a:r>
              <a:rPr i="1" lang="en-US">
                <a:solidFill>
                  <a:srgbClr val="00B0F0"/>
                </a:solidFill>
              </a:rPr>
              <a:t>stdout</a:t>
            </a:r>
            <a:r>
              <a:rPr lang="en-US"/>
              <a:t>, in most cases only a single process/thread will be used for all output to </a:t>
            </a:r>
            <a:r>
              <a:rPr i="1" lang="en-US">
                <a:solidFill>
                  <a:srgbClr val="00B0F0"/>
                </a:solidFill>
              </a:rPr>
              <a:t>stdout</a:t>
            </a:r>
            <a:r>
              <a:rPr lang="en-US"/>
              <a:t> other than debugging output.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Debug output should always include the rank or id of the process/thread that’s generating the output.</a:t>
            </a:r>
            <a:endParaRPr/>
          </a:p>
        </p:txBody>
      </p:sp>
      <p:sp>
        <p:nvSpPr>
          <p:cNvPr id="1455" name="Google Shape;1455;p15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1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Input and Output</a:t>
            </a:r>
            <a:endParaRPr/>
          </a:p>
        </p:txBody>
      </p:sp>
      <p:sp>
        <p:nvSpPr>
          <p:cNvPr id="1461" name="Google Shape;1461;p1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Only a single process/thread will attempt to access any single file other than </a:t>
            </a:r>
            <a:r>
              <a:rPr i="1" lang="en-US">
                <a:solidFill>
                  <a:srgbClr val="00B0F0"/>
                </a:solidFill>
              </a:rPr>
              <a:t>stdin</a:t>
            </a:r>
            <a:r>
              <a:rPr lang="en-US"/>
              <a:t>, </a:t>
            </a:r>
            <a:r>
              <a:rPr i="1" lang="en-US">
                <a:solidFill>
                  <a:srgbClr val="00B0F0"/>
                </a:solidFill>
              </a:rPr>
              <a:t>stdout</a:t>
            </a:r>
            <a:r>
              <a:rPr lang="en-US"/>
              <a:t>, or </a:t>
            </a:r>
            <a:r>
              <a:rPr i="1" lang="en-US">
                <a:solidFill>
                  <a:srgbClr val="00B0F0"/>
                </a:solidFill>
              </a:rPr>
              <a:t>stderr</a:t>
            </a:r>
            <a:r>
              <a:rPr lang="en-US"/>
              <a:t>. So, for example, each process/thread can open its own, private file for reading or writing, but no two processes/threads will open the same file.</a:t>
            </a:r>
            <a:endParaRPr/>
          </a:p>
        </p:txBody>
      </p:sp>
      <p:sp>
        <p:nvSpPr>
          <p:cNvPr id="1462" name="Google Shape;1462;p15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155"/>
          <p:cNvSpPr txBox="1"/>
          <p:nvPr>
            <p:ph type="title"/>
          </p:nvPr>
        </p:nvSpPr>
        <p:spPr>
          <a:xfrm>
            <a:off x="2246313" y="4406901"/>
            <a:ext cx="7772400" cy="708025"/>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Performance</a:t>
            </a:r>
            <a:endParaRPr/>
          </a:p>
        </p:txBody>
      </p:sp>
      <p:sp>
        <p:nvSpPr>
          <p:cNvPr id="1468" name="Google Shape;1468;p15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View Details" id="1469" name="Google Shape;1469;p155"/>
          <p:cNvPicPr preferRelativeResize="0"/>
          <p:nvPr/>
        </p:nvPicPr>
        <p:blipFill rotWithShape="1">
          <a:blip r:embed="rId3">
            <a:alphaModFix/>
          </a:blip>
          <a:srcRect b="0" l="0" r="0" t="0"/>
          <a:stretch/>
        </p:blipFill>
        <p:spPr>
          <a:xfrm>
            <a:off x="7319963" y="2852738"/>
            <a:ext cx="1439862" cy="1439862"/>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1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Speedup </a:t>
            </a:r>
            <a:endParaRPr/>
          </a:p>
        </p:txBody>
      </p:sp>
      <p:sp>
        <p:nvSpPr>
          <p:cNvPr id="1475" name="Google Shape;1475;p156"/>
          <p:cNvSpPr txBox="1"/>
          <p:nvPr>
            <p:ph idx="1" type="body"/>
          </p:nvPr>
        </p:nvSpPr>
        <p:spPr>
          <a:xfrm>
            <a:off x="1755173" y="1485900"/>
            <a:ext cx="8270875" cy="1943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Number of cores = p</a:t>
            </a:r>
            <a:endParaRPr/>
          </a:p>
          <a:p>
            <a:pPr indent="-228600" lvl="0" marL="228600" rtl="0" algn="l">
              <a:lnSpc>
                <a:spcPct val="90000"/>
              </a:lnSpc>
              <a:spcBef>
                <a:spcPts val="1000"/>
              </a:spcBef>
              <a:spcAft>
                <a:spcPts val="0"/>
              </a:spcAft>
              <a:buClr>
                <a:schemeClr val="dk1"/>
              </a:buClr>
              <a:buSzPts val="2800"/>
              <a:buChar char="•"/>
            </a:pPr>
            <a:r>
              <a:rPr lang="en-US"/>
              <a:t>Serial run-time = T</a:t>
            </a:r>
            <a:r>
              <a:rPr baseline="-25000" lang="en-US"/>
              <a:t>serial</a:t>
            </a:r>
            <a:endParaRPr baseline="-25000"/>
          </a:p>
          <a:p>
            <a:pPr indent="-228600" lvl="0" marL="228600" rtl="0" algn="l">
              <a:lnSpc>
                <a:spcPct val="90000"/>
              </a:lnSpc>
              <a:spcBef>
                <a:spcPts val="1000"/>
              </a:spcBef>
              <a:spcAft>
                <a:spcPts val="0"/>
              </a:spcAft>
              <a:buClr>
                <a:schemeClr val="dk1"/>
              </a:buClr>
              <a:buSzPts val="2800"/>
              <a:buChar char="•"/>
            </a:pPr>
            <a:r>
              <a:rPr lang="en-US"/>
              <a:t>Parallel run-time = T</a:t>
            </a:r>
            <a:r>
              <a:rPr baseline="-25000" lang="en-US"/>
              <a:t>parallel</a:t>
            </a:r>
            <a:endParaRPr baseline="-25000"/>
          </a:p>
          <a:p>
            <a:pPr indent="-50800" lvl="0" marL="228600" rtl="0" algn="l">
              <a:lnSpc>
                <a:spcPct val="90000"/>
              </a:lnSpc>
              <a:spcBef>
                <a:spcPts val="1000"/>
              </a:spcBef>
              <a:spcAft>
                <a:spcPts val="0"/>
              </a:spcAft>
              <a:buClr>
                <a:schemeClr val="dk1"/>
              </a:buClr>
              <a:buSzPts val="2800"/>
              <a:buNone/>
            </a:pPr>
            <a:r>
              <a:t/>
            </a:r>
            <a:endParaRPr/>
          </a:p>
        </p:txBody>
      </p:sp>
      <p:sp>
        <p:nvSpPr>
          <p:cNvPr id="1476" name="Google Shape;1476;p15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77" name="Google Shape;1477;p156"/>
          <p:cNvSpPr/>
          <p:nvPr/>
        </p:nvSpPr>
        <p:spPr>
          <a:xfrm>
            <a:off x="4367213" y="3933825"/>
            <a:ext cx="4075112" cy="706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T</a:t>
            </a:r>
            <a:r>
              <a:rPr b="0" baseline="-25000" i="0" lang="en-US" sz="4000" u="none" cap="none" strike="noStrike">
                <a:solidFill>
                  <a:srgbClr val="003399"/>
                </a:solidFill>
                <a:latin typeface="Arial"/>
                <a:ea typeface="Arial"/>
                <a:cs typeface="Arial"/>
                <a:sym typeface="Arial"/>
              </a:rPr>
              <a:t>parallel </a:t>
            </a:r>
            <a:r>
              <a:rPr b="0" i="0" lang="en-US" sz="4000" u="none" cap="none" strike="noStrike">
                <a:solidFill>
                  <a:srgbClr val="003399"/>
                </a:solidFill>
                <a:latin typeface="Arial"/>
                <a:ea typeface="Arial"/>
                <a:cs typeface="Arial"/>
                <a:sym typeface="Arial"/>
              </a:rPr>
              <a:t>= T</a:t>
            </a:r>
            <a:r>
              <a:rPr b="0" baseline="-25000" i="0" lang="en-US" sz="4000" u="none" cap="none" strike="noStrike">
                <a:solidFill>
                  <a:srgbClr val="003399"/>
                </a:solidFill>
                <a:latin typeface="Arial"/>
                <a:ea typeface="Arial"/>
                <a:cs typeface="Arial"/>
                <a:sym typeface="Arial"/>
              </a:rPr>
              <a:t>serial </a:t>
            </a:r>
            <a:r>
              <a:rPr b="0" i="0" lang="en-US" sz="4000" u="none" cap="none" strike="noStrike">
                <a:solidFill>
                  <a:srgbClr val="003399"/>
                </a:solidFill>
                <a:latin typeface="Arial"/>
                <a:ea typeface="Arial"/>
                <a:cs typeface="Arial"/>
                <a:sym typeface="Arial"/>
              </a:rPr>
              <a:t> / p</a:t>
            </a:r>
            <a:endParaRPr b="0" i="0" sz="4000" u="none" cap="none" strike="noStrike">
              <a:solidFill>
                <a:schemeClr val="dk1"/>
              </a:solidFill>
              <a:latin typeface="Calibri"/>
              <a:ea typeface="Calibri"/>
              <a:cs typeface="Calibri"/>
              <a:sym typeface="Calibri"/>
            </a:endParaRPr>
          </a:p>
        </p:txBody>
      </p:sp>
      <p:sp>
        <p:nvSpPr>
          <p:cNvPr id="1478" name="Google Shape;1478;p156"/>
          <p:cNvSpPr txBox="1"/>
          <p:nvPr/>
        </p:nvSpPr>
        <p:spPr>
          <a:xfrm rot="-1696063">
            <a:off x="2103438" y="3714750"/>
            <a:ext cx="287020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FF0000"/>
                </a:solidFill>
                <a:latin typeface="Calibri"/>
                <a:ea typeface="Calibri"/>
                <a:cs typeface="Calibri"/>
                <a:sym typeface="Calibri"/>
              </a:rPr>
              <a:t>linear speedup</a:t>
            </a:r>
            <a:endParaRPr/>
          </a:p>
        </p:txBody>
      </p:sp>
      <p:pic>
        <p:nvPicPr>
          <p:cNvPr descr="View Details" id="1479" name="Google Shape;1479;p156"/>
          <p:cNvPicPr preferRelativeResize="0"/>
          <p:nvPr/>
        </p:nvPicPr>
        <p:blipFill rotWithShape="1">
          <a:blip r:embed="rId3">
            <a:alphaModFix/>
          </a:blip>
          <a:srcRect b="0" l="0" r="0" t="0"/>
          <a:stretch/>
        </p:blipFill>
        <p:spPr>
          <a:xfrm>
            <a:off x="8688388" y="765175"/>
            <a:ext cx="1346200" cy="1346200"/>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1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Speedup of a parallel program</a:t>
            </a:r>
            <a:endParaRPr/>
          </a:p>
        </p:txBody>
      </p:sp>
      <p:sp>
        <p:nvSpPr>
          <p:cNvPr id="1485" name="Google Shape;1485;p15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grpSp>
        <p:nvGrpSpPr>
          <p:cNvPr id="1486" name="Google Shape;1486;p157"/>
          <p:cNvGrpSpPr/>
          <p:nvPr/>
        </p:nvGrpSpPr>
        <p:grpSpPr>
          <a:xfrm>
            <a:off x="3935414" y="2205038"/>
            <a:ext cx="2968625" cy="1427162"/>
            <a:chOff x="2411760" y="2204864"/>
            <a:chExt cx="2968270" cy="1427966"/>
          </a:xfrm>
        </p:grpSpPr>
        <p:sp>
          <p:nvSpPr>
            <p:cNvPr id="1487" name="Google Shape;1487;p157"/>
            <p:cNvSpPr/>
            <p:nvPr/>
          </p:nvSpPr>
          <p:spPr>
            <a:xfrm>
              <a:off x="3708592" y="2204864"/>
              <a:ext cx="1407945" cy="7084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T</a:t>
              </a:r>
              <a:r>
                <a:rPr b="0" baseline="-25000" i="0" lang="en-US" sz="4000" u="none" cap="none" strike="noStrike">
                  <a:solidFill>
                    <a:srgbClr val="003399"/>
                  </a:solidFill>
                  <a:latin typeface="Arial"/>
                  <a:ea typeface="Arial"/>
                  <a:cs typeface="Arial"/>
                  <a:sym typeface="Arial"/>
                </a:rPr>
                <a:t>serial </a:t>
              </a:r>
              <a:endParaRPr b="0" i="0" sz="4000" u="none" cap="none" strike="noStrike">
                <a:solidFill>
                  <a:schemeClr val="dk1"/>
                </a:solidFill>
                <a:latin typeface="Calibri"/>
                <a:ea typeface="Calibri"/>
                <a:cs typeface="Calibri"/>
                <a:sym typeface="Calibri"/>
              </a:endParaRPr>
            </a:p>
          </p:txBody>
        </p:sp>
        <p:sp>
          <p:nvSpPr>
            <p:cNvPr id="1488" name="Google Shape;1488;p157"/>
            <p:cNvSpPr/>
            <p:nvPr/>
          </p:nvSpPr>
          <p:spPr>
            <a:xfrm>
              <a:off x="3780021" y="2924406"/>
              <a:ext cx="1600009" cy="7084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2400"/>
                <a:buFont typeface="Noto Sans Symbols"/>
                <a:buNone/>
              </a:pPr>
              <a:r>
                <a:rPr b="0" i="0" lang="en-US" sz="4000" u="none" cap="none" strike="noStrike">
                  <a:solidFill>
                    <a:srgbClr val="003399"/>
                  </a:solidFill>
                  <a:latin typeface="Arial"/>
                  <a:ea typeface="Arial"/>
                  <a:cs typeface="Arial"/>
                  <a:sym typeface="Arial"/>
                </a:rPr>
                <a:t>T</a:t>
              </a:r>
              <a:r>
                <a:rPr b="0" baseline="-25000" i="0" lang="en-US" sz="4000" u="none" cap="none" strike="noStrike">
                  <a:solidFill>
                    <a:srgbClr val="003399"/>
                  </a:solidFill>
                  <a:latin typeface="Arial"/>
                  <a:ea typeface="Arial"/>
                  <a:cs typeface="Arial"/>
                  <a:sym typeface="Arial"/>
                </a:rPr>
                <a:t>parallel</a:t>
              </a:r>
              <a:endParaRPr b="0" i="0" sz="4000" u="none" cap="none" strike="noStrike">
                <a:solidFill>
                  <a:srgbClr val="000000"/>
                </a:solidFill>
                <a:latin typeface="Calibri"/>
                <a:ea typeface="Calibri"/>
                <a:cs typeface="Calibri"/>
                <a:sym typeface="Calibri"/>
              </a:endParaRPr>
            </a:p>
          </p:txBody>
        </p:sp>
        <p:sp>
          <p:nvSpPr>
            <p:cNvPr id="1489" name="Google Shape;1489;p157"/>
            <p:cNvSpPr/>
            <p:nvPr/>
          </p:nvSpPr>
          <p:spPr>
            <a:xfrm>
              <a:off x="2411760" y="2492363"/>
              <a:ext cx="1111117" cy="7084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S = </a:t>
              </a:r>
              <a:endParaRPr b="0" i="0" sz="3200" u="none" cap="none" strike="noStrike">
                <a:solidFill>
                  <a:schemeClr val="dk1"/>
                </a:solidFill>
                <a:latin typeface="Calibri"/>
                <a:ea typeface="Calibri"/>
                <a:cs typeface="Calibri"/>
                <a:sym typeface="Calibri"/>
              </a:endParaRPr>
            </a:p>
          </p:txBody>
        </p:sp>
        <p:cxnSp>
          <p:nvCxnSpPr>
            <p:cNvPr id="1490" name="Google Shape;1490;p157"/>
            <p:cNvCxnSpPr/>
            <p:nvPr/>
          </p:nvCxnSpPr>
          <p:spPr>
            <a:xfrm>
              <a:off x="3635896" y="2924944"/>
              <a:ext cx="1656184" cy="0"/>
            </a:xfrm>
            <a:prstGeom prst="straightConnector1">
              <a:avLst/>
            </a:prstGeom>
            <a:noFill/>
            <a:ln cap="flat" cmpd="sng" w="38100">
              <a:solidFill>
                <a:srgbClr val="003399"/>
              </a:solidFill>
              <a:prstDash val="solid"/>
              <a:round/>
              <a:headEnd len="med" w="med" type="none"/>
              <a:tailEnd len="med" w="med" type="none"/>
            </a:ln>
          </p:spPr>
        </p:cxnSp>
      </p:gr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1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Efficiency of a parallel program</a:t>
            </a:r>
            <a:endParaRPr/>
          </a:p>
        </p:txBody>
      </p:sp>
      <p:sp>
        <p:nvSpPr>
          <p:cNvPr id="1496" name="Google Shape;1496;p15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497" name="Google Shape;1497;p158"/>
          <p:cNvSpPr/>
          <p:nvPr/>
        </p:nvSpPr>
        <p:spPr>
          <a:xfrm>
            <a:off x="2279650" y="3068639"/>
            <a:ext cx="1111250"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E = </a:t>
            </a:r>
            <a:endParaRPr b="0" i="0" sz="3200" u="none" cap="none" strike="noStrike">
              <a:solidFill>
                <a:schemeClr val="dk1"/>
              </a:solidFill>
              <a:latin typeface="Calibri"/>
              <a:ea typeface="Calibri"/>
              <a:cs typeface="Calibri"/>
              <a:sym typeface="Calibri"/>
            </a:endParaRPr>
          </a:p>
        </p:txBody>
      </p:sp>
      <p:grpSp>
        <p:nvGrpSpPr>
          <p:cNvPr id="1498" name="Google Shape;1498;p158"/>
          <p:cNvGrpSpPr/>
          <p:nvPr/>
        </p:nvGrpSpPr>
        <p:grpSpPr>
          <a:xfrm>
            <a:off x="5016501" y="1844676"/>
            <a:ext cx="1655763" cy="1304925"/>
            <a:chOff x="3635896" y="2204864"/>
            <a:chExt cx="1656184" cy="1304855"/>
          </a:xfrm>
        </p:grpSpPr>
        <p:sp>
          <p:nvSpPr>
            <p:cNvPr id="1499" name="Google Shape;1499;p158"/>
            <p:cNvSpPr/>
            <p:nvPr/>
          </p:nvSpPr>
          <p:spPr>
            <a:xfrm>
              <a:off x="3707352" y="2204864"/>
              <a:ext cx="1163933" cy="5841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3399"/>
                  </a:solidFill>
                  <a:latin typeface="Arial"/>
                  <a:ea typeface="Arial"/>
                  <a:cs typeface="Arial"/>
                  <a:sym typeface="Arial"/>
                </a:rPr>
                <a:t>T</a:t>
              </a:r>
              <a:r>
                <a:rPr b="0" baseline="-25000" i="0" lang="en-US" sz="3200" u="none" cap="none" strike="noStrike">
                  <a:solidFill>
                    <a:srgbClr val="003399"/>
                  </a:solidFill>
                  <a:latin typeface="Arial"/>
                  <a:ea typeface="Arial"/>
                  <a:cs typeface="Arial"/>
                  <a:sym typeface="Arial"/>
                </a:rPr>
                <a:t>serial </a:t>
              </a:r>
              <a:endParaRPr b="0" i="0" sz="3200" u="none" cap="none" strike="noStrike">
                <a:solidFill>
                  <a:schemeClr val="dk1"/>
                </a:solidFill>
                <a:latin typeface="Calibri"/>
                <a:ea typeface="Calibri"/>
                <a:cs typeface="Calibri"/>
                <a:sym typeface="Calibri"/>
              </a:endParaRPr>
            </a:p>
          </p:txBody>
        </p:sp>
        <p:sp>
          <p:nvSpPr>
            <p:cNvPr id="1500" name="Google Shape;1500;p158"/>
            <p:cNvSpPr/>
            <p:nvPr/>
          </p:nvSpPr>
          <p:spPr>
            <a:xfrm>
              <a:off x="3780396" y="2925550"/>
              <a:ext cx="1317960" cy="5841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920"/>
                <a:buFont typeface="Noto Sans Symbols"/>
                <a:buNone/>
              </a:pPr>
              <a:r>
                <a:rPr b="0" i="0" lang="en-US" sz="3200" u="none" cap="none" strike="noStrike">
                  <a:solidFill>
                    <a:srgbClr val="003399"/>
                  </a:solidFill>
                  <a:latin typeface="Arial"/>
                  <a:ea typeface="Arial"/>
                  <a:cs typeface="Arial"/>
                  <a:sym typeface="Arial"/>
                </a:rPr>
                <a:t>T</a:t>
              </a:r>
              <a:r>
                <a:rPr b="0" baseline="-25000" i="0" lang="en-US" sz="3200" u="none" cap="none" strike="noStrike">
                  <a:solidFill>
                    <a:srgbClr val="003399"/>
                  </a:solidFill>
                  <a:latin typeface="Arial"/>
                  <a:ea typeface="Arial"/>
                  <a:cs typeface="Arial"/>
                  <a:sym typeface="Arial"/>
                </a:rPr>
                <a:t>parallel</a:t>
              </a:r>
              <a:endParaRPr b="0" i="0" sz="3200" u="none" cap="none" strike="noStrike">
                <a:solidFill>
                  <a:srgbClr val="000000"/>
                </a:solidFill>
                <a:latin typeface="Calibri"/>
                <a:ea typeface="Calibri"/>
                <a:cs typeface="Calibri"/>
                <a:sym typeface="Calibri"/>
              </a:endParaRPr>
            </a:p>
          </p:txBody>
        </p:sp>
        <p:cxnSp>
          <p:nvCxnSpPr>
            <p:cNvPr id="1501" name="Google Shape;1501;p158"/>
            <p:cNvCxnSpPr/>
            <p:nvPr/>
          </p:nvCxnSpPr>
          <p:spPr>
            <a:xfrm>
              <a:off x="3635896" y="2924944"/>
              <a:ext cx="1656184" cy="0"/>
            </a:xfrm>
            <a:prstGeom prst="straightConnector1">
              <a:avLst/>
            </a:prstGeom>
            <a:noFill/>
            <a:ln cap="flat" cmpd="sng" w="38100">
              <a:solidFill>
                <a:srgbClr val="003399"/>
              </a:solidFill>
              <a:prstDash val="solid"/>
              <a:round/>
              <a:headEnd len="med" w="med" type="none"/>
              <a:tailEnd len="med" w="med" type="none"/>
            </a:ln>
          </p:spPr>
        </p:cxnSp>
      </p:grpSp>
      <p:sp>
        <p:nvSpPr>
          <p:cNvPr id="1502" name="Google Shape;1502;p158"/>
          <p:cNvSpPr/>
          <p:nvPr/>
        </p:nvSpPr>
        <p:spPr>
          <a:xfrm>
            <a:off x="3328989" y="2708276"/>
            <a:ext cx="668337"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S </a:t>
            </a:r>
            <a:endParaRPr b="0" i="0" sz="3200" u="none" cap="none" strike="noStrike">
              <a:solidFill>
                <a:schemeClr val="dk1"/>
              </a:solidFill>
              <a:latin typeface="Calibri"/>
              <a:ea typeface="Calibri"/>
              <a:cs typeface="Calibri"/>
              <a:sym typeface="Calibri"/>
            </a:endParaRPr>
          </a:p>
        </p:txBody>
      </p:sp>
      <p:sp>
        <p:nvSpPr>
          <p:cNvPr id="1503" name="Google Shape;1503;p158"/>
          <p:cNvSpPr/>
          <p:nvPr/>
        </p:nvSpPr>
        <p:spPr>
          <a:xfrm>
            <a:off x="3328989" y="3644901"/>
            <a:ext cx="612775"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p </a:t>
            </a:r>
            <a:endParaRPr b="0" i="0" sz="3200" u="none" cap="none" strike="noStrike">
              <a:solidFill>
                <a:schemeClr val="dk1"/>
              </a:solidFill>
              <a:latin typeface="Calibri"/>
              <a:ea typeface="Calibri"/>
              <a:cs typeface="Calibri"/>
              <a:sym typeface="Calibri"/>
            </a:endParaRPr>
          </a:p>
        </p:txBody>
      </p:sp>
      <p:cxnSp>
        <p:nvCxnSpPr>
          <p:cNvPr id="1504" name="Google Shape;1504;p158"/>
          <p:cNvCxnSpPr/>
          <p:nvPr/>
        </p:nvCxnSpPr>
        <p:spPr>
          <a:xfrm>
            <a:off x="3303589" y="3500438"/>
            <a:ext cx="719137" cy="0"/>
          </a:xfrm>
          <a:prstGeom prst="straightConnector1">
            <a:avLst/>
          </a:prstGeom>
          <a:noFill/>
          <a:ln cap="flat" cmpd="sng" w="38100">
            <a:solidFill>
              <a:srgbClr val="003399"/>
            </a:solidFill>
            <a:prstDash val="solid"/>
            <a:round/>
            <a:headEnd len="med" w="med" type="none"/>
            <a:tailEnd len="med" w="med" type="none"/>
          </a:ln>
        </p:spPr>
      </p:cxnSp>
      <p:sp>
        <p:nvSpPr>
          <p:cNvPr id="1505" name="Google Shape;1505;p158"/>
          <p:cNvSpPr/>
          <p:nvPr/>
        </p:nvSpPr>
        <p:spPr>
          <a:xfrm>
            <a:off x="4079876" y="3068639"/>
            <a:ext cx="627063"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 </a:t>
            </a:r>
            <a:endParaRPr b="0" i="0" sz="3200" u="none" cap="none" strike="noStrike">
              <a:solidFill>
                <a:schemeClr val="dk1"/>
              </a:solidFill>
              <a:latin typeface="Calibri"/>
              <a:ea typeface="Calibri"/>
              <a:cs typeface="Calibri"/>
              <a:sym typeface="Calibri"/>
            </a:endParaRPr>
          </a:p>
        </p:txBody>
      </p:sp>
      <p:sp>
        <p:nvSpPr>
          <p:cNvPr id="1506" name="Google Shape;1506;p158"/>
          <p:cNvSpPr/>
          <p:nvPr/>
        </p:nvSpPr>
        <p:spPr>
          <a:xfrm>
            <a:off x="5303839" y="3644901"/>
            <a:ext cx="612775"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p </a:t>
            </a:r>
            <a:endParaRPr b="0" i="0" sz="3200" u="none" cap="none" strike="noStrike">
              <a:solidFill>
                <a:schemeClr val="dk1"/>
              </a:solidFill>
              <a:latin typeface="Calibri"/>
              <a:ea typeface="Calibri"/>
              <a:cs typeface="Calibri"/>
              <a:sym typeface="Calibri"/>
            </a:endParaRPr>
          </a:p>
        </p:txBody>
      </p:sp>
      <p:sp>
        <p:nvSpPr>
          <p:cNvPr id="1507" name="Google Shape;1507;p158"/>
          <p:cNvSpPr/>
          <p:nvPr/>
        </p:nvSpPr>
        <p:spPr>
          <a:xfrm>
            <a:off x="4872039" y="1844676"/>
            <a:ext cx="1944687" cy="1655763"/>
          </a:xfrm>
          <a:prstGeom prst="bracketPair">
            <a:avLst/>
          </a:prstGeom>
          <a:noFill/>
          <a:ln cap="flat" cmpd="sng" w="9525">
            <a:solidFill>
              <a:srgbClr val="003399"/>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cxnSp>
        <p:nvCxnSpPr>
          <p:cNvPr id="1508" name="Google Shape;1508;p158"/>
          <p:cNvCxnSpPr/>
          <p:nvPr/>
        </p:nvCxnSpPr>
        <p:spPr>
          <a:xfrm>
            <a:off x="4656139" y="3573463"/>
            <a:ext cx="2160587" cy="0"/>
          </a:xfrm>
          <a:prstGeom prst="straightConnector1">
            <a:avLst/>
          </a:prstGeom>
          <a:noFill/>
          <a:ln cap="flat" cmpd="sng" w="38100">
            <a:solidFill>
              <a:srgbClr val="003399"/>
            </a:solidFill>
            <a:prstDash val="solid"/>
            <a:round/>
            <a:headEnd len="med" w="med" type="none"/>
            <a:tailEnd len="med" w="med" type="none"/>
          </a:ln>
        </p:spPr>
      </p:cxnSp>
      <p:sp>
        <p:nvSpPr>
          <p:cNvPr id="1509" name="Google Shape;1509;p158"/>
          <p:cNvSpPr/>
          <p:nvPr/>
        </p:nvSpPr>
        <p:spPr>
          <a:xfrm>
            <a:off x="7104063" y="3068639"/>
            <a:ext cx="627062"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 </a:t>
            </a:r>
            <a:endParaRPr b="0" i="0" sz="3200" u="none" cap="none" strike="noStrike">
              <a:solidFill>
                <a:schemeClr val="dk1"/>
              </a:solidFill>
              <a:latin typeface="Calibri"/>
              <a:ea typeface="Calibri"/>
              <a:cs typeface="Calibri"/>
              <a:sym typeface="Calibri"/>
            </a:endParaRPr>
          </a:p>
        </p:txBody>
      </p:sp>
      <p:grpSp>
        <p:nvGrpSpPr>
          <p:cNvPr id="1510" name="Google Shape;1510;p158"/>
          <p:cNvGrpSpPr/>
          <p:nvPr/>
        </p:nvGrpSpPr>
        <p:grpSpPr>
          <a:xfrm>
            <a:off x="7824788" y="2852739"/>
            <a:ext cx="1916112" cy="1304925"/>
            <a:chOff x="3635896" y="2204864"/>
            <a:chExt cx="1917258" cy="1304855"/>
          </a:xfrm>
        </p:grpSpPr>
        <p:sp>
          <p:nvSpPr>
            <p:cNvPr id="1511" name="Google Shape;1511;p158"/>
            <p:cNvSpPr/>
            <p:nvPr/>
          </p:nvSpPr>
          <p:spPr>
            <a:xfrm>
              <a:off x="3707376" y="2204864"/>
              <a:ext cx="1164334" cy="5841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3399"/>
                  </a:solidFill>
                  <a:latin typeface="Arial"/>
                  <a:ea typeface="Arial"/>
                  <a:cs typeface="Arial"/>
                  <a:sym typeface="Arial"/>
                </a:rPr>
                <a:t>T</a:t>
              </a:r>
              <a:r>
                <a:rPr b="0" baseline="-25000" i="0" lang="en-US" sz="3200" u="none" cap="none" strike="noStrike">
                  <a:solidFill>
                    <a:srgbClr val="003399"/>
                  </a:solidFill>
                  <a:latin typeface="Arial"/>
                  <a:ea typeface="Arial"/>
                  <a:cs typeface="Arial"/>
                  <a:sym typeface="Arial"/>
                </a:rPr>
                <a:t>serial </a:t>
              </a:r>
              <a:endParaRPr b="0" i="0" sz="3200" u="none" cap="none" strike="noStrike">
                <a:solidFill>
                  <a:schemeClr val="dk1"/>
                </a:solidFill>
                <a:latin typeface="Calibri"/>
                <a:ea typeface="Calibri"/>
                <a:cs typeface="Calibri"/>
                <a:sym typeface="Calibri"/>
              </a:endParaRPr>
            </a:p>
          </p:txBody>
        </p:sp>
        <p:sp>
          <p:nvSpPr>
            <p:cNvPr id="1512" name="Google Shape;1512;p158"/>
            <p:cNvSpPr/>
            <p:nvPr/>
          </p:nvSpPr>
          <p:spPr>
            <a:xfrm>
              <a:off x="3780444" y="2925550"/>
              <a:ext cx="1772710" cy="5841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920"/>
                <a:buFont typeface="Noto Sans Symbols"/>
                <a:buNone/>
              </a:pPr>
              <a:r>
                <a:rPr b="0" i="0" lang="en-US" sz="3200" u="none" cap="none" strike="noStrike">
                  <a:solidFill>
                    <a:srgbClr val="003399"/>
                  </a:solidFill>
                  <a:latin typeface="Arial"/>
                  <a:ea typeface="Arial"/>
                  <a:cs typeface="Arial"/>
                  <a:sym typeface="Arial"/>
                </a:rPr>
                <a:t>p  T</a:t>
              </a:r>
              <a:r>
                <a:rPr b="0" baseline="-25000" i="0" lang="en-US" sz="3200" u="none" cap="none" strike="noStrike">
                  <a:solidFill>
                    <a:srgbClr val="003399"/>
                  </a:solidFill>
                  <a:latin typeface="Arial"/>
                  <a:ea typeface="Arial"/>
                  <a:cs typeface="Arial"/>
                  <a:sym typeface="Arial"/>
                </a:rPr>
                <a:t>parallel</a:t>
              </a:r>
              <a:endParaRPr b="0" i="0" sz="3200" u="none" cap="none" strike="noStrike">
                <a:solidFill>
                  <a:srgbClr val="000000"/>
                </a:solidFill>
                <a:latin typeface="Calibri"/>
                <a:ea typeface="Calibri"/>
                <a:cs typeface="Calibri"/>
                <a:sym typeface="Calibri"/>
              </a:endParaRPr>
            </a:p>
          </p:txBody>
        </p:sp>
        <p:cxnSp>
          <p:nvCxnSpPr>
            <p:cNvPr id="1513" name="Google Shape;1513;p158"/>
            <p:cNvCxnSpPr/>
            <p:nvPr/>
          </p:nvCxnSpPr>
          <p:spPr>
            <a:xfrm>
              <a:off x="3635896" y="2924944"/>
              <a:ext cx="1656184" cy="0"/>
            </a:xfrm>
            <a:prstGeom prst="straightConnector1">
              <a:avLst/>
            </a:prstGeom>
            <a:noFill/>
            <a:ln cap="flat" cmpd="sng" w="38100">
              <a:solidFill>
                <a:srgbClr val="003399"/>
              </a:solidFill>
              <a:prstDash val="solid"/>
              <a:round/>
              <a:headEnd len="med" w="med" type="none"/>
              <a:tailEnd len="med" w="med" type="none"/>
            </a:ln>
          </p:spPr>
        </p:cxnSp>
      </p:grpSp>
      <p:sp>
        <p:nvSpPr>
          <p:cNvPr id="1514" name="Google Shape;1514;p158"/>
          <p:cNvSpPr txBox="1"/>
          <p:nvPr/>
        </p:nvSpPr>
        <p:spPr>
          <a:xfrm>
            <a:off x="8256589" y="3213101"/>
            <a:ext cx="376237" cy="9239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40"/>
              <a:buFont typeface="Noto Sans Symbols"/>
              <a:buNone/>
            </a:pPr>
            <a:r>
              <a:rPr b="0" i="0" lang="en-US" sz="5400" u="none" cap="none" strike="noStrike">
                <a:solidFill>
                  <a:srgbClr val="003399"/>
                </a:solidFill>
                <a:latin typeface="Calibri"/>
                <a:ea typeface="Calibri"/>
                <a:cs typeface="Calibri"/>
                <a:sym typeface="Calibri"/>
              </a:rPr>
              <a:t>.</a:t>
            </a:r>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159"/>
          <p:cNvSpPr txBox="1"/>
          <p:nvPr>
            <p:ph type="title"/>
          </p:nvPr>
        </p:nvSpPr>
        <p:spPr>
          <a:xfrm>
            <a:off x="1047750" y="491671"/>
            <a:ext cx="8281988"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Speedups and efficiencies of a parallel program</a:t>
            </a:r>
            <a:endParaRPr/>
          </a:p>
        </p:txBody>
      </p:sp>
      <p:sp>
        <p:nvSpPr>
          <p:cNvPr id="1520" name="Google Shape;1520;p15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1521" name="Google Shape;1521;p159"/>
          <p:cNvPicPr preferRelativeResize="0"/>
          <p:nvPr/>
        </p:nvPicPr>
        <p:blipFill rotWithShape="1">
          <a:blip r:embed="rId3">
            <a:alphaModFix/>
          </a:blip>
          <a:srcRect b="0" l="0" r="0" t="0"/>
          <a:stretch/>
        </p:blipFill>
        <p:spPr>
          <a:xfrm>
            <a:off x="2135188" y="1844675"/>
            <a:ext cx="7804150" cy="208915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60"/>
          <p:cNvSpPr txBox="1"/>
          <p:nvPr>
            <p:ph type="title"/>
          </p:nvPr>
        </p:nvSpPr>
        <p:spPr>
          <a:xfrm>
            <a:off x="1120321" y="411162"/>
            <a:ext cx="8281988" cy="19383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Speedups and efficiencies of parallel program on different problem sizes</a:t>
            </a:r>
            <a:endParaRPr/>
          </a:p>
        </p:txBody>
      </p:sp>
      <p:sp>
        <p:nvSpPr>
          <p:cNvPr id="1527" name="Google Shape;1527;p16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1528" name="Google Shape;1528;p160"/>
          <p:cNvPicPr preferRelativeResize="0"/>
          <p:nvPr/>
        </p:nvPicPr>
        <p:blipFill rotWithShape="1">
          <a:blip r:embed="rId3">
            <a:alphaModFix/>
          </a:blip>
          <a:srcRect b="0" l="0" r="0" t="0"/>
          <a:stretch/>
        </p:blipFill>
        <p:spPr>
          <a:xfrm>
            <a:off x="2927350" y="2349500"/>
            <a:ext cx="6015038" cy="2903538"/>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Speedup</a:t>
            </a:r>
            <a:endParaRPr/>
          </a:p>
        </p:txBody>
      </p:sp>
      <p:sp>
        <p:nvSpPr>
          <p:cNvPr id="1534" name="Google Shape;1534;p16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18-9780123742605.eps" id="1535" name="Google Shape;1535;p161"/>
          <p:cNvPicPr preferRelativeResize="0"/>
          <p:nvPr/>
        </p:nvPicPr>
        <p:blipFill rotWithShape="1">
          <a:blip r:embed="rId3">
            <a:alphaModFix/>
          </a:blip>
          <a:srcRect b="0" l="0" r="0" t="0"/>
          <a:stretch/>
        </p:blipFill>
        <p:spPr>
          <a:xfrm>
            <a:off x="3000376" y="1196975"/>
            <a:ext cx="6696075" cy="4446588"/>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1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Efficiency</a:t>
            </a:r>
            <a:endParaRPr/>
          </a:p>
        </p:txBody>
      </p:sp>
      <p:sp>
        <p:nvSpPr>
          <p:cNvPr id="1541" name="Google Shape;1541;p16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19-9780123742605.eps" id="1542" name="Google Shape;1542;p162"/>
          <p:cNvPicPr preferRelativeResize="0"/>
          <p:nvPr/>
        </p:nvPicPr>
        <p:blipFill rotWithShape="1">
          <a:blip r:embed="rId3">
            <a:alphaModFix/>
          </a:blip>
          <a:srcRect b="0" l="0" r="0" t="0"/>
          <a:stretch/>
        </p:blipFill>
        <p:spPr>
          <a:xfrm>
            <a:off x="3216275" y="1268413"/>
            <a:ext cx="6419850" cy="4140200"/>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1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Effect of overhead</a:t>
            </a:r>
            <a:endParaRPr/>
          </a:p>
        </p:txBody>
      </p:sp>
      <p:sp>
        <p:nvSpPr>
          <p:cNvPr id="1548" name="Google Shape;1548;p16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549" name="Google Shape;1549;p163"/>
          <p:cNvSpPr/>
          <p:nvPr/>
        </p:nvSpPr>
        <p:spPr>
          <a:xfrm>
            <a:off x="3000375" y="2420939"/>
            <a:ext cx="6402388" cy="7080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Noto Sans Symbols"/>
              <a:buNone/>
            </a:pPr>
            <a:r>
              <a:rPr b="0" i="0" lang="en-US" sz="4000" u="none" cap="none" strike="noStrike">
                <a:solidFill>
                  <a:srgbClr val="003399"/>
                </a:solidFill>
                <a:latin typeface="Arial"/>
                <a:ea typeface="Arial"/>
                <a:cs typeface="Arial"/>
                <a:sym typeface="Arial"/>
              </a:rPr>
              <a:t>T</a:t>
            </a:r>
            <a:r>
              <a:rPr b="0" baseline="-25000" i="0" lang="en-US" sz="4000" u="none" cap="none" strike="noStrike">
                <a:solidFill>
                  <a:srgbClr val="003399"/>
                </a:solidFill>
                <a:latin typeface="Arial"/>
                <a:ea typeface="Arial"/>
                <a:cs typeface="Arial"/>
                <a:sym typeface="Arial"/>
              </a:rPr>
              <a:t>parallel </a:t>
            </a:r>
            <a:r>
              <a:rPr b="0" i="0" lang="en-US" sz="4000" u="none" cap="none" strike="noStrike">
                <a:solidFill>
                  <a:srgbClr val="003399"/>
                </a:solidFill>
                <a:latin typeface="Arial"/>
                <a:ea typeface="Arial"/>
                <a:cs typeface="Arial"/>
                <a:sym typeface="Arial"/>
              </a:rPr>
              <a:t>= T</a:t>
            </a:r>
            <a:r>
              <a:rPr b="0" baseline="-25000" i="0" lang="en-US" sz="4000" u="none" cap="none" strike="noStrike">
                <a:solidFill>
                  <a:srgbClr val="003399"/>
                </a:solidFill>
                <a:latin typeface="Arial"/>
                <a:ea typeface="Arial"/>
                <a:cs typeface="Arial"/>
                <a:sym typeface="Arial"/>
              </a:rPr>
              <a:t>serial </a:t>
            </a:r>
            <a:r>
              <a:rPr b="0" i="0" lang="en-US" sz="4000" u="none" cap="none" strike="noStrike">
                <a:solidFill>
                  <a:srgbClr val="003399"/>
                </a:solidFill>
                <a:latin typeface="Arial"/>
                <a:ea typeface="Arial"/>
                <a:cs typeface="Arial"/>
                <a:sym typeface="Arial"/>
              </a:rPr>
              <a:t> / p + T</a:t>
            </a:r>
            <a:r>
              <a:rPr b="0" baseline="-25000" i="0" lang="en-US" sz="4000" u="none" cap="none" strike="noStrike">
                <a:solidFill>
                  <a:srgbClr val="003399"/>
                </a:solidFill>
                <a:latin typeface="Arial"/>
                <a:ea typeface="Arial"/>
                <a:cs typeface="Arial"/>
                <a:sym typeface="Arial"/>
              </a:rPr>
              <a:t>overhead</a:t>
            </a:r>
            <a:endParaRPr b="0" baseline="-25000" i="0" sz="4000" u="none" cap="none" strike="noStrike">
              <a:solidFill>
                <a:schemeClr val="dk1"/>
              </a:solidFill>
              <a:latin typeface="Calibri"/>
              <a:ea typeface="Calibri"/>
              <a:cs typeface="Calibri"/>
              <a:sym typeface="Calibri"/>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3" name="Shape 1553"/>
        <p:cNvGrpSpPr/>
        <p:nvPr/>
      </p:nvGrpSpPr>
      <p:grpSpPr>
        <a:xfrm>
          <a:off x="0" y="0"/>
          <a:ext cx="0" cy="0"/>
          <a:chOff x="0" y="0"/>
          <a:chExt cx="0" cy="0"/>
        </a:xfrm>
      </p:grpSpPr>
      <p:sp>
        <p:nvSpPr>
          <p:cNvPr id="1554" name="Google Shape;1554;p1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Amdahl’s Law</a:t>
            </a:r>
            <a:endParaRPr/>
          </a:p>
        </p:txBody>
      </p:sp>
      <p:sp>
        <p:nvSpPr>
          <p:cNvPr id="1555" name="Google Shape;1555;p16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Unless virtually all of a serial program is parallelized, the possible speedup is going to be very limited — regardless of the number of cores available.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56" name="Google Shape;1556;p16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View Details" id="1557" name="Google Shape;1557;p164"/>
          <p:cNvPicPr preferRelativeResize="0"/>
          <p:nvPr/>
        </p:nvPicPr>
        <p:blipFill rotWithShape="1">
          <a:blip r:embed="rId3">
            <a:alphaModFix/>
          </a:blip>
          <a:srcRect b="0" l="0" r="0" t="0"/>
          <a:stretch/>
        </p:blipFill>
        <p:spPr>
          <a:xfrm>
            <a:off x="8256589" y="4005264"/>
            <a:ext cx="1849437" cy="1851025"/>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1" name="Shape 1561"/>
        <p:cNvGrpSpPr/>
        <p:nvPr/>
      </p:nvGrpSpPr>
      <p:grpSpPr>
        <a:xfrm>
          <a:off x="0" y="0"/>
          <a:ext cx="0" cy="0"/>
          <a:chOff x="0" y="0"/>
          <a:chExt cx="0" cy="0"/>
        </a:xfrm>
      </p:grpSpPr>
      <p:sp>
        <p:nvSpPr>
          <p:cNvPr id="1562" name="Google Shape;1562;p1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sp>
        <p:nvSpPr>
          <p:cNvPr id="1563" name="Google Shape;1563;p165"/>
          <p:cNvSpPr txBox="1"/>
          <p:nvPr>
            <p:ph idx="1" type="body"/>
          </p:nvPr>
        </p:nvSpPr>
        <p:spPr>
          <a:xfrm>
            <a:off x="624114" y="1620836"/>
            <a:ext cx="11234057" cy="2887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can parallelize 90% of a serial program.</a:t>
            </a:r>
            <a:endParaRPr/>
          </a:p>
          <a:p>
            <a:pPr indent="-228600" lvl="0" marL="228600" rtl="0" algn="l">
              <a:lnSpc>
                <a:spcPct val="90000"/>
              </a:lnSpc>
              <a:spcBef>
                <a:spcPts val="1000"/>
              </a:spcBef>
              <a:spcAft>
                <a:spcPts val="0"/>
              </a:spcAft>
              <a:buClr>
                <a:schemeClr val="dk1"/>
              </a:buClr>
              <a:buSzPts val="2800"/>
              <a:buChar char="•"/>
            </a:pPr>
            <a:r>
              <a:rPr lang="en-US"/>
              <a:t>Parallelization is “perfect” regardless of the number of cores </a:t>
            </a:r>
            <a:r>
              <a:rPr i="1" lang="en-US"/>
              <a:t>p</a:t>
            </a:r>
            <a:r>
              <a:rPr lang="en-US"/>
              <a:t> we use.</a:t>
            </a:r>
            <a:endParaRPr/>
          </a:p>
          <a:p>
            <a:pPr indent="-228600" lvl="0" marL="228600" rtl="0" algn="l">
              <a:lnSpc>
                <a:spcPct val="90000"/>
              </a:lnSpc>
              <a:spcBef>
                <a:spcPts val="1000"/>
              </a:spcBef>
              <a:spcAft>
                <a:spcPts val="0"/>
              </a:spcAft>
              <a:buClr>
                <a:schemeClr val="dk1"/>
              </a:buClr>
              <a:buSzPts val="2800"/>
              <a:buChar char="•"/>
            </a:pPr>
            <a:r>
              <a:rPr lang="en-US"/>
              <a:t>T</a:t>
            </a:r>
            <a:r>
              <a:rPr baseline="-25000" lang="en-US"/>
              <a:t>serial </a:t>
            </a:r>
            <a:r>
              <a:rPr lang="en-US"/>
              <a:t>= 20 seconds</a:t>
            </a:r>
            <a:endParaRPr/>
          </a:p>
          <a:p>
            <a:pPr indent="-228600" lvl="0" marL="228600" rtl="0" algn="l">
              <a:lnSpc>
                <a:spcPct val="90000"/>
              </a:lnSpc>
              <a:spcBef>
                <a:spcPts val="1000"/>
              </a:spcBef>
              <a:spcAft>
                <a:spcPts val="0"/>
              </a:spcAft>
              <a:buClr>
                <a:schemeClr val="dk1"/>
              </a:buClr>
              <a:buSzPts val="2800"/>
              <a:buChar char="•"/>
            </a:pPr>
            <a:r>
              <a:rPr lang="en-US"/>
              <a:t>Runtime  of parallelizable part is  </a:t>
            </a:r>
            <a:endParaRPr/>
          </a:p>
        </p:txBody>
      </p:sp>
      <p:sp>
        <p:nvSpPr>
          <p:cNvPr id="1564" name="Google Shape;1564;p16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565" name="Google Shape;1565;p165"/>
          <p:cNvSpPr/>
          <p:nvPr/>
        </p:nvSpPr>
        <p:spPr>
          <a:xfrm>
            <a:off x="3648076" y="4652963"/>
            <a:ext cx="4113213"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3399"/>
                </a:solidFill>
                <a:latin typeface="Arial"/>
                <a:ea typeface="Arial"/>
                <a:cs typeface="Arial"/>
                <a:sym typeface="Arial"/>
              </a:rPr>
              <a:t>0.9 x T</a:t>
            </a:r>
            <a:r>
              <a:rPr b="0" baseline="-25000" i="0" lang="en-US" sz="3200" u="none" cap="none" strike="noStrike">
                <a:solidFill>
                  <a:srgbClr val="003399"/>
                </a:solidFill>
                <a:latin typeface="Arial"/>
                <a:ea typeface="Arial"/>
                <a:cs typeface="Arial"/>
                <a:sym typeface="Arial"/>
              </a:rPr>
              <a:t>serial </a:t>
            </a:r>
            <a:r>
              <a:rPr b="0" i="0" lang="en-US" sz="3200" u="none" cap="none" strike="noStrike">
                <a:solidFill>
                  <a:srgbClr val="003399"/>
                </a:solidFill>
                <a:latin typeface="Arial"/>
                <a:ea typeface="Arial"/>
                <a:cs typeface="Arial"/>
                <a:sym typeface="Arial"/>
              </a:rPr>
              <a:t>/ p = 18 / p</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1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(cont.)</a:t>
            </a:r>
            <a:endParaRPr/>
          </a:p>
        </p:txBody>
      </p:sp>
      <p:sp>
        <p:nvSpPr>
          <p:cNvPr id="1571" name="Google Shape;1571;p166"/>
          <p:cNvSpPr txBox="1"/>
          <p:nvPr>
            <p:ph idx="1" type="body"/>
          </p:nvPr>
        </p:nvSpPr>
        <p:spPr>
          <a:xfrm>
            <a:off x="2208214" y="1509486"/>
            <a:ext cx="8270875" cy="235131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Runtime  of “unparallelizable” part is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Overall parallel run-time is</a:t>
            </a:r>
            <a:endParaRPr/>
          </a:p>
        </p:txBody>
      </p:sp>
      <p:sp>
        <p:nvSpPr>
          <p:cNvPr id="1572" name="Google Shape;1572;p16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573" name="Google Shape;1573;p166"/>
          <p:cNvSpPr/>
          <p:nvPr/>
        </p:nvSpPr>
        <p:spPr>
          <a:xfrm>
            <a:off x="4079876" y="2060575"/>
            <a:ext cx="2822575"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003399"/>
                </a:solidFill>
                <a:latin typeface="Arial"/>
                <a:ea typeface="Arial"/>
                <a:cs typeface="Arial"/>
                <a:sym typeface="Arial"/>
              </a:rPr>
              <a:t>0.1 x T</a:t>
            </a:r>
            <a:r>
              <a:rPr b="0" baseline="-25000" i="0" lang="en-US" sz="3200" u="none" cap="none" strike="noStrike">
                <a:solidFill>
                  <a:srgbClr val="003399"/>
                </a:solidFill>
                <a:latin typeface="Arial"/>
                <a:ea typeface="Arial"/>
                <a:cs typeface="Arial"/>
                <a:sym typeface="Arial"/>
              </a:rPr>
              <a:t>serial  </a:t>
            </a:r>
            <a:r>
              <a:rPr b="0" i="0" lang="en-US" sz="3200" u="none" cap="none" strike="noStrike">
                <a:solidFill>
                  <a:srgbClr val="003399"/>
                </a:solidFill>
                <a:latin typeface="Arial"/>
                <a:ea typeface="Arial"/>
                <a:cs typeface="Arial"/>
                <a:sym typeface="Arial"/>
              </a:rPr>
              <a:t>= 2</a:t>
            </a:r>
            <a:endParaRPr b="0" i="0" sz="3200" u="none" cap="none" strike="noStrike">
              <a:solidFill>
                <a:schemeClr val="dk1"/>
              </a:solidFill>
              <a:latin typeface="Calibri"/>
              <a:ea typeface="Calibri"/>
              <a:cs typeface="Calibri"/>
              <a:sym typeface="Calibri"/>
            </a:endParaRPr>
          </a:p>
        </p:txBody>
      </p:sp>
      <p:sp>
        <p:nvSpPr>
          <p:cNvPr id="1574" name="Google Shape;1574;p166"/>
          <p:cNvSpPr/>
          <p:nvPr/>
        </p:nvSpPr>
        <p:spPr>
          <a:xfrm>
            <a:off x="2566988" y="4076701"/>
            <a:ext cx="6710362"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C00000"/>
                </a:solidFill>
                <a:latin typeface="Arial"/>
                <a:ea typeface="Arial"/>
                <a:cs typeface="Arial"/>
                <a:sym typeface="Arial"/>
              </a:rPr>
              <a:t>T</a:t>
            </a:r>
            <a:r>
              <a:rPr b="0" baseline="-25000" i="0" lang="en-US" sz="2400" u="none" cap="none" strike="noStrike">
                <a:solidFill>
                  <a:srgbClr val="C00000"/>
                </a:solidFill>
                <a:latin typeface="Arial"/>
                <a:ea typeface="Arial"/>
                <a:cs typeface="Arial"/>
                <a:sym typeface="Arial"/>
              </a:rPr>
              <a:t>parallel</a:t>
            </a:r>
            <a:r>
              <a:rPr b="0" i="0" lang="en-US" sz="2400" u="none" cap="none" strike="noStrike">
                <a:solidFill>
                  <a:srgbClr val="C00000"/>
                </a:solidFill>
                <a:latin typeface="Arial"/>
                <a:ea typeface="Arial"/>
                <a:cs typeface="Arial"/>
                <a:sym typeface="Arial"/>
              </a:rPr>
              <a:t> = 0.9 x T</a:t>
            </a:r>
            <a:r>
              <a:rPr b="0" baseline="-25000" i="0" lang="en-US" sz="2400" u="none" cap="none" strike="noStrike">
                <a:solidFill>
                  <a:srgbClr val="C00000"/>
                </a:solidFill>
                <a:latin typeface="Arial"/>
                <a:ea typeface="Arial"/>
                <a:cs typeface="Arial"/>
                <a:sym typeface="Arial"/>
              </a:rPr>
              <a:t>serial </a:t>
            </a:r>
            <a:r>
              <a:rPr b="0" i="0" lang="en-US" sz="2400" u="none" cap="none" strike="noStrike">
                <a:solidFill>
                  <a:srgbClr val="C00000"/>
                </a:solidFill>
                <a:latin typeface="Arial"/>
                <a:ea typeface="Arial"/>
                <a:cs typeface="Arial"/>
                <a:sym typeface="Arial"/>
              </a:rPr>
              <a:t>/ p + 0.1 x T</a:t>
            </a:r>
            <a:r>
              <a:rPr b="0" baseline="-25000" i="0" lang="en-US" sz="2400" u="none" cap="none" strike="noStrike">
                <a:solidFill>
                  <a:srgbClr val="C00000"/>
                </a:solidFill>
                <a:latin typeface="Arial"/>
                <a:ea typeface="Arial"/>
                <a:cs typeface="Arial"/>
                <a:sym typeface="Arial"/>
              </a:rPr>
              <a:t>serial</a:t>
            </a:r>
            <a:r>
              <a:rPr b="0" i="0" lang="en-US" sz="2400" u="none" cap="none" strike="noStrike">
                <a:solidFill>
                  <a:srgbClr val="C00000"/>
                </a:solidFill>
                <a:latin typeface="Arial"/>
                <a:ea typeface="Arial"/>
                <a:cs typeface="Arial"/>
                <a:sym typeface="Arial"/>
              </a:rPr>
              <a:t>  = 18 / p + 2</a:t>
            </a:r>
            <a:endParaRPr b="0" i="0" sz="2400" u="none" cap="none" strike="noStrike">
              <a:solidFill>
                <a:srgbClr val="C00000"/>
              </a:solidFill>
              <a:latin typeface="Calibri"/>
              <a:ea typeface="Calibri"/>
              <a:cs typeface="Calibri"/>
              <a:sym typeface="Calibri"/>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1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(cont.)</a:t>
            </a:r>
            <a:endParaRPr/>
          </a:p>
        </p:txBody>
      </p:sp>
      <p:sp>
        <p:nvSpPr>
          <p:cNvPr id="1580" name="Google Shape;1580;p167"/>
          <p:cNvSpPr txBox="1"/>
          <p:nvPr>
            <p:ph idx="1" type="body"/>
          </p:nvPr>
        </p:nvSpPr>
        <p:spPr>
          <a:xfrm>
            <a:off x="1028701" y="1571626"/>
            <a:ext cx="8270875" cy="10080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Speed up</a:t>
            </a:r>
            <a:endParaRPr/>
          </a:p>
        </p:txBody>
      </p:sp>
      <p:sp>
        <p:nvSpPr>
          <p:cNvPr id="1581" name="Google Shape;1581;p16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
        <p:nvSpPr>
          <p:cNvPr id="1582" name="Google Shape;1582;p167"/>
          <p:cNvSpPr/>
          <p:nvPr/>
        </p:nvSpPr>
        <p:spPr>
          <a:xfrm>
            <a:off x="3432176" y="2997201"/>
            <a:ext cx="378936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C00000"/>
                </a:solidFill>
                <a:latin typeface="Arial"/>
                <a:ea typeface="Arial"/>
                <a:cs typeface="Arial"/>
                <a:sym typeface="Arial"/>
              </a:rPr>
              <a:t>0.9 x T</a:t>
            </a:r>
            <a:r>
              <a:rPr b="0" baseline="-25000" i="0" lang="en-US" sz="2400" u="none" cap="none" strike="noStrike">
                <a:solidFill>
                  <a:srgbClr val="C00000"/>
                </a:solidFill>
                <a:latin typeface="Arial"/>
                <a:ea typeface="Arial"/>
                <a:cs typeface="Arial"/>
                <a:sym typeface="Arial"/>
              </a:rPr>
              <a:t>serial </a:t>
            </a:r>
            <a:r>
              <a:rPr b="0" i="0" lang="en-US" sz="2400" u="none" cap="none" strike="noStrike">
                <a:solidFill>
                  <a:srgbClr val="C00000"/>
                </a:solidFill>
                <a:latin typeface="Arial"/>
                <a:ea typeface="Arial"/>
                <a:cs typeface="Arial"/>
                <a:sym typeface="Arial"/>
              </a:rPr>
              <a:t>/ p + 0.1 x T</a:t>
            </a:r>
            <a:r>
              <a:rPr b="0" baseline="-25000" i="0" lang="en-US" sz="2400" u="none" cap="none" strike="noStrike">
                <a:solidFill>
                  <a:srgbClr val="C00000"/>
                </a:solidFill>
                <a:latin typeface="Arial"/>
                <a:ea typeface="Arial"/>
                <a:cs typeface="Arial"/>
                <a:sym typeface="Arial"/>
              </a:rPr>
              <a:t>serial</a:t>
            </a:r>
            <a:endParaRPr b="0" i="0" sz="2400" u="none" cap="none" strike="noStrike">
              <a:solidFill>
                <a:srgbClr val="C00000"/>
              </a:solidFill>
              <a:latin typeface="Calibri"/>
              <a:ea typeface="Calibri"/>
              <a:cs typeface="Calibri"/>
              <a:sym typeface="Calibri"/>
            </a:endParaRPr>
          </a:p>
        </p:txBody>
      </p:sp>
      <p:sp>
        <p:nvSpPr>
          <p:cNvPr id="1583" name="Google Shape;1583;p167"/>
          <p:cNvSpPr/>
          <p:nvPr/>
        </p:nvSpPr>
        <p:spPr>
          <a:xfrm>
            <a:off x="4872039" y="2349501"/>
            <a:ext cx="860425"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C00000"/>
                </a:solidFill>
                <a:latin typeface="Arial"/>
                <a:ea typeface="Arial"/>
                <a:cs typeface="Arial"/>
                <a:sym typeface="Arial"/>
              </a:rPr>
              <a:t>T</a:t>
            </a:r>
            <a:r>
              <a:rPr b="0" baseline="-25000" i="0" lang="en-US" sz="2400" u="none" cap="none" strike="noStrike">
                <a:solidFill>
                  <a:srgbClr val="C00000"/>
                </a:solidFill>
                <a:latin typeface="Arial"/>
                <a:ea typeface="Arial"/>
                <a:cs typeface="Arial"/>
                <a:sym typeface="Arial"/>
              </a:rPr>
              <a:t>serial</a:t>
            </a:r>
            <a:endParaRPr b="0" baseline="-25000" i="0" sz="2400" u="none" cap="none" strike="noStrike">
              <a:solidFill>
                <a:schemeClr val="dk1"/>
              </a:solidFill>
              <a:latin typeface="Calibri"/>
              <a:ea typeface="Calibri"/>
              <a:cs typeface="Calibri"/>
              <a:sym typeface="Calibri"/>
            </a:endParaRPr>
          </a:p>
        </p:txBody>
      </p:sp>
      <p:sp>
        <p:nvSpPr>
          <p:cNvPr id="1584" name="Google Shape;1584;p167"/>
          <p:cNvSpPr/>
          <p:nvPr/>
        </p:nvSpPr>
        <p:spPr>
          <a:xfrm>
            <a:off x="2495550" y="2708275"/>
            <a:ext cx="812800"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C00000"/>
                </a:solidFill>
                <a:latin typeface="Arial"/>
                <a:ea typeface="Arial"/>
                <a:cs typeface="Arial"/>
                <a:sym typeface="Arial"/>
              </a:rPr>
              <a:t>S =</a:t>
            </a:r>
            <a:endParaRPr b="0" i="0" sz="3200" u="none" cap="none" strike="noStrike">
              <a:solidFill>
                <a:schemeClr val="dk1"/>
              </a:solidFill>
              <a:latin typeface="Calibri"/>
              <a:ea typeface="Calibri"/>
              <a:cs typeface="Calibri"/>
              <a:sym typeface="Calibri"/>
            </a:endParaRPr>
          </a:p>
        </p:txBody>
      </p:sp>
      <p:sp>
        <p:nvSpPr>
          <p:cNvPr id="1585" name="Google Shape;1585;p167"/>
          <p:cNvSpPr/>
          <p:nvPr/>
        </p:nvSpPr>
        <p:spPr>
          <a:xfrm>
            <a:off x="7248525" y="2708275"/>
            <a:ext cx="425450" cy="5857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920"/>
              <a:buFont typeface="Noto Sans Symbols"/>
              <a:buNone/>
            </a:pPr>
            <a:r>
              <a:rPr b="0" i="0" lang="en-US" sz="3200" u="none" cap="none" strike="noStrike">
                <a:solidFill>
                  <a:srgbClr val="C00000"/>
                </a:solidFill>
                <a:latin typeface="Arial"/>
                <a:ea typeface="Arial"/>
                <a:cs typeface="Arial"/>
                <a:sym typeface="Arial"/>
              </a:rPr>
              <a:t>=</a:t>
            </a:r>
            <a:endParaRPr b="0" i="0" sz="3200" u="none" cap="none" strike="noStrike">
              <a:solidFill>
                <a:schemeClr val="dk1"/>
              </a:solidFill>
              <a:latin typeface="Calibri"/>
              <a:ea typeface="Calibri"/>
              <a:cs typeface="Calibri"/>
              <a:sym typeface="Calibri"/>
            </a:endParaRPr>
          </a:p>
        </p:txBody>
      </p:sp>
      <p:sp>
        <p:nvSpPr>
          <p:cNvPr id="1586" name="Google Shape;1586;p167"/>
          <p:cNvSpPr/>
          <p:nvPr/>
        </p:nvSpPr>
        <p:spPr>
          <a:xfrm>
            <a:off x="7824789" y="2997201"/>
            <a:ext cx="1474787"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00"/>
              </a:buClr>
              <a:buSzPts val="1440"/>
              <a:buFont typeface="Noto Sans Symbols"/>
              <a:buNone/>
            </a:pPr>
            <a:r>
              <a:rPr b="0" i="0" lang="en-US" sz="2400" u="none" cap="none" strike="noStrike">
                <a:solidFill>
                  <a:srgbClr val="C00000"/>
                </a:solidFill>
                <a:latin typeface="Arial"/>
                <a:ea typeface="Arial"/>
                <a:cs typeface="Arial"/>
                <a:sym typeface="Arial"/>
              </a:rPr>
              <a:t>18 / p + 2</a:t>
            </a:r>
            <a:endParaRPr b="0" i="0" sz="2400" u="none" cap="none" strike="noStrike">
              <a:solidFill>
                <a:srgbClr val="C00000"/>
              </a:solidFill>
              <a:latin typeface="Calibri"/>
              <a:ea typeface="Calibri"/>
              <a:cs typeface="Calibri"/>
              <a:sym typeface="Calibri"/>
            </a:endParaRPr>
          </a:p>
        </p:txBody>
      </p:sp>
      <p:sp>
        <p:nvSpPr>
          <p:cNvPr id="1587" name="Google Shape;1587;p167"/>
          <p:cNvSpPr/>
          <p:nvPr/>
        </p:nvSpPr>
        <p:spPr>
          <a:xfrm>
            <a:off x="8256588" y="2420938"/>
            <a:ext cx="52705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C00000"/>
                </a:solidFill>
                <a:latin typeface="Arial"/>
                <a:ea typeface="Arial"/>
                <a:cs typeface="Arial"/>
                <a:sym typeface="Arial"/>
              </a:rPr>
              <a:t>20</a:t>
            </a:r>
            <a:endParaRPr b="0" i="0" sz="3200" u="none" cap="none" strike="noStrike">
              <a:solidFill>
                <a:schemeClr val="dk1"/>
              </a:solidFill>
              <a:latin typeface="Calibri"/>
              <a:ea typeface="Calibri"/>
              <a:cs typeface="Calibri"/>
              <a:sym typeface="Calibri"/>
            </a:endParaRPr>
          </a:p>
        </p:txBody>
      </p:sp>
      <p:cxnSp>
        <p:nvCxnSpPr>
          <p:cNvPr id="1588" name="Google Shape;1588;p167"/>
          <p:cNvCxnSpPr/>
          <p:nvPr/>
        </p:nvCxnSpPr>
        <p:spPr>
          <a:xfrm>
            <a:off x="3575050" y="2924175"/>
            <a:ext cx="3600450" cy="0"/>
          </a:xfrm>
          <a:prstGeom prst="straightConnector1">
            <a:avLst/>
          </a:prstGeom>
          <a:noFill/>
          <a:ln cap="flat" cmpd="sng" w="28575">
            <a:solidFill>
              <a:srgbClr val="C00000"/>
            </a:solidFill>
            <a:prstDash val="solid"/>
            <a:round/>
            <a:headEnd len="med" w="med" type="none"/>
            <a:tailEnd len="med" w="med" type="none"/>
          </a:ln>
        </p:spPr>
      </p:cxnSp>
      <p:cxnSp>
        <p:nvCxnSpPr>
          <p:cNvPr id="1589" name="Google Shape;1589;p167"/>
          <p:cNvCxnSpPr/>
          <p:nvPr/>
        </p:nvCxnSpPr>
        <p:spPr>
          <a:xfrm>
            <a:off x="7896225" y="2924175"/>
            <a:ext cx="1295400" cy="0"/>
          </a:xfrm>
          <a:prstGeom prst="straightConnector1">
            <a:avLst/>
          </a:prstGeom>
          <a:noFill/>
          <a:ln cap="flat" cmpd="sng" w="28575">
            <a:solidFill>
              <a:srgbClr val="C00000"/>
            </a:solidFill>
            <a:prstDash val="solid"/>
            <a:round/>
            <a:headEnd len="med" w="med" type="none"/>
            <a:tailEnd len="med" w="med" type="none"/>
          </a:ln>
        </p:spPr>
      </p:cxn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sp>
        <p:nvSpPr>
          <p:cNvPr id="1594" name="Google Shape;1594;p1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Scalability</a:t>
            </a:r>
            <a:endParaRPr/>
          </a:p>
        </p:txBody>
      </p:sp>
      <p:sp>
        <p:nvSpPr>
          <p:cNvPr id="1595" name="Google Shape;1595;p168"/>
          <p:cNvSpPr txBox="1"/>
          <p:nvPr>
            <p:ph idx="1" type="body"/>
          </p:nvPr>
        </p:nvSpPr>
        <p:spPr>
          <a:xfrm>
            <a:off x="1030515" y="1690687"/>
            <a:ext cx="10885714" cy="44021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In general, a problem is </a:t>
            </a:r>
            <a:r>
              <a:rPr i="1" lang="en-US" sz="2800">
                <a:solidFill>
                  <a:srgbClr val="0066FF"/>
                </a:solidFill>
              </a:rPr>
              <a:t>scalable</a:t>
            </a:r>
            <a:r>
              <a:rPr lang="en-US" sz="2800"/>
              <a:t> if it can handle ever increasing problem sizes.</a:t>
            </a:r>
            <a:endParaRPr/>
          </a:p>
          <a:p>
            <a:pPr indent="-228600" lvl="0" marL="228600" rtl="0" algn="l">
              <a:lnSpc>
                <a:spcPct val="90000"/>
              </a:lnSpc>
              <a:spcBef>
                <a:spcPts val="1000"/>
              </a:spcBef>
              <a:spcAft>
                <a:spcPts val="0"/>
              </a:spcAft>
              <a:buClr>
                <a:schemeClr val="dk1"/>
              </a:buClr>
              <a:buSzPts val="2800"/>
              <a:buChar char="•"/>
            </a:pPr>
            <a:r>
              <a:rPr lang="en-US" sz="2800"/>
              <a:t>If we increase the number of processes/threads and keep the efficiency fixed without increasing problem size, the problem is </a:t>
            </a:r>
            <a:r>
              <a:rPr i="1" lang="en-US" sz="2800">
                <a:solidFill>
                  <a:srgbClr val="0066FF"/>
                </a:solidFill>
              </a:rPr>
              <a:t>strongly scalable</a:t>
            </a:r>
            <a:r>
              <a:rPr lang="en-US" sz="2800"/>
              <a:t>.</a:t>
            </a:r>
            <a:endParaRPr/>
          </a:p>
          <a:p>
            <a:pPr indent="-228600" lvl="0" marL="228600" rtl="0" algn="l">
              <a:lnSpc>
                <a:spcPct val="90000"/>
              </a:lnSpc>
              <a:spcBef>
                <a:spcPts val="1000"/>
              </a:spcBef>
              <a:spcAft>
                <a:spcPts val="0"/>
              </a:spcAft>
              <a:buClr>
                <a:schemeClr val="dk1"/>
              </a:buClr>
              <a:buSzPts val="2800"/>
              <a:buChar char="•"/>
            </a:pPr>
            <a:r>
              <a:rPr lang="en-US" sz="2800"/>
              <a:t>If we keep the efficiency fixed by increasing the problem size at the same rate as we increase the number of processes/threads, the problem is </a:t>
            </a:r>
            <a:r>
              <a:rPr i="1" lang="en-US" sz="2800">
                <a:solidFill>
                  <a:srgbClr val="0066FF"/>
                </a:solidFill>
              </a:rPr>
              <a:t>weakly scalable</a:t>
            </a:r>
            <a:r>
              <a:rPr lang="en-US" sz="2800"/>
              <a:t>.</a:t>
            </a:r>
            <a:endParaRPr/>
          </a:p>
        </p:txBody>
      </p:sp>
      <p:sp>
        <p:nvSpPr>
          <p:cNvPr id="1596" name="Google Shape;1596;p16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pic>
        <p:nvPicPr>
          <p:cNvPr descr="analog clocks,clipped images,clocks,cropped images,cropped pictures,icons,PNG,timepieces,times,transparent background,wall clocks" id="1601" name="Google Shape;1601;p169"/>
          <p:cNvPicPr preferRelativeResize="0"/>
          <p:nvPr/>
        </p:nvPicPr>
        <p:blipFill rotWithShape="1">
          <a:blip r:embed="rId3">
            <a:alphaModFix/>
          </a:blip>
          <a:srcRect b="0" l="0" r="0" t="0"/>
          <a:stretch/>
        </p:blipFill>
        <p:spPr>
          <a:xfrm>
            <a:off x="6024564" y="2565401"/>
            <a:ext cx="3095625" cy="3095625"/>
          </a:xfrm>
          <a:prstGeom prst="rect">
            <a:avLst/>
          </a:prstGeom>
          <a:noFill/>
          <a:ln>
            <a:noFill/>
          </a:ln>
        </p:spPr>
      </p:pic>
      <p:sp>
        <p:nvSpPr>
          <p:cNvPr id="1602" name="Google Shape;1602;p1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Taking Timings</a:t>
            </a:r>
            <a:endParaRPr/>
          </a:p>
        </p:txBody>
      </p:sp>
      <p:sp>
        <p:nvSpPr>
          <p:cNvPr id="1603" name="Google Shape;1603;p16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time?</a:t>
            </a:r>
            <a:endParaRPr/>
          </a:p>
          <a:p>
            <a:pPr indent="-228600" lvl="0" marL="228600" rtl="0" algn="l">
              <a:lnSpc>
                <a:spcPct val="90000"/>
              </a:lnSpc>
              <a:spcBef>
                <a:spcPts val="1000"/>
              </a:spcBef>
              <a:spcAft>
                <a:spcPts val="0"/>
              </a:spcAft>
              <a:buClr>
                <a:schemeClr val="dk1"/>
              </a:buClr>
              <a:buSzPts val="2800"/>
              <a:buChar char="•"/>
            </a:pPr>
            <a:r>
              <a:rPr lang="en-US"/>
              <a:t>Start to finish?</a:t>
            </a:r>
            <a:endParaRPr/>
          </a:p>
          <a:p>
            <a:pPr indent="-228600" lvl="0" marL="228600" rtl="0" algn="l">
              <a:lnSpc>
                <a:spcPct val="90000"/>
              </a:lnSpc>
              <a:spcBef>
                <a:spcPts val="1000"/>
              </a:spcBef>
              <a:spcAft>
                <a:spcPts val="0"/>
              </a:spcAft>
              <a:buClr>
                <a:schemeClr val="dk1"/>
              </a:buClr>
              <a:buSzPts val="2800"/>
              <a:buChar char="•"/>
            </a:pPr>
            <a:r>
              <a:rPr lang="en-US"/>
              <a:t>A program segment of interest?</a:t>
            </a:r>
            <a:endParaRPr/>
          </a:p>
          <a:p>
            <a:pPr indent="-228600" lvl="0" marL="228600" rtl="0" algn="l">
              <a:lnSpc>
                <a:spcPct val="90000"/>
              </a:lnSpc>
              <a:spcBef>
                <a:spcPts val="1000"/>
              </a:spcBef>
              <a:spcAft>
                <a:spcPts val="0"/>
              </a:spcAft>
              <a:buClr>
                <a:schemeClr val="dk1"/>
              </a:buClr>
              <a:buSzPts val="2800"/>
              <a:buChar char="•"/>
            </a:pPr>
            <a:r>
              <a:rPr lang="en-US"/>
              <a:t>CPU time?</a:t>
            </a:r>
            <a:endParaRPr/>
          </a:p>
          <a:p>
            <a:pPr indent="-228600" lvl="0" marL="228600" rtl="0" algn="l">
              <a:lnSpc>
                <a:spcPct val="90000"/>
              </a:lnSpc>
              <a:spcBef>
                <a:spcPts val="1000"/>
              </a:spcBef>
              <a:spcAft>
                <a:spcPts val="0"/>
              </a:spcAft>
              <a:buClr>
                <a:schemeClr val="dk1"/>
              </a:buClr>
              <a:buSzPts val="2800"/>
              <a:buChar char="•"/>
            </a:pPr>
            <a:r>
              <a:rPr lang="en-US"/>
              <a:t>Wall clock time?</a:t>
            </a:r>
            <a:endParaRPr/>
          </a:p>
        </p:txBody>
      </p:sp>
      <p:sp>
        <p:nvSpPr>
          <p:cNvPr id="1604" name="Google Shape;1604;p16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1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Taking Timings</a:t>
            </a:r>
            <a:endParaRPr/>
          </a:p>
        </p:txBody>
      </p:sp>
      <p:sp>
        <p:nvSpPr>
          <p:cNvPr id="1610" name="Google Shape;1610;p17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1611" name="Google Shape;1611;p170"/>
          <p:cNvPicPr preferRelativeResize="0"/>
          <p:nvPr/>
        </p:nvPicPr>
        <p:blipFill rotWithShape="1">
          <a:blip r:embed="rId3">
            <a:alphaModFix/>
          </a:blip>
          <a:srcRect b="0" l="0" r="0" t="0"/>
          <a:stretch/>
        </p:blipFill>
        <p:spPr>
          <a:xfrm>
            <a:off x="2063751" y="1628775"/>
            <a:ext cx="8101013" cy="2160588"/>
          </a:xfrm>
          <a:prstGeom prst="rect">
            <a:avLst/>
          </a:prstGeom>
          <a:noFill/>
          <a:ln>
            <a:noFill/>
          </a:ln>
        </p:spPr>
      </p:pic>
      <p:sp>
        <p:nvSpPr>
          <p:cNvPr id="1612" name="Google Shape;1612;p170"/>
          <p:cNvSpPr txBox="1"/>
          <p:nvPr/>
        </p:nvSpPr>
        <p:spPr>
          <a:xfrm>
            <a:off x="7175501" y="1196976"/>
            <a:ext cx="1692275" cy="904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40"/>
              <a:buFont typeface="Noto Sans Symbols"/>
              <a:buNone/>
            </a:pPr>
            <a:r>
              <a:rPr b="0" i="0" lang="en-US" sz="2400" u="none" cap="none" strike="noStrike">
                <a:solidFill>
                  <a:srgbClr val="00B050"/>
                </a:solidFill>
                <a:latin typeface="Calibri"/>
                <a:ea typeface="Calibri"/>
                <a:cs typeface="Calibri"/>
                <a:sym typeface="Calibri"/>
              </a:rPr>
              <a:t>theoretical </a:t>
            </a:r>
            <a:endParaRPr/>
          </a:p>
          <a:p>
            <a:pPr indent="0" lvl="0" marL="0" marR="0" rtl="0" algn="l">
              <a:spcBef>
                <a:spcPts val="480"/>
              </a:spcBef>
              <a:spcAft>
                <a:spcPts val="0"/>
              </a:spcAft>
              <a:buClr>
                <a:schemeClr val="dk1"/>
              </a:buClr>
              <a:buSzPts val="1440"/>
              <a:buFont typeface="Noto Sans Symbols"/>
              <a:buNone/>
            </a:pPr>
            <a:r>
              <a:rPr b="0" i="0" lang="en-US" sz="2400" u="none" cap="none" strike="noStrike">
                <a:solidFill>
                  <a:srgbClr val="00B050"/>
                </a:solidFill>
                <a:latin typeface="Calibri"/>
                <a:ea typeface="Calibri"/>
                <a:cs typeface="Calibri"/>
                <a:sym typeface="Calibri"/>
              </a:rPr>
              <a:t>function</a:t>
            </a:r>
            <a:endParaRPr/>
          </a:p>
        </p:txBody>
      </p:sp>
      <p:sp>
        <p:nvSpPr>
          <p:cNvPr id="1613" name="Google Shape;1613;p170"/>
          <p:cNvSpPr/>
          <p:nvPr/>
        </p:nvSpPr>
        <p:spPr>
          <a:xfrm>
            <a:off x="5037139" y="1509714"/>
            <a:ext cx="2117725" cy="725487"/>
          </a:xfrm>
          <a:custGeom>
            <a:rect b="b" l="l" r="r" t="t"/>
            <a:pathLst>
              <a:path extrusionOk="0" h="725714" w="2119086">
                <a:moveTo>
                  <a:pt x="2119086" y="0"/>
                </a:moveTo>
                <a:lnTo>
                  <a:pt x="1045029" y="43543"/>
                </a:lnTo>
                <a:cubicBezTo>
                  <a:pt x="948267" y="125791"/>
                  <a:pt x="1635276" y="440266"/>
                  <a:pt x="1538514" y="493485"/>
                </a:cubicBezTo>
                <a:cubicBezTo>
                  <a:pt x="1441752" y="546704"/>
                  <a:pt x="720876" y="324152"/>
                  <a:pt x="464457" y="362857"/>
                </a:cubicBezTo>
                <a:cubicBezTo>
                  <a:pt x="208038" y="401562"/>
                  <a:pt x="104019" y="563638"/>
                  <a:pt x="0" y="725714"/>
                </a:cubicBezTo>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1614" name="Google Shape;1614;p170"/>
          <p:cNvSpPr/>
          <p:nvPr/>
        </p:nvSpPr>
        <p:spPr>
          <a:xfrm>
            <a:off x="2711451" y="4437063"/>
            <a:ext cx="1509713" cy="4000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00B050"/>
                </a:solidFill>
                <a:latin typeface="Arial"/>
                <a:ea typeface="Arial"/>
                <a:cs typeface="Arial"/>
                <a:sym typeface="Arial"/>
              </a:rPr>
              <a:t>MPI_Wtime</a:t>
            </a:r>
            <a:endParaRPr b="0" i="0" sz="2000" u="none" cap="none" strike="noStrike">
              <a:solidFill>
                <a:srgbClr val="00B050"/>
              </a:solidFill>
              <a:latin typeface="Arial Black"/>
              <a:ea typeface="Arial Black"/>
              <a:cs typeface="Arial Black"/>
              <a:sym typeface="Arial Black"/>
            </a:endParaRPr>
          </a:p>
        </p:txBody>
      </p:sp>
      <p:sp>
        <p:nvSpPr>
          <p:cNvPr id="1615" name="Google Shape;1615;p170"/>
          <p:cNvSpPr/>
          <p:nvPr/>
        </p:nvSpPr>
        <p:spPr>
          <a:xfrm>
            <a:off x="6311901" y="4292601"/>
            <a:ext cx="23606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00B050"/>
                </a:solidFill>
                <a:latin typeface="Arial"/>
                <a:ea typeface="Arial"/>
                <a:cs typeface="Arial"/>
                <a:sym typeface="Arial"/>
              </a:rPr>
              <a:t>omp_get_wtime</a:t>
            </a:r>
            <a:endParaRPr b="0" i="0" sz="2400" u="none" cap="none" strike="noStrike">
              <a:solidFill>
                <a:srgbClr val="00B050"/>
              </a:solidFill>
              <a:latin typeface="Arial Black"/>
              <a:ea typeface="Arial Black"/>
              <a:cs typeface="Arial Black"/>
              <a:sym typeface="Arial Black"/>
            </a:endParaRPr>
          </a:p>
        </p:txBody>
      </p:sp>
      <p:sp>
        <p:nvSpPr>
          <p:cNvPr id="1616" name="Google Shape;1616;p170"/>
          <p:cNvSpPr/>
          <p:nvPr/>
        </p:nvSpPr>
        <p:spPr>
          <a:xfrm>
            <a:off x="3384550" y="2540001"/>
            <a:ext cx="1201738" cy="1800225"/>
          </a:xfrm>
          <a:custGeom>
            <a:rect b="b" l="l" r="r" t="t"/>
            <a:pathLst>
              <a:path extrusionOk="0" h="1799771" w="1202266">
                <a:moveTo>
                  <a:pt x="984552" y="0"/>
                </a:moveTo>
                <a:cubicBezTo>
                  <a:pt x="492276" y="200781"/>
                  <a:pt x="0" y="401562"/>
                  <a:pt x="26609" y="493486"/>
                </a:cubicBezTo>
                <a:cubicBezTo>
                  <a:pt x="53218" y="585410"/>
                  <a:pt x="1086152" y="333829"/>
                  <a:pt x="1144209" y="551543"/>
                </a:cubicBezTo>
                <a:cubicBezTo>
                  <a:pt x="1202266" y="769257"/>
                  <a:pt x="788609" y="1284514"/>
                  <a:pt x="374952" y="1799771"/>
                </a:cubicBezTo>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
        <p:nvSpPr>
          <p:cNvPr id="1617" name="Google Shape;1617;p170"/>
          <p:cNvSpPr/>
          <p:nvPr/>
        </p:nvSpPr>
        <p:spPr>
          <a:xfrm>
            <a:off x="5210175" y="2540001"/>
            <a:ext cx="1263650" cy="1755775"/>
          </a:xfrm>
          <a:custGeom>
            <a:rect b="b" l="l" r="r" t="t"/>
            <a:pathLst>
              <a:path extrusionOk="0" h="1756229" w="1262742">
                <a:moveTo>
                  <a:pt x="0" y="0"/>
                </a:moveTo>
                <a:cubicBezTo>
                  <a:pt x="504371" y="140304"/>
                  <a:pt x="1008742" y="280609"/>
                  <a:pt x="1059542" y="377371"/>
                </a:cubicBezTo>
                <a:cubicBezTo>
                  <a:pt x="1110342" y="474133"/>
                  <a:pt x="270933" y="350761"/>
                  <a:pt x="304800" y="580571"/>
                </a:cubicBezTo>
                <a:cubicBezTo>
                  <a:pt x="338667" y="810381"/>
                  <a:pt x="800704" y="1283305"/>
                  <a:pt x="1262742" y="1756229"/>
                </a:cubicBezTo>
              </a:path>
            </a:pathLst>
          </a:custGeom>
          <a:noFill/>
          <a:ln cap="flat" cmpd="sng" w="9525">
            <a:solidFill>
              <a:srgbClr val="00B05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1" name="Shape 1621"/>
        <p:cNvGrpSpPr/>
        <p:nvPr/>
      </p:nvGrpSpPr>
      <p:grpSpPr>
        <a:xfrm>
          <a:off x="0" y="0"/>
          <a:ext cx="0" cy="0"/>
          <a:chOff x="0" y="0"/>
          <a:chExt cx="0" cy="0"/>
        </a:xfrm>
      </p:grpSpPr>
      <p:sp>
        <p:nvSpPr>
          <p:cNvPr id="1622" name="Google Shape;1622;p1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Taking Timings</a:t>
            </a:r>
            <a:endParaRPr/>
          </a:p>
        </p:txBody>
      </p:sp>
      <p:sp>
        <p:nvSpPr>
          <p:cNvPr id="1623" name="Google Shape;1623;p17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1624" name="Google Shape;1624;p171"/>
          <p:cNvPicPr preferRelativeResize="0"/>
          <p:nvPr/>
        </p:nvPicPr>
        <p:blipFill rotWithShape="1">
          <a:blip r:embed="rId3">
            <a:alphaModFix/>
          </a:blip>
          <a:srcRect b="0" l="0" r="0" t="0"/>
          <a:stretch/>
        </p:blipFill>
        <p:spPr>
          <a:xfrm>
            <a:off x="2063751" y="1628775"/>
            <a:ext cx="8156575" cy="2160588"/>
          </a:xfrm>
          <a:prstGeom prst="rect">
            <a:avLst/>
          </a:prstGeom>
          <a:noFill/>
          <a:ln>
            <a:noFill/>
          </a:ln>
        </p:spPr>
      </p:pic>
      <p:sp>
        <p:nvSpPr>
          <p:cNvPr id="1625" name="Google Shape;1625;p171"/>
          <p:cNvSpPr/>
          <p:nvPr/>
        </p:nvSpPr>
        <p:spPr>
          <a:xfrm>
            <a:off x="1992314" y="1557338"/>
            <a:ext cx="1366837" cy="431800"/>
          </a:xfrm>
          <a:prstGeom prst="ellipse">
            <a:avLst/>
          </a:prstGeom>
          <a:noFill/>
          <a:ln cap="flat" cmpd="sng" w="2857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32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Google Shape;1630;p172"/>
          <p:cNvSpPr txBox="1"/>
          <p:nvPr>
            <p:ph type="title"/>
          </p:nvPr>
        </p:nvSpPr>
        <p:spPr>
          <a:xfrm>
            <a:off x="838200" y="365126"/>
            <a:ext cx="10515600" cy="62706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Taking Timings</a:t>
            </a:r>
            <a:endParaRPr/>
          </a:p>
        </p:txBody>
      </p:sp>
      <p:sp>
        <p:nvSpPr>
          <p:cNvPr id="1631" name="Google Shape;1631;p17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id="1632" name="Google Shape;1632;p172"/>
          <p:cNvPicPr preferRelativeResize="0"/>
          <p:nvPr/>
        </p:nvPicPr>
        <p:blipFill rotWithShape="1">
          <a:blip r:embed="rId3">
            <a:alphaModFix/>
          </a:blip>
          <a:srcRect b="0" l="0" r="0" t="0"/>
          <a:stretch/>
        </p:blipFill>
        <p:spPr>
          <a:xfrm>
            <a:off x="1919289" y="981075"/>
            <a:ext cx="8497887" cy="4884738"/>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173"/>
          <p:cNvSpPr txBox="1"/>
          <p:nvPr>
            <p:ph type="title"/>
          </p:nvPr>
        </p:nvSpPr>
        <p:spPr>
          <a:xfrm>
            <a:off x="2246313" y="4406901"/>
            <a:ext cx="9568316" cy="132397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Parallel program design</a:t>
            </a:r>
            <a:endParaRPr/>
          </a:p>
        </p:txBody>
      </p:sp>
      <p:sp>
        <p:nvSpPr>
          <p:cNvPr id="1638" name="Google Shape;1638;p17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Program Files\Microsoft Office\MEDIA\CAGCAT10\j0291984.wmf" id="1639" name="Google Shape;1639;p173"/>
          <p:cNvPicPr preferRelativeResize="0"/>
          <p:nvPr/>
        </p:nvPicPr>
        <p:blipFill rotWithShape="1">
          <a:blip r:embed="rId3">
            <a:alphaModFix/>
          </a:blip>
          <a:srcRect b="0" l="0" r="0" t="0"/>
          <a:stretch/>
        </p:blipFill>
        <p:spPr>
          <a:xfrm>
            <a:off x="7535863" y="1341439"/>
            <a:ext cx="1808162" cy="1912937"/>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174"/>
          <p:cNvSpPr txBox="1"/>
          <p:nvPr>
            <p:ph type="title"/>
          </p:nvPr>
        </p:nvSpPr>
        <p:spPr>
          <a:xfrm>
            <a:off x="838200" y="428854"/>
            <a:ext cx="8281987" cy="7080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Foster’s methodology</a:t>
            </a:r>
            <a:endParaRPr/>
          </a:p>
        </p:txBody>
      </p:sp>
      <p:sp>
        <p:nvSpPr>
          <p:cNvPr id="1645" name="Google Shape;1645;p1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800"/>
              <a:buFont typeface="Arial"/>
              <a:buAutoNum type="arabicPeriod"/>
            </a:pPr>
            <a:r>
              <a:rPr lang="en-US">
                <a:solidFill>
                  <a:srgbClr val="FF0000"/>
                </a:solidFill>
              </a:rPr>
              <a:t>Partitioning</a:t>
            </a:r>
            <a:r>
              <a:rPr lang="en-US"/>
              <a:t>: divide the computation to be performed and the data operated on by the computation into small tasks. </a:t>
            </a:r>
            <a:br>
              <a:rPr lang="en-US"/>
            </a:br>
            <a:br>
              <a:rPr lang="en-US"/>
            </a:br>
            <a:r>
              <a:rPr lang="en-US"/>
              <a:t>The focus here should be on identifying tasks that can be executed in parallel.</a:t>
            </a:r>
            <a:endParaRPr/>
          </a:p>
        </p:txBody>
      </p:sp>
      <p:sp>
        <p:nvSpPr>
          <p:cNvPr id="1646" name="Google Shape;1646;p17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Foster’s methodology</a:t>
            </a:r>
            <a:endParaRPr/>
          </a:p>
        </p:txBody>
      </p:sp>
      <p:sp>
        <p:nvSpPr>
          <p:cNvPr id="1652" name="Google Shape;1652;p17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800"/>
              <a:buFont typeface="Arial"/>
              <a:buAutoNum type="arabicPeriod" startAt="2"/>
            </a:pPr>
            <a:r>
              <a:rPr lang="en-US">
                <a:solidFill>
                  <a:srgbClr val="FF0000"/>
                </a:solidFill>
              </a:rPr>
              <a:t>Communication</a:t>
            </a:r>
            <a:r>
              <a:rPr lang="en-US"/>
              <a:t>: determine what communication needs to be carried out among the tasks identified in the previous step.</a:t>
            </a:r>
            <a:endParaRPr/>
          </a:p>
        </p:txBody>
      </p:sp>
      <p:sp>
        <p:nvSpPr>
          <p:cNvPr id="1653" name="Google Shape;1653;p17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communications,phones,Photographs,receivers,telecommunications,telephone receivers,telephones" id="1654" name="Google Shape;1654;p175"/>
          <p:cNvPicPr preferRelativeResize="0"/>
          <p:nvPr/>
        </p:nvPicPr>
        <p:blipFill rotWithShape="1">
          <a:blip r:embed="rId3">
            <a:alphaModFix/>
          </a:blip>
          <a:srcRect b="0" l="0" r="0" t="0"/>
          <a:stretch/>
        </p:blipFill>
        <p:spPr>
          <a:xfrm>
            <a:off x="8040689" y="3068639"/>
            <a:ext cx="3095625" cy="3095625"/>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8" name="Shape 1658"/>
        <p:cNvGrpSpPr/>
        <p:nvPr/>
      </p:nvGrpSpPr>
      <p:grpSpPr>
        <a:xfrm>
          <a:off x="0" y="0"/>
          <a:ext cx="0" cy="0"/>
          <a:chOff x="0" y="0"/>
          <a:chExt cx="0" cy="0"/>
        </a:xfrm>
      </p:grpSpPr>
      <p:sp>
        <p:nvSpPr>
          <p:cNvPr id="1659" name="Google Shape;1659;p1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Foster’s methodology</a:t>
            </a:r>
            <a:endParaRPr/>
          </a:p>
        </p:txBody>
      </p:sp>
      <p:sp>
        <p:nvSpPr>
          <p:cNvPr id="1660" name="Google Shape;1660;p1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800"/>
              <a:buFont typeface="Arial"/>
              <a:buAutoNum type="arabicPeriod" startAt="3"/>
            </a:pPr>
            <a:r>
              <a:rPr lang="en-US">
                <a:solidFill>
                  <a:srgbClr val="FF0000"/>
                </a:solidFill>
              </a:rPr>
              <a:t>Agglomeration or aggregation</a:t>
            </a:r>
            <a:r>
              <a:rPr lang="en-US"/>
              <a:t>: combine tasks and communications identified in the first step into larger tasks. </a:t>
            </a:r>
            <a:br>
              <a:rPr lang="en-US"/>
            </a:br>
            <a:br>
              <a:rPr lang="en-US"/>
            </a:br>
            <a:r>
              <a:rPr lang="en-US"/>
              <a:t>For example, if task A must be executed before task B can be executed, it may make sense to aggregate them into a single composite task.</a:t>
            </a:r>
            <a:endParaRPr/>
          </a:p>
        </p:txBody>
      </p:sp>
      <p:sp>
        <p:nvSpPr>
          <p:cNvPr id="1661" name="Google Shape;1661;p17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1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Foster’s methodology</a:t>
            </a:r>
            <a:endParaRPr/>
          </a:p>
        </p:txBody>
      </p:sp>
      <p:sp>
        <p:nvSpPr>
          <p:cNvPr id="1667" name="Google Shape;1667;p17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FF0000"/>
              </a:buClr>
              <a:buSzPts val="2800"/>
              <a:buFont typeface="Arial"/>
              <a:buAutoNum type="arabicPeriod" startAt="4"/>
            </a:pPr>
            <a:r>
              <a:rPr lang="en-US">
                <a:solidFill>
                  <a:srgbClr val="FF0000"/>
                </a:solidFill>
              </a:rPr>
              <a:t>Mapping</a:t>
            </a:r>
            <a:r>
              <a:rPr lang="en-US"/>
              <a:t>: assign the composite tasks identified in the previous step to processes/threads.</a:t>
            </a:r>
            <a:br>
              <a:rPr lang="en-US"/>
            </a:br>
            <a:br>
              <a:rPr lang="en-US"/>
            </a:br>
            <a:r>
              <a:rPr lang="en-US"/>
              <a:t>This should be done so that communication is minimized, and each process/thread gets roughly the same amount of work.</a:t>
            </a:r>
            <a:endParaRPr/>
          </a:p>
        </p:txBody>
      </p:sp>
      <p:sp>
        <p:nvSpPr>
          <p:cNvPr id="1668" name="Google Shape;1668;p177"/>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2" name="Shape 1672"/>
        <p:cNvGrpSpPr/>
        <p:nvPr/>
      </p:nvGrpSpPr>
      <p:grpSpPr>
        <a:xfrm>
          <a:off x="0" y="0"/>
          <a:ext cx="0" cy="0"/>
          <a:chOff x="0" y="0"/>
          <a:chExt cx="0" cy="0"/>
        </a:xfrm>
      </p:grpSpPr>
      <p:sp>
        <p:nvSpPr>
          <p:cNvPr id="1673" name="Google Shape;1673;p1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 histogram</a:t>
            </a:r>
            <a:endParaRPr/>
          </a:p>
        </p:txBody>
      </p:sp>
      <p:sp>
        <p:nvSpPr>
          <p:cNvPr id="1674" name="Google Shape;1674;p178"/>
          <p:cNvSpPr txBox="1"/>
          <p:nvPr>
            <p:ph idx="1" type="body"/>
          </p:nvPr>
        </p:nvSpPr>
        <p:spPr>
          <a:xfrm>
            <a:off x="838200" y="1502909"/>
            <a:ext cx="11353800" cy="95454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1.3,2.9,0.4,0.3,1.3,4.4,1.7,0.4,3.2,0.3,4.9,2.4,3.1,4.4,3.9,0.4,4.2,4.5,4.9,0.9</a:t>
            </a:r>
            <a:endParaRPr/>
          </a:p>
        </p:txBody>
      </p:sp>
      <p:sp>
        <p:nvSpPr>
          <p:cNvPr id="1675" name="Google Shape;1675;p178"/>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20-9780123742605.eps" id="1676" name="Google Shape;1676;p178"/>
          <p:cNvPicPr preferRelativeResize="0"/>
          <p:nvPr/>
        </p:nvPicPr>
        <p:blipFill rotWithShape="1">
          <a:blip r:embed="rId3">
            <a:alphaModFix/>
          </a:blip>
          <a:srcRect b="0" l="0" r="0" t="0"/>
          <a:stretch/>
        </p:blipFill>
        <p:spPr>
          <a:xfrm>
            <a:off x="3216276" y="2492376"/>
            <a:ext cx="5973763" cy="3097213"/>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0" name="Shape 1680"/>
        <p:cNvGrpSpPr/>
        <p:nvPr/>
      </p:nvGrpSpPr>
      <p:grpSpPr>
        <a:xfrm>
          <a:off x="0" y="0"/>
          <a:ext cx="0" cy="0"/>
          <a:chOff x="0" y="0"/>
          <a:chExt cx="0" cy="0"/>
        </a:xfrm>
      </p:grpSpPr>
      <p:sp>
        <p:nvSpPr>
          <p:cNvPr id="1681" name="Google Shape;1681;p1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Serial program - input</a:t>
            </a:r>
            <a:endParaRPr/>
          </a:p>
        </p:txBody>
      </p:sp>
      <p:sp>
        <p:nvSpPr>
          <p:cNvPr id="1682" name="Google Shape;1682;p1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Arial"/>
              <a:buAutoNum type="arabicPeriod"/>
            </a:pPr>
            <a:r>
              <a:rPr lang="en-US"/>
              <a:t>The number of measurements: </a:t>
            </a:r>
            <a:r>
              <a:rPr lang="en-US">
                <a:solidFill>
                  <a:srgbClr val="00B050"/>
                </a:solidFill>
              </a:rPr>
              <a:t>data_count</a:t>
            </a:r>
            <a:endParaRPr/>
          </a:p>
          <a:p>
            <a:pPr indent="-514350" lvl="0" marL="514350" rtl="0" algn="l">
              <a:lnSpc>
                <a:spcPct val="90000"/>
              </a:lnSpc>
              <a:spcBef>
                <a:spcPts val="1000"/>
              </a:spcBef>
              <a:spcAft>
                <a:spcPts val="0"/>
              </a:spcAft>
              <a:buClr>
                <a:schemeClr val="dk1"/>
              </a:buClr>
              <a:buSzPts val="2800"/>
              <a:buFont typeface="Arial"/>
              <a:buAutoNum type="arabicPeriod"/>
            </a:pPr>
            <a:r>
              <a:rPr lang="en-US"/>
              <a:t>An array of data_count floats: </a:t>
            </a:r>
            <a:r>
              <a:rPr lang="en-US">
                <a:solidFill>
                  <a:srgbClr val="00B050"/>
                </a:solidFill>
              </a:rPr>
              <a:t>data</a:t>
            </a:r>
            <a:endParaRPr/>
          </a:p>
          <a:p>
            <a:pPr indent="-514350" lvl="0" marL="514350" rtl="0" algn="l">
              <a:lnSpc>
                <a:spcPct val="90000"/>
              </a:lnSpc>
              <a:spcBef>
                <a:spcPts val="1000"/>
              </a:spcBef>
              <a:spcAft>
                <a:spcPts val="0"/>
              </a:spcAft>
              <a:buClr>
                <a:schemeClr val="dk1"/>
              </a:buClr>
              <a:buSzPts val="2800"/>
              <a:buFont typeface="Arial"/>
              <a:buAutoNum type="arabicPeriod"/>
            </a:pPr>
            <a:r>
              <a:rPr lang="en-US"/>
              <a:t>The minimum value for the bin containing the smallest values: </a:t>
            </a:r>
            <a:r>
              <a:rPr lang="en-US">
                <a:solidFill>
                  <a:srgbClr val="00B050"/>
                </a:solidFill>
              </a:rPr>
              <a:t>min_meas</a:t>
            </a:r>
            <a:endParaRPr/>
          </a:p>
          <a:p>
            <a:pPr indent="-514350" lvl="0" marL="514350" rtl="0" algn="l">
              <a:lnSpc>
                <a:spcPct val="90000"/>
              </a:lnSpc>
              <a:spcBef>
                <a:spcPts val="1000"/>
              </a:spcBef>
              <a:spcAft>
                <a:spcPts val="0"/>
              </a:spcAft>
              <a:buClr>
                <a:schemeClr val="dk1"/>
              </a:buClr>
              <a:buSzPts val="2800"/>
              <a:buFont typeface="Arial"/>
              <a:buAutoNum type="arabicPeriod"/>
            </a:pPr>
            <a:r>
              <a:rPr lang="en-US"/>
              <a:t>The maximum value for the bin containing the largest values: </a:t>
            </a:r>
            <a:r>
              <a:rPr lang="en-US">
                <a:solidFill>
                  <a:srgbClr val="00B050"/>
                </a:solidFill>
              </a:rPr>
              <a:t>max_meas</a:t>
            </a:r>
            <a:endParaRPr/>
          </a:p>
          <a:p>
            <a:pPr indent="-514350" lvl="0" marL="514350" rtl="0" algn="l">
              <a:lnSpc>
                <a:spcPct val="90000"/>
              </a:lnSpc>
              <a:spcBef>
                <a:spcPts val="1000"/>
              </a:spcBef>
              <a:spcAft>
                <a:spcPts val="0"/>
              </a:spcAft>
              <a:buClr>
                <a:schemeClr val="dk1"/>
              </a:buClr>
              <a:buSzPts val="2800"/>
              <a:buFont typeface="Arial"/>
              <a:buAutoNum type="arabicPeriod"/>
            </a:pPr>
            <a:r>
              <a:rPr lang="en-US"/>
              <a:t>The number of bins: </a:t>
            </a:r>
            <a:r>
              <a:rPr lang="en-US">
                <a:solidFill>
                  <a:srgbClr val="00B050"/>
                </a:solidFill>
              </a:rPr>
              <a:t>bin_count</a:t>
            </a:r>
            <a:endParaRPr/>
          </a:p>
        </p:txBody>
      </p:sp>
      <p:sp>
        <p:nvSpPr>
          <p:cNvPr id="1683" name="Google Shape;1683;p179"/>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7" name="Shape 1687"/>
        <p:cNvGrpSpPr/>
        <p:nvPr/>
      </p:nvGrpSpPr>
      <p:grpSpPr>
        <a:xfrm>
          <a:off x="0" y="0"/>
          <a:ext cx="0" cy="0"/>
          <a:chOff x="0" y="0"/>
          <a:chExt cx="0" cy="0"/>
        </a:xfrm>
      </p:grpSpPr>
      <p:sp>
        <p:nvSpPr>
          <p:cNvPr id="1688" name="Google Shape;1688;p1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Serial program - output</a:t>
            </a:r>
            <a:endParaRPr/>
          </a:p>
        </p:txBody>
      </p:sp>
      <p:sp>
        <p:nvSpPr>
          <p:cNvPr id="1689" name="Google Shape;1689;p1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rgbClr val="00B050"/>
              </a:buClr>
              <a:buSzPts val="2800"/>
              <a:buFont typeface="Arial"/>
              <a:buAutoNum type="arabicPeriod"/>
            </a:pPr>
            <a:r>
              <a:rPr lang="en-US">
                <a:solidFill>
                  <a:srgbClr val="00B050"/>
                </a:solidFill>
              </a:rPr>
              <a:t>bin_maxes</a:t>
            </a:r>
            <a:r>
              <a:rPr lang="en-US"/>
              <a:t> : an array of bin_count floats</a:t>
            </a:r>
            <a:br>
              <a:rPr lang="en-US"/>
            </a:br>
            <a:endParaRPr/>
          </a:p>
          <a:p>
            <a:pPr indent="-514350" lvl="0" marL="514350" rtl="0" algn="l">
              <a:lnSpc>
                <a:spcPct val="90000"/>
              </a:lnSpc>
              <a:spcBef>
                <a:spcPts val="1000"/>
              </a:spcBef>
              <a:spcAft>
                <a:spcPts val="0"/>
              </a:spcAft>
              <a:buClr>
                <a:srgbClr val="00B050"/>
              </a:buClr>
              <a:buSzPts val="2800"/>
              <a:buFont typeface="Arial"/>
              <a:buAutoNum type="arabicPeriod"/>
            </a:pPr>
            <a:r>
              <a:rPr lang="en-US">
                <a:solidFill>
                  <a:srgbClr val="00B050"/>
                </a:solidFill>
              </a:rPr>
              <a:t>bin_counts</a:t>
            </a:r>
            <a:r>
              <a:rPr lang="en-US"/>
              <a:t> : an array of bin_count ints</a:t>
            </a:r>
            <a:endParaRPr/>
          </a:p>
        </p:txBody>
      </p:sp>
      <p:sp>
        <p:nvSpPr>
          <p:cNvPr id="1690" name="Google Shape;1690;p180"/>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181"/>
          <p:cNvSpPr txBox="1"/>
          <p:nvPr>
            <p:ph type="title"/>
          </p:nvPr>
        </p:nvSpPr>
        <p:spPr>
          <a:xfrm>
            <a:off x="423634" y="403226"/>
            <a:ext cx="9750879"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First two stages of Foster’s Methodology</a:t>
            </a:r>
            <a:endParaRPr/>
          </a:p>
        </p:txBody>
      </p:sp>
      <p:sp>
        <p:nvSpPr>
          <p:cNvPr id="1696" name="Google Shape;1696;p181"/>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21-9780123742605.eps" id="1697" name="Google Shape;1697;p181"/>
          <p:cNvPicPr preferRelativeResize="0"/>
          <p:nvPr/>
        </p:nvPicPr>
        <p:blipFill rotWithShape="1">
          <a:blip r:embed="rId3">
            <a:alphaModFix/>
          </a:blip>
          <a:srcRect b="0" l="0" r="0" t="0"/>
          <a:stretch/>
        </p:blipFill>
        <p:spPr>
          <a:xfrm>
            <a:off x="1847851" y="2205038"/>
            <a:ext cx="8208963" cy="1871662"/>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182"/>
          <p:cNvSpPr txBox="1"/>
          <p:nvPr>
            <p:ph type="title"/>
          </p:nvPr>
        </p:nvSpPr>
        <p:spPr>
          <a:xfrm>
            <a:off x="422503" y="363762"/>
            <a:ext cx="9345611" cy="13239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Alternative definition of tasks and communication</a:t>
            </a:r>
            <a:endParaRPr/>
          </a:p>
        </p:txBody>
      </p:sp>
      <p:sp>
        <p:nvSpPr>
          <p:cNvPr id="1703" name="Google Shape;1703;p182"/>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22-9780123742605.eps" id="1704" name="Google Shape;1704;p182"/>
          <p:cNvPicPr preferRelativeResize="0"/>
          <p:nvPr/>
        </p:nvPicPr>
        <p:blipFill rotWithShape="1">
          <a:blip r:embed="rId3">
            <a:alphaModFix/>
          </a:blip>
          <a:srcRect b="0" l="0" r="0" t="0"/>
          <a:stretch/>
        </p:blipFill>
        <p:spPr>
          <a:xfrm>
            <a:off x="1897062" y="2876325"/>
            <a:ext cx="8397875" cy="2955925"/>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8" name="Shape 1708"/>
        <p:cNvGrpSpPr/>
        <p:nvPr/>
      </p:nvGrpSpPr>
      <p:grpSpPr>
        <a:xfrm>
          <a:off x="0" y="0"/>
          <a:ext cx="0" cy="0"/>
          <a:chOff x="0" y="0"/>
          <a:chExt cx="0" cy="0"/>
        </a:xfrm>
      </p:grpSpPr>
      <p:sp>
        <p:nvSpPr>
          <p:cNvPr id="1709" name="Google Shape;1709;p1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Adding the local arrays</a:t>
            </a:r>
            <a:endParaRPr/>
          </a:p>
        </p:txBody>
      </p:sp>
      <p:sp>
        <p:nvSpPr>
          <p:cNvPr id="1710" name="Google Shape;1710;p183"/>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pic>
        <p:nvPicPr>
          <p:cNvPr descr="f02-23-9780123742605.eps" id="1711" name="Google Shape;1711;p183"/>
          <p:cNvPicPr preferRelativeResize="0"/>
          <p:nvPr/>
        </p:nvPicPr>
        <p:blipFill rotWithShape="1">
          <a:blip r:embed="rId3">
            <a:alphaModFix/>
          </a:blip>
          <a:srcRect b="0" l="0" r="0" t="0"/>
          <a:stretch/>
        </p:blipFill>
        <p:spPr>
          <a:xfrm>
            <a:off x="2640014" y="1484313"/>
            <a:ext cx="6772275" cy="4032250"/>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5" name="Shape 1715"/>
        <p:cNvGrpSpPr/>
        <p:nvPr/>
      </p:nvGrpSpPr>
      <p:grpSpPr>
        <a:xfrm>
          <a:off x="0" y="0"/>
          <a:ext cx="0" cy="0"/>
          <a:chOff x="0" y="0"/>
          <a:chExt cx="0" cy="0"/>
        </a:xfrm>
      </p:grpSpPr>
      <p:sp>
        <p:nvSpPr>
          <p:cNvPr id="1716" name="Google Shape;1716;p1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Concluding Remarks (1)</a:t>
            </a:r>
            <a:endParaRPr/>
          </a:p>
        </p:txBody>
      </p:sp>
      <p:sp>
        <p:nvSpPr>
          <p:cNvPr id="1717" name="Google Shape;1717;p18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Serial systems</a:t>
            </a:r>
            <a:endParaRPr/>
          </a:p>
          <a:p>
            <a:pPr indent="-228600" lvl="1" marL="685800" rtl="0" algn="l">
              <a:lnSpc>
                <a:spcPct val="90000"/>
              </a:lnSpc>
              <a:spcBef>
                <a:spcPts val="500"/>
              </a:spcBef>
              <a:spcAft>
                <a:spcPts val="0"/>
              </a:spcAft>
              <a:buClr>
                <a:schemeClr val="dk1"/>
              </a:buClr>
              <a:buSzPts val="2400"/>
              <a:buChar char="•"/>
            </a:pPr>
            <a:r>
              <a:rPr lang="en-US"/>
              <a:t>The standard model of computer hardware has been the von Neumann architecture.</a:t>
            </a:r>
            <a:endParaRPr/>
          </a:p>
          <a:p>
            <a:pPr indent="-228600" lvl="0" marL="228600" rtl="0" algn="l">
              <a:lnSpc>
                <a:spcPct val="90000"/>
              </a:lnSpc>
              <a:spcBef>
                <a:spcPts val="1000"/>
              </a:spcBef>
              <a:spcAft>
                <a:spcPts val="0"/>
              </a:spcAft>
              <a:buClr>
                <a:schemeClr val="dk1"/>
              </a:buClr>
              <a:buSzPts val="2800"/>
              <a:buChar char="•"/>
            </a:pPr>
            <a:r>
              <a:rPr lang="en-US"/>
              <a:t>Parallel hardware</a:t>
            </a:r>
            <a:endParaRPr/>
          </a:p>
          <a:p>
            <a:pPr indent="-228600" lvl="1" marL="685800" rtl="0" algn="l">
              <a:lnSpc>
                <a:spcPct val="90000"/>
              </a:lnSpc>
              <a:spcBef>
                <a:spcPts val="500"/>
              </a:spcBef>
              <a:spcAft>
                <a:spcPts val="0"/>
              </a:spcAft>
              <a:buClr>
                <a:schemeClr val="dk1"/>
              </a:buClr>
              <a:buSzPts val="2400"/>
              <a:buChar char="•"/>
            </a:pPr>
            <a:r>
              <a:rPr lang="en-US"/>
              <a:t>Flynn’s taxonomy.</a:t>
            </a:r>
            <a:endParaRPr/>
          </a:p>
          <a:p>
            <a:pPr indent="-228600" lvl="0" marL="228600" rtl="0" algn="l">
              <a:lnSpc>
                <a:spcPct val="90000"/>
              </a:lnSpc>
              <a:spcBef>
                <a:spcPts val="1000"/>
              </a:spcBef>
              <a:spcAft>
                <a:spcPts val="0"/>
              </a:spcAft>
              <a:buClr>
                <a:schemeClr val="dk1"/>
              </a:buClr>
              <a:buSzPts val="2800"/>
              <a:buChar char="•"/>
            </a:pPr>
            <a:r>
              <a:rPr lang="en-US"/>
              <a:t>Parallel software</a:t>
            </a:r>
            <a:endParaRPr/>
          </a:p>
          <a:p>
            <a:pPr indent="-228600" lvl="1" marL="685800" rtl="0" algn="l">
              <a:lnSpc>
                <a:spcPct val="90000"/>
              </a:lnSpc>
              <a:spcBef>
                <a:spcPts val="500"/>
              </a:spcBef>
              <a:spcAft>
                <a:spcPts val="0"/>
              </a:spcAft>
              <a:buClr>
                <a:schemeClr val="dk1"/>
              </a:buClr>
              <a:buSzPts val="2400"/>
              <a:buChar char="•"/>
            </a:pPr>
            <a:r>
              <a:rPr lang="en-US"/>
              <a:t>We focus on software for homogeneous MIMD systems, consisting of a single program that obtains parallelism by branching.</a:t>
            </a:r>
            <a:endParaRPr/>
          </a:p>
          <a:p>
            <a:pPr indent="-228600" lvl="1" marL="685800" rtl="0" algn="l">
              <a:lnSpc>
                <a:spcPct val="90000"/>
              </a:lnSpc>
              <a:spcBef>
                <a:spcPts val="500"/>
              </a:spcBef>
              <a:spcAft>
                <a:spcPts val="0"/>
              </a:spcAft>
              <a:buClr>
                <a:schemeClr val="dk1"/>
              </a:buClr>
              <a:buSzPts val="2400"/>
              <a:buChar char="•"/>
            </a:pPr>
            <a:r>
              <a:rPr lang="en-US"/>
              <a:t> SPMD programs.</a:t>
            </a:r>
            <a:endParaRPr/>
          </a:p>
        </p:txBody>
      </p:sp>
      <p:sp>
        <p:nvSpPr>
          <p:cNvPr id="1718" name="Google Shape;1718;p184"/>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2" name="Shape 1722"/>
        <p:cNvGrpSpPr/>
        <p:nvPr/>
      </p:nvGrpSpPr>
      <p:grpSpPr>
        <a:xfrm>
          <a:off x="0" y="0"/>
          <a:ext cx="0" cy="0"/>
          <a:chOff x="0" y="0"/>
          <a:chExt cx="0" cy="0"/>
        </a:xfrm>
      </p:grpSpPr>
      <p:sp>
        <p:nvSpPr>
          <p:cNvPr id="1723" name="Google Shape;1723;p1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Concluding Remarks (2)</a:t>
            </a:r>
            <a:endParaRPr/>
          </a:p>
        </p:txBody>
      </p:sp>
      <p:sp>
        <p:nvSpPr>
          <p:cNvPr id="1724" name="Google Shape;1724;p18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Input and Output</a:t>
            </a:r>
            <a:endParaRPr/>
          </a:p>
          <a:p>
            <a:pPr indent="-228600" lvl="1" marL="685800" rtl="0" algn="l">
              <a:lnSpc>
                <a:spcPct val="90000"/>
              </a:lnSpc>
              <a:spcBef>
                <a:spcPts val="500"/>
              </a:spcBef>
              <a:spcAft>
                <a:spcPts val="0"/>
              </a:spcAft>
              <a:buClr>
                <a:schemeClr val="dk1"/>
              </a:buClr>
              <a:buSzPts val="2400"/>
              <a:buChar char="•"/>
            </a:pPr>
            <a:r>
              <a:rPr lang="en-US"/>
              <a:t>We’ll write programs in which one process or thread can access stdin, and all processes can access stdout and stderr. </a:t>
            </a:r>
            <a:endParaRPr/>
          </a:p>
          <a:p>
            <a:pPr indent="-228600" lvl="1" marL="685800" rtl="0" algn="l">
              <a:lnSpc>
                <a:spcPct val="90000"/>
              </a:lnSpc>
              <a:spcBef>
                <a:spcPts val="500"/>
              </a:spcBef>
              <a:spcAft>
                <a:spcPts val="0"/>
              </a:spcAft>
              <a:buClr>
                <a:schemeClr val="dk1"/>
              </a:buClr>
              <a:buSzPts val="2400"/>
              <a:buChar char="•"/>
            </a:pPr>
            <a:r>
              <a:rPr lang="en-US"/>
              <a:t>However, because of nondeterminism, except for debug output we’ll usually have a single process or thread accessing stdout.</a:t>
            </a:r>
            <a:endParaRPr/>
          </a:p>
        </p:txBody>
      </p:sp>
      <p:sp>
        <p:nvSpPr>
          <p:cNvPr id="1725" name="Google Shape;1725;p185"/>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1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Concluding Remarks (3)</a:t>
            </a:r>
            <a:endParaRPr/>
          </a:p>
        </p:txBody>
      </p:sp>
      <p:sp>
        <p:nvSpPr>
          <p:cNvPr id="1731" name="Google Shape;1731;p1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Performance</a:t>
            </a:r>
            <a:endParaRPr/>
          </a:p>
          <a:p>
            <a:pPr indent="-228600" lvl="1" marL="685800" rtl="0" algn="l">
              <a:lnSpc>
                <a:spcPct val="90000"/>
              </a:lnSpc>
              <a:spcBef>
                <a:spcPts val="500"/>
              </a:spcBef>
              <a:spcAft>
                <a:spcPts val="0"/>
              </a:spcAft>
              <a:buClr>
                <a:schemeClr val="dk1"/>
              </a:buClr>
              <a:buSzPts val="2400"/>
              <a:buChar char="•"/>
            </a:pPr>
            <a:r>
              <a:rPr lang="en-US"/>
              <a:t>Speedup</a:t>
            </a:r>
            <a:endParaRPr/>
          </a:p>
          <a:p>
            <a:pPr indent="-228600" lvl="1" marL="685800" rtl="0" algn="l">
              <a:lnSpc>
                <a:spcPct val="90000"/>
              </a:lnSpc>
              <a:spcBef>
                <a:spcPts val="500"/>
              </a:spcBef>
              <a:spcAft>
                <a:spcPts val="0"/>
              </a:spcAft>
              <a:buClr>
                <a:schemeClr val="dk1"/>
              </a:buClr>
              <a:buSzPts val="2400"/>
              <a:buChar char="•"/>
            </a:pPr>
            <a:r>
              <a:rPr lang="en-US"/>
              <a:t>Efficiency</a:t>
            </a:r>
            <a:endParaRPr/>
          </a:p>
          <a:p>
            <a:pPr indent="-228600" lvl="1" marL="685800" rtl="0" algn="l">
              <a:lnSpc>
                <a:spcPct val="90000"/>
              </a:lnSpc>
              <a:spcBef>
                <a:spcPts val="500"/>
              </a:spcBef>
              <a:spcAft>
                <a:spcPts val="0"/>
              </a:spcAft>
              <a:buClr>
                <a:schemeClr val="dk1"/>
              </a:buClr>
              <a:buSzPts val="2400"/>
              <a:buChar char="•"/>
            </a:pPr>
            <a:r>
              <a:rPr lang="en-US"/>
              <a:t>Amdahl’s law</a:t>
            </a:r>
            <a:endParaRPr/>
          </a:p>
          <a:p>
            <a:pPr indent="-228600" lvl="1" marL="685800" rtl="0" algn="l">
              <a:lnSpc>
                <a:spcPct val="90000"/>
              </a:lnSpc>
              <a:spcBef>
                <a:spcPts val="500"/>
              </a:spcBef>
              <a:spcAft>
                <a:spcPts val="0"/>
              </a:spcAft>
              <a:buClr>
                <a:schemeClr val="dk1"/>
              </a:buClr>
              <a:buSzPts val="2400"/>
              <a:buChar char="•"/>
            </a:pPr>
            <a:r>
              <a:rPr lang="en-US"/>
              <a:t>Scalability</a:t>
            </a:r>
            <a:endParaRPr/>
          </a:p>
          <a:p>
            <a:pPr indent="-228600" lvl="0" marL="228600" rtl="0" algn="l">
              <a:lnSpc>
                <a:spcPct val="90000"/>
              </a:lnSpc>
              <a:spcBef>
                <a:spcPts val="1000"/>
              </a:spcBef>
              <a:spcAft>
                <a:spcPts val="0"/>
              </a:spcAft>
              <a:buClr>
                <a:schemeClr val="dk1"/>
              </a:buClr>
              <a:buSzPts val="2800"/>
              <a:buChar char="•"/>
            </a:pPr>
            <a:r>
              <a:rPr lang="en-US"/>
              <a:t>Parallel Program Design</a:t>
            </a:r>
            <a:endParaRPr/>
          </a:p>
          <a:p>
            <a:pPr indent="-228600" lvl="1" marL="685800" rtl="0" algn="l">
              <a:lnSpc>
                <a:spcPct val="90000"/>
              </a:lnSpc>
              <a:spcBef>
                <a:spcPts val="500"/>
              </a:spcBef>
              <a:spcAft>
                <a:spcPts val="0"/>
              </a:spcAft>
              <a:buClr>
                <a:schemeClr val="dk1"/>
              </a:buClr>
              <a:buSzPts val="2400"/>
              <a:buChar char="•"/>
            </a:pPr>
            <a:r>
              <a:rPr lang="en-US"/>
              <a:t>Foster’s methodology</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32" name="Google Shape;1732;p186"/>
          <p:cNvSpPr txBox="1"/>
          <p:nvPr>
            <p:ph idx="11" type="ftr"/>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rgbClr val="888888"/>
                </a:solidFill>
                <a:latin typeface="Calibri"/>
                <a:ea typeface="Calibri"/>
                <a:cs typeface="Calibri"/>
                <a:sym typeface="Calibri"/>
              </a:rPr>
              <a:t>Copyright © 2010, Elsevier Inc. All rights Reserved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2023-06-28T07:14:09Z</dcterms:created>
  <dc:creator>Windows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2024-06-18T05:08:46Z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4a229b88-9735-4802-8cb2-cd8d5f27b8f2</vt:lpwstr>
  </property>
  <property fmtid="{D5CDD505-2E9C-101B-9397-08002B2CF9AE}" pid="8" name="MSIP_Label_e65487c9-99ed-4cbc-93a8-0e9b1796bde5_ContentBits">
    <vt:lpwstr>0</vt:lpwstr>
  </property>
</Properties>
</file>