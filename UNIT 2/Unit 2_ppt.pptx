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94"/>
  </p:notesMasterIdLst>
  <p:handoutMasterIdLst>
    <p:handoutMasterId r:id="rId95"/>
  </p:handoutMasterIdLst>
  <p:sldIdLst>
    <p:sldId id="404" r:id="rId2"/>
    <p:sldId id="271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2" r:id="rId39"/>
    <p:sldId id="350" r:id="rId40"/>
    <p:sldId id="351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68" r:id="rId57"/>
    <p:sldId id="369" r:id="rId58"/>
    <p:sldId id="370" r:id="rId59"/>
    <p:sldId id="371" r:id="rId60"/>
    <p:sldId id="372" r:id="rId61"/>
    <p:sldId id="373" r:id="rId62"/>
    <p:sldId id="374" r:id="rId63"/>
    <p:sldId id="375" r:id="rId64"/>
    <p:sldId id="376" r:id="rId65"/>
    <p:sldId id="378" r:id="rId66"/>
    <p:sldId id="379" r:id="rId67"/>
    <p:sldId id="377" r:id="rId68"/>
    <p:sldId id="380" r:id="rId69"/>
    <p:sldId id="381" r:id="rId70"/>
    <p:sldId id="382" r:id="rId71"/>
    <p:sldId id="383" r:id="rId72"/>
    <p:sldId id="385" r:id="rId73"/>
    <p:sldId id="384" r:id="rId74"/>
    <p:sldId id="386" r:id="rId75"/>
    <p:sldId id="387" r:id="rId76"/>
    <p:sldId id="388" r:id="rId77"/>
    <p:sldId id="389" r:id="rId78"/>
    <p:sldId id="390" r:id="rId79"/>
    <p:sldId id="391" r:id="rId80"/>
    <p:sldId id="392" r:id="rId81"/>
    <p:sldId id="393" r:id="rId82"/>
    <p:sldId id="394" r:id="rId83"/>
    <p:sldId id="395" r:id="rId84"/>
    <p:sldId id="396" r:id="rId85"/>
    <p:sldId id="397" r:id="rId86"/>
    <p:sldId id="398" r:id="rId87"/>
    <p:sldId id="399" r:id="rId88"/>
    <p:sldId id="400" r:id="rId89"/>
    <p:sldId id="314" r:id="rId90"/>
    <p:sldId id="401" r:id="rId91"/>
    <p:sldId id="402" r:id="rId92"/>
    <p:sldId id="403" r:id="rId9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808080"/>
    <a:srgbClr val="003399"/>
    <a:srgbClr val="3399FF"/>
    <a:srgbClr val="000099"/>
    <a:srgbClr val="5F5F5F"/>
    <a:srgbClr val="000066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4" autoAdjust="0"/>
    <p:restoredTop sz="85915" autoAdjust="0"/>
  </p:normalViewPr>
  <p:slideViewPr>
    <p:cSldViewPr>
      <p:cViewPr varScale="1">
        <p:scale>
          <a:sx n="58" d="100"/>
          <a:sy n="58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4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81560B1-646F-4931-9AEB-D5BED3327717}" type="datetime3">
              <a:rPr lang="en-US"/>
              <a:pPr>
                <a:defRPr/>
              </a:pPr>
              <a:t>19 August 2025</a:t>
            </a:fld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BDE3878-2EB2-400D-BC0F-3DF3DDCC2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6F97738-BDAA-49BD-9A5F-381B1C133603}" type="datetime3">
              <a:rPr lang="en-US"/>
              <a:pPr>
                <a:defRPr/>
              </a:pPr>
              <a:t>19 August 2025</a:t>
            </a:fld>
            <a:endParaRPr 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1E46FBC-7152-49D1-8803-5961429819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lIns="99032" tIns="99032" rIns="99032" bIns="99032"/>
          <a:lstStyle/>
          <a:p>
            <a:pPr>
              <a:spcBef>
                <a:spcPct val="0"/>
              </a:spcBef>
              <a:buSzPts val="1100"/>
            </a:pPr>
            <a:endParaRPr lang="en-US" smtClean="0"/>
          </a:p>
        </p:txBody>
      </p:sp>
      <p:sp>
        <p:nvSpPr>
          <p:cNvPr id="97283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000" y="0"/>
              </a:cxn>
              <a:cxn ang="0">
                <a:pos x="120000" y="120000"/>
              </a:cxn>
              <a:cxn ang="0">
                <a:pos x="0" y="120000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The University of Adelaide, School of Computer Science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DCCFFE1-C442-4E30-B1DD-DB59039D3FD1}" type="datetime3">
              <a:rPr lang="en-US" smtClean="0"/>
              <a:pPr/>
              <a:t>19 August 2025</a:t>
            </a:fld>
            <a:endParaRPr lang="en-US" smtClean="0"/>
          </a:p>
        </p:txBody>
      </p:sp>
      <p:sp>
        <p:nvSpPr>
          <p:cNvPr id="983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Chapter 2 — Instructions: Language of the Computer</a:t>
            </a:r>
          </a:p>
        </p:txBody>
      </p:sp>
      <p:sp>
        <p:nvSpPr>
          <p:cNvPr id="983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066D4B-9FA7-482F-8A39-8063C825681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983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Please refer to the detailed slides on cache coherence and thread-safety in Chapter 4.</a:t>
            </a:r>
          </a:p>
        </p:txBody>
      </p:sp>
      <p:sp>
        <p:nvSpPr>
          <p:cNvPr id="9933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The University of Adelaide, School of Computer Science</a:t>
            </a:r>
          </a:p>
        </p:txBody>
      </p:sp>
      <p:sp>
        <p:nvSpPr>
          <p:cNvPr id="99333" name="Date Placeholder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D06E77C-3621-4CC1-BB9A-F8F047529399}" type="datetime3">
              <a:rPr lang="en-US" smtClean="0"/>
              <a:pPr/>
              <a:t>19 August 2025</a:t>
            </a:fld>
            <a:endParaRPr lang="en-US" smtClean="0"/>
          </a:p>
        </p:txBody>
      </p:sp>
      <p:sp>
        <p:nvSpPr>
          <p:cNvPr id="99334" name="Footer Placeholder 5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Chapter 2 — Instructions: Language of the Computer</a:t>
            </a:r>
          </a:p>
        </p:txBody>
      </p:sp>
      <p:sp>
        <p:nvSpPr>
          <p:cNvPr id="99335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42AD4B-0166-49DB-9306-474C52B21688}" type="slidenum">
              <a:rPr lang="en-US" smtClean="0"/>
              <a:pPr/>
              <a:t>86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Please refer to the detailed slides on cache coherence and thread-safety in Chapter 4.</a:t>
            </a:r>
          </a:p>
          <a:p>
            <a:endParaRPr lang="en-US" smtClean="0"/>
          </a:p>
        </p:txBody>
      </p:sp>
      <p:sp>
        <p:nvSpPr>
          <p:cNvPr id="10035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The University of Adelaide, School of Computer Science</a:t>
            </a:r>
          </a:p>
        </p:txBody>
      </p:sp>
      <p:sp>
        <p:nvSpPr>
          <p:cNvPr id="100357" name="Date Placeholder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678D08E-BF0A-4342-9681-0C79D5D30548}" type="datetime3">
              <a:rPr lang="en-US" smtClean="0"/>
              <a:pPr/>
              <a:t>19 August 2025</a:t>
            </a:fld>
            <a:endParaRPr lang="en-US" smtClean="0"/>
          </a:p>
        </p:txBody>
      </p:sp>
      <p:sp>
        <p:nvSpPr>
          <p:cNvPr id="100358" name="Footer Placeholder 5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Chapter 2 — Instructions: Language of the Computer</a:t>
            </a:r>
          </a:p>
        </p:txBody>
      </p:sp>
      <p:sp>
        <p:nvSpPr>
          <p:cNvPr id="100359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9FD29-9D62-4339-9F61-7854C93E1A8C}" type="slidenum">
              <a:rPr lang="en-US" smtClean="0"/>
              <a:pPr/>
              <a:t>87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Please refer to the detailed slides on cache coherence and thread-safety in Chapter 4.</a:t>
            </a:r>
          </a:p>
          <a:p>
            <a:endParaRPr lang="en-US" smtClean="0"/>
          </a:p>
        </p:txBody>
      </p:sp>
      <p:sp>
        <p:nvSpPr>
          <p:cNvPr id="10138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The University of Adelaide, School of Computer Science</a:t>
            </a:r>
          </a:p>
        </p:txBody>
      </p:sp>
      <p:sp>
        <p:nvSpPr>
          <p:cNvPr id="101381" name="Date Placeholder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FFF38C8-0C6C-4686-A127-38B1738C341B}" type="datetime3">
              <a:rPr lang="en-US" smtClean="0"/>
              <a:pPr/>
              <a:t>19 August 2025</a:t>
            </a:fld>
            <a:endParaRPr lang="en-US" smtClean="0"/>
          </a:p>
        </p:txBody>
      </p:sp>
      <p:sp>
        <p:nvSpPr>
          <p:cNvPr id="101382" name="Footer Placeholder 5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Chapter 2 — Instructions: Language of the Computer</a:t>
            </a:r>
          </a:p>
        </p:txBody>
      </p:sp>
      <p:sp>
        <p:nvSpPr>
          <p:cNvPr id="101383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B6AB41-6959-450C-9BD3-269006ACFBD9}" type="slidenum">
              <a:rPr lang="en-US" smtClean="0"/>
              <a:pPr/>
              <a:t>88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6B6BC-214D-49E3-9855-4F01C85710DC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4466E-ED50-4493-B05D-8554AA0F62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77384-6223-4B60-80D9-44022B85D641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E062C-C35B-4663-9AF0-C2643D348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8CD50-5994-4540-892E-BF2CB66D539A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53A76-4411-4418-AC6E-DF0C4B8ECA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78ACA-61EB-44FC-BCB1-252AA568F8DB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D9F46-F17A-4865-9EB4-C756C5F849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439C-D203-49D9-97A2-CD63923E1BC0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7B1F4-1661-4FB2-9BCF-E1D3062403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8584A-6C2D-4184-9B11-8ACAF4BBA81C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7713C-9D4B-45F7-9087-7DC1B0073F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01548-180D-427F-B21D-F143AC54B6B3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2E051-7753-4B25-B48F-98B14A92B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4B61F-BA66-4D2A-9F56-081C548B83D6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B7B3F-A656-449D-9E91-211FDBEE7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9FC59-737A-49F3-91F3-7F42C4373AB7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6B9B9-6AA0-4BFC-8A6B-4FF10EFC17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AA334-C8A3-4F99-AB9A-6244E25042CC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9ADFB-3321-42B1-9898-74EA6C744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6540A-E1E3-4FED-A80E-5DE564C2D4F8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F8F48-D764-4A00-98D7-64D09B94A5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E0E3C1-C4DD-4161-A538-57D6C851E113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712CFC-E0FD-4271-AB4D-933623AC90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2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endParaRPr lang="en-US"/>
          </a:p>
        </p:txBody>
      </p:sp>
      <p:sp>
        <p:nvSpPr>
          <p:cNvPr id="8" name="Rectangle 13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endParaRPr lang="en-US"/>
          </a:p>
        </p:txBody>
      </p:sp>
      <p:pic>
        <p:nvPicPr>
          <p:cNvPr id="1033" name="Picture 11" descr="MK_logo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fld id="{1E32835F-A248-45A8-9CA5-579F3D0F2C3A}" type="slidenum">
              <a:rPr lang="en-AU" sz="1200" b="1">
                <a:latin typeface="Arial" charset="0"/>
              </a:rPr>
              <a:pPr algn="r">
                <a:defRPr/>
              </a:pPr>
              <a:t>‹#›</a:t>
            </a:fld>
            <a:endParaRPr lang="en-GB" sz="1200">
              <a:latin typeface="Arial" charset="0"/>
            </a:endParaRPr>
          </a:p>
        </p:txBody>
      </p:sp>
      <p:sp>
        <p:nvSpPr>
          <p:cNvPr id="11" name="Rectangle 15"/>
          <p:cNvSpPr>
            <a:spLocks noChangeArrowheads="1"/>
          </p:cNvSpPr>
          <p:nvPr userDrawn="1"/>
        </p:nvSpPr>
        <p:spPr bwMode="auto">
          <a:xfrm>
            <a:off x="252413" y="44450"/>
            <a:ext cx="36512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endParaRPr lang="en-US"/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925" y="693738"/>
            <a:ext cx="8569325" cy="71437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003300" y="4635500"/>
            <a:ext cx="7889875" cy="1655763"/>
          </a:xfrm>
        </p:spPr>
        <p:txBody>
          <a:bodyPr spcFirstLastPara="1" lIns="91425" tIns="45700" rIns="91425" bIns="45700" rtlCol="0">
            <a:normAutofit/>
          </a:bodyPr>
          <a:lstStyle/>
          <a:p>
            <a:pPr marL="508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defRPr/>
            </a:pPr>
            <a:endParaRPr dirty="0"/>
          </a:p>
          <a:p>
            <a:pPr marL="50800" algn="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defRPr/>
            </a:pPr>
            <a:r>
              <a:rPr lang="en-US" sz="1800" dirty="0"/>
              <a:t>By-   </a:t>
            </a:r>
            <a:r>
              <a:rPr lang="en-US" sz="1800" dirty="0" smtClean="0"/>
              <a:t>Dr. Sharon Christa</a:t>
            </a:r>
            <a:endParaRPr lang="en-US" sz="1800" dirty="0"/>
          </a:p>
          <a:p>
            <a:pPr marL="50800" algn="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defRPr/>
            </a:pPr>
            <a:r>
              <a:rPr lang="en-US" sz="1800" dirty="0"/>
              <a:t>               </a:t>
            </a:r>
            <a:r>
              <a:rPr lang="en-US" sz="1800" dirty="0" smtClean="0"/>
              <a:t>sharon.christa@mituniversity.edu.in</a:t>
            </a:r>
            <a:endParaRPr lang="en-US" sz="1800" dirty="0"/>
          </a:p>
        </p:txBody>
      </p:sp>
      <p:pic>
        <p:nvPicPr>
          <p:cNvPr id="2051" name="Google Shape;85;p1" descr="PARAM Smriti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57338"/>
            <a:ext cx="917575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Google Shape;86;p1" descr="Walchand College of Engineering, Sangli"/>
          <p:cNvPicPr preferRelativeResize="0">
            <a:picLocks noChangeAspect="1" noChangeArrowheads="1"/>
          </p:cNvPicPr>
          <p:nvPr/>
        </p:nvPicPr>
        <p:blipFill>
          <a:blip r:embed="rId4" cstate="print"/>
          <a:srcRect l="42953" t="-11053" r="-847" b="11053"/>
          <a:stretch>
            <a:fillRect/>
          </a:stretch>
        </p:blipFill>
        <p:spPr bwMode="auto">
          <a:xfrm>
            <a:off x="0" y="0"/>
            <a:ext cx="1120775" cy="133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Google Shape;88;p1" descr="Admission"/>
          <p:cNvPicPr preferRelativeResize="0">
            <a:picLocks noChangeAspect="1" noChangeArrowheads="1"/>
          </p:cNvPicPr>
          <p:nvPr/>
        </p:nvPicPr>
        <p:blipFill>
          <a:blip r:embed="rId5" cstate="print"/>
          <a:srcRect l="21422" r="19705"/>
          <a:stretch>
            <a:fillRect/>
          </a:stretch>
        </p:blipFill>
        <p:spPr bwMode="auto">
          <a:xfrm>
            <a:off x="8018463" y="1557338"/>
            <a:ext cx="1125537" cy="133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Google Shape;89;p1"/>
          <p:cNvSpPr txBox="1">
            <a:spLocks noChangeArrowheads="1"/>
          </p:cNvSpPr>
          <p:nvPr/>
        </p:nvSpPr>
        <p:spPr bwMode="auto">
          <a:xfrm>
            <a:off x="1062038" y="46038"/>
            <a:ext cx="6858000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45700" rIns="91425" bIns="4570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National Supercomputing Mission Sponsored Faculty Development Program on</a:t>
            </a:r>
            <a:endParaRPr lang="en-US"/>
          </a:p>
          <a:p>
            <a:pPr algn="ctr">
              <a:buClr>
                <a:srgbClr val="000000"/>
              </a:buClr>
              <a:buSzPts val="1800"/>
              <a:buFont typeface="Arial" pitchFamily="34" charset="0"/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“High Performance Computing and AI”</a:t>
            </a:r>
            <a:endParaRPr lang="en-US" sz="1400">
              <a:solidFill>
                <a:srgbClr val="000000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  <a:p>
            <a:pPr algn="ctr">
              <a:buClr>
                <a:srgbClr val="000000"/>
              </a:buClr>
              <a:buSzPts val="1800"/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Organized by</a:t>
            </a:r>
            <a:endParaRPr lang="en-US" sz="1800"/>
          </a:p>
          <a:p>
            <a:pPr algn="ctr">
              <a:buSzPts val="1800"/>
            </a:pPr>
            <a:r>
              <a:rPr lang="en-US" sz="1800">
                <a:latin typeface="Arial Narrow" pitchFamily="34" charset="0"/>
              </a:rPr>
              <a:t>Department of Artificial Intelligence and Data Science,</a:t>
            </a:r>
          </a:p>
          <a:p>
            <a:pPr algn="ctr">
              <a:buSzPts val="1800"/>
            </a:pPr>
            <a:r>
              <a:rPr lang="en-US" sz="1800">
                <a:latin typeface="Arial Narrow" pitchFamily="34" charset="0"/>
              </a:rPr>
              <a:t>MET’s Institute of Engineering, Nashik &amp;</a:t>
            </a:r>
          </a:p>
          <a:p>
            <a:pPr algn="ctr">
              <a:buSzPts val="1800"/>
            </a:pPr>
            <a:r>
              <a:rPr lang="en-US" sz="1800">
                <a:latin typeface="Arial Narrow" pitchFamily="34" charset="0"/>
              </a:rPr>
              <a:t>Walchand College of Engineering(NSM Nodal Centre), Sangli</a:t>
            </a:r>
          </a:p>
          <a:p>
            <a:pPr algn="ctr">
              <a:buSzPts val="1800"/>
            </a:pPr>
            <a:r>
              <a:rPr lang="en-US" sz="1800">
                <a:latin typeface="Arial Narrow" pitchFamily="34" charset="0"/>
              </a:rPr>
              <a:t>Under the aegis of National Supercomputing Mission,</a:t>
            </a:r>
          </a:p>
          <a:p>
            <a:pPr algn="ctr">
              <a:buSzPts val="1800"/>
            </a:pPr>
            <a:r>
              <a:rPr lang="en-US" sz="1800">
                <a:latin typeface="Arial Narrow" pitchFamily="34" charset="0"/>
              </a:rPr>
              <a:t>Government of India, In association with CDAC, Pune.</a:t>
            </a:r>
          </a:p>
        </p:txBody>
      </p:sp>
      <p:sp>
        <p:nvSpPr>
          <p:cNvPr id="2055" name="TextBox 1"/>
          <p:cNvSpPr txBox="1">
            <a:spLocks noChangeArrowheads="1"/>
          </p:cNvSpPr>
          <p:nvPr/>
        </p:nvSpPr>
        <p:spPr bwMode="auto">
          <a:xfrm>
            <a:off x="1258888" y="3068638"/>
            <a:ext cx="669766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40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Shared Memory Programming with OpenMP</a:t>
            </a:r>
            <a:endParaRPr lang="en-GB" sz="400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6" name="Picture 2" descr="Engineering, Bhujbal Knowledge City ...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91513" y="0"/>
            <a:ext cx="852487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Roadmap</a:t>
            </a:r>
            <a:endParaRPr lang="en-AU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Writing programs that use OpenMP.</a:t>
            </a:r>
          </a:p>
          <a:p>
            <a:r>
              <a:rPr lang="en-US" sz="2800" smtClean="0"/>
              <a:t>Using OpenMP to parallelize many serial for loops with only small changes to the source code.</a:t>
            </a:r>
          </a:p>
          <a:p>
            <a:r>
              <a:rPr lang="en-US" sz="2800" smtClean="0"/>
              <a:t>Task parallelism.</a:t>
            </a:r>
          </a:p>
          <a:p>
            <a:r>
              <a:rPr lang="en-US" sz="2800" smtClean="0"/>
              <a:t>Explicit thread synchronization.</a:t>
            </a:r>
          </a:p>
          <a:p>
            <a:r>
              <a:rPr lang="en-US" sz="2800" smtClean="0"/>
              <a:t>Standard problems in shared-memory programming.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rgbClr val="0066FF"/>
                </a:solidFill>
                <a:latin typeface="Arial" pitchFamily="34" charset="0"/>
              </a:rPr>
              <a:t># Chapter Subtitle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OpenMP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An API for shared-memory parallel programming.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MP = multiprocessing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Designed for systems in which each thread or process can potentially have access to all available memory.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System is viewed as a collection of cores or CPU’s, all of which have access to main memory.</a:t>
            </a:r>
          </a:p>
          <a:p>
            <a:pPr fontAlgn="auto">
              <a:spcAft>
                <a:spcPts val="0"/>
              </a:spcAft>
              <a:defRPr/>
            </a:pP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3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 shared memory system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12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412875"/>
            <a:ext cx="7956550" cy="376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Pragmas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3671887"/>
          </a:xfrm>
        </p:spPr>
        <p:txBody>
          <a:bodyPr/>
          <a:lstStyle/>
          <a:p>
            <a:r>
              <a:rPr lang="en-US" smtClean="0"/>
              <a:t>Special preprocessor instructions.</a:t>
            </a:r>
          </a:p>
          <a:p>
            <a:r>
              <a:rPr lang="en-US" smtClean="0"/>
              <a:t>Typically added to a system to allow behaviors that aren’t part of the basic C specification.</a:t>
            </a:r>
          </a:p>
          <a:p>
            <a:r>
              <a:rPr lang="en-US" smtClean="0"/>
              <a:t>Compilers that don’t support the pragmas ignore them.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8400" y="4437063"/>
            <a:ext cx="18002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#pragma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260350"/>
            <a:ext cx="7694612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750" y="1052513"/>
            <a:ext cx="777716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gcc  −g  −Wall  −fopenmp  −o  omp_hello  omp_hello .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188" y="1773238"/>
            <a:ext cx="237490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. /  omp_hello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2225" y="2205038"/>
            <a:ext cx="14874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66FF"/>
                </a:solidFill>
                <a:latin typeface="+mn-lt"/>
              </a:rPr>
              <a:t>compiling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5875" y="2636838"/>
            <a:ext cx="32162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66FF"/>
                </a:solidFill>
                <a:latin typeface="+mn-lt"/>
              </a:rPr>
              <a:t>running with 4 threads</a:t>
            </a:r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 rot="1780262">
            <a:off x="1835150" y="2344738"/>
            <a:ext cx="727075" cy="584200"/>
          </a:xfrm>
          <a:custGeom>
            <a:avLst/>
            <a:gdLst>
              <a:gd name="T0" fmla="*/ 527947 w 1001486"/>
              <a:gd name="T1" fmla="*/ 409377 h 592666"/>
              <a:gd name="T2" fmla="*/ 290753 w 1001486"/>
              <a:gd name="T3" fmla="*/ 508192 h 592666"/>
              <a:gd name="T4" fmla="*/ 0 w 1001486"/>
              <a:gd name="T5" fmla="*/ 0 h 592666"/>
              <a:gd name="T6" fmla="*/ 0 60000 65536"/>
              <a:gd name="T7" fmla="*/ 0 60000 65536"/>
              <a:gd name="T8" fmla="*/ 0 60000 65536"/>
              <a:gd name="T9" fmla="*/ 0 w 1001486"/>
              <a:gd name="T10" fmla="*/ 0 h 592666"/>
              <a:gd name="T11" fmla="*/ 1001486 w 1001486"/>
              <a:gd name="T12" fmla="*/ 592666 h 5926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1486" h="592666">
                <a:moveTo>
                  <a:pt x="1001486" y="420914"/>
                </a:moveTo>
                <a:cubicBezTo>
                  <a:pt x="859971" y="506790"/>
                  <a:pt x="718457" y="592666"/>
                  <a:pt x="551543" y="522514"/>
                </a:cubicBezTo>
                <a:cubicBezTo>
                  <a:pt x="384629" y="452362"/>
                  <a:pt x="192314" y="226181"/>
                  <a:pt x="0" y="0"/>
                </a:cubicBezTo>
              </a:path>
            </a:pathLst>
          </a:custGeom>
          <a:noFill/>
          <a:ln w="9525" algn="ctr">
            <a:solidFill>
              <a:srgbClr val="0066FF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3850" y="3716338"/>
            <a:ext cx="3095625" cy="13668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0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1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2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3 of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9113" y="4797425"/>
            <a:ext cx="2862262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1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2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0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3 of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425" y="3860800"/>
            <a:ext cx="2646363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3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1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2 of 4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latin typeface="+mn-lt"/>
              </a:rPr>
              <a:t>Hello from thread 0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400" y="3716338"/>
            <a:ext cx="1295400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66FF"/>
                </a:solidFill>
                <a:latin typeface="+mn-lt"/>
              </a:rPr>
              <a:t>possible</a:t>
            </a:r>
            <a:br>
              <a:rPr lang="en-US" sz="2000" dirty="0">
                <a:solidFill>
                  <a:srgbClr val="0066FF"/>
                </a:solidFill>
                <a:latin typeface="+mn-lt"/>
              </a:rPr>
            </a:br>
            <a:r>
              <a:rPr lang="en-US" sz="2000" dirty="0">
                <a:solidFill>
                  <a:srgbClr val="0066FF"/>
                </a:solidFill>
                <a:latin typeface="+mn-lt"/>
              </a:rPr>
              <a:t>outcomes</a:t>
            </a:r>
          </a:p>
        </p:txBody>
      </p:sp>
      <p:cxnSp>
        <p:nvCxnSpPr>
          <p:cNvPr id="8204" name="Straight Arrow Connector 13"/>
          <p:cNvCxnSpPr>
            <a:cxnSpLocks noChangeShapeType="1"/>
            <a:stCxn id="12" idx="1"/>
          </p:cNvCxnSpPr>
          <p:nvPr/>
        </p:nvCxnSpPr>
        <p:spPr bwMode="auto">
          <a:xfrm rot="10800000" flipV="1">
            <a:off x="3132138" y="4070350"/>
            <a:ext cx="576262" cy="222250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headEnd/>
            <a:tailEnd type="arrow" w="med" len="med"/>
          </a:ln>
        </p:spPr>
      </p:cxnSp>
      <p:cxnSp>
        <p:nvCxnSpPr>
          <p:cNvPr id="8205" name="Straight Arrow Connector 14"/>
          <p:cNvCxnSpPr>
            <a:cxnSpLocks noChangeShapeType="1"/>
          </p:cNvCxnSpPr>
          <p:nvPr/>
        </p:nvCxnSpPr>
        <p:spPr bwMode="auto">
          <a:xfrm rot="10800000" flipH="1" flipV="1">
            <a:off x="5003800" y="4005263"/>
            <a:ext cx="576263" cy="222250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headEnd/>
            <a:tailEnd type="arrow" w="med" len="med"/>
          </a:ln>
        </p:spPr>
      </p:cxnSp>
      <p:cxnSp>
        <p:nvCxnSpPr>
          <p:cNvPr id="8206" name="Straight Arrow Connector 16"/>
          <p:cNvCxnSpPr>
            <a:cxnSpLocks noChangeShapeType="1"/>
            <a:stCxn id="12" idx="2"/>
          </p:cNvCxnSpPr>
          <p:nvPr/>
        </p:nvCxnSpPr>
        <p:spPr bwMode="auto">
          <a:xfrm rot="16200000" flipH="1">
            <a:off x="4169569" y="4610894"/>
            <a:ext cx="373062" cy="0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headEnd/>
            <a:tailEnd type="arrow" w="med" len="med"/>
          </a:ln>
        </p:spPr>
      </p:cxnSp>
      <p:sp>
        <p:nvSpPr>
          <p:cNvPr id="8207" name="Freeform 18"/>
          <p:cNvSpPr>
            <a:spLocks noChangeArrowheads="1"/>
          </p:cNvSpPr>
          <p:nvPr/>
        </p:nvSpPr>
        <p:spPr bwMode="auto">
          <a:xfrm rot="1780262">
            <a:off x="5749925" y="1843088"/>
            <a:ext cx="727075" cy="584200"/>
          </a:xfrm>
          <a:custGeom>
            <a:avLst/>
            <a:gdLst>
              <a:gd name="T0" fmla="*/ 527947 w 1001486"/>
              <a:gd name="T1" fmla="*/ 409377 h 592666"/>
              <a:gd name="T2" fmla="*/ 290753 w 1001486"/>
              <a:gd name="T3" fmla="*/ 508192 h 592666"/>
              <a:gd name="T4" fmla="*/ 0 w 1001486"/>
              <a:gd name="T5" fmla="*/ 0 h 592666"/>
              <a:gd name="T6" fmla="*/ 0 60000 65536"/>
              <a:gd name="T7" fmla="*/ 0 60000 65536"/>
              <a:gd name="T8" fmla="*/ 0 60000 65536"/>
              <a:gd name="T9" fmla="*/ 0 w 1001486"/>
              <a:gd name="T10" fmla="*/ 0 h 592666"/>
              <a:gd name="T11" fmla="*/ 1001486 w 1001486"/>
              <a:gd name="T12" fmla="*/ 592666 h 5926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1486" h="592666">
                <a:moveTo>
                  <a:pt x="1001486" y="420914"/>
                </a:moveTo>
                <a:cubicBezTo>
                  <a:pt x="859971" y="506790"/>
                  <a:pt x="718457" y="592666"/>
                  <a:pt x="551543" y="522514"/>
                </a:cubicBezTo>
                <a:cubicBezTo>
                  <a:pt x="384629" y="452362"/>
                  <a:pt x="192314" y="226181"/>
                  <a:pt x="0" y="0"/>
                </a:cubicBezTo>
              </a:path>
            </a:pathLst>
          </a:custGeom>
          <a:noFill/>
          <a:ln w="9525" algn="ctr">
            <a:solidFill>
              <a:srgbClr val="0066FF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OpenMp pragmas</a:t>
            </a:r>
          </a:p>
        </p:txBody>
      </p:sp>
      <p:sp>
        <p:nvSpPr>
          <p:cNvPr id="9219" name="Content Placeholder 4"/>
          <p:cNvSpPr>
            <a:spLocks noGrp="1"/>
          </p:cNvSpPr>
          <p:nvPr>
            <p:ph idx="1"/>
          </p:nvPr>
        </p:nvSpPr>
        <p:spPr>
          <a:xfrm>
            <a:off x="684213" y="1125538"/>
            <a:ext cx="6953250" cy="2973387"/>
          </a:xfrm>
        </p:spPr>
        <p:txBody>
          <a:bodyPr wrap="none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# pragma omp parallel</a:t>
            </a: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lvl="1"/>
            <a:r>
              <a:rPr lang="en-US" smtClean="0"/>
              <a:t>Most basic parallel directive.</a:t>
            </a:r>
          </a:p>
          <a:p>
            <a:pPr lvl="1"/>
            <a:r>
              <a:rPr lang="en-US" smtClean="0"/>
              <a:t>The number of threads that run </a:t>
            </a:r>
            <a:br>
              <a:rPr lang="en-US" smtClean="0"/>
            </a:br>
            <a:r>
              <a:rPr lang="en-US" smtClean="0"/>
              <a:t>the following structured block of code </a:t>
            </a:r>
            <a:br>
              <a:rPr lang="en-US" smtClean="0"/>
            </a:br>
            <a:r>
              <a:rPr lang="en-US" smtClean="0"/>
              <a:t>is determined by the run-time system.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 process forking and joining two threads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8225" y="2295525"/>
            <a:ext cx="7065963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clause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Text that modifies a directive. </a:t>
            </a:r>
          </a:p>
          <a:p>
            <a:r>
              <a:rPr lang="en-US" smtClean="0"/>
              <a:t>The num_threads clause can be added to a parallel directive. </a:t>
            </a:r>
          </a:p>
          <a:p>
            <a:r>
              <a:rPr lang="en-US" smtClean="0"/>
              <a:t>It allows the programmer to specify the number of threads that should execute the following block.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113" y="4868863"/>
            <a:ext cx="7596187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# pragma omp parallel num_threads ( thread_count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Of note…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There may be system-defined limitations on the number of threads that a program can start. </a:t>
            </a:r>
          </a:p>
          <a:p>
            <a:r>
              <a:rPr lang="en-US" sz="2800" smtClean="0"/>
              <a:t>The OpenMP standard doesn’t guarantee that this will actually start thread_count threads.</a:t>
            </a:r>
          </a:p>
          <a:p>
            <a:r>
              <a:rPr lang="en-US" sz="2800" smtClean="0"/>
              <a:t>Most current systems can start hundreds or even thousands of threads. </a:t>
            </a:r>
          </a:p>
          <a:p>
            <a:r>
              <a:rPr lang="en-US" sz="2800" smtClean="0"/>
              <a:t>Unless we’re trying to start a lot of threads, we will almost always get the desired number of threads.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terminology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OpenMP parlance the collection of threads executing the parallel block — the original thread and the new threads — is called a </a:t>
            </a:r>
            <a:r>
              <a:rPr lang="en-US" smtClean="0">
                <a:solidFill>
                  <a:srgbClr val="C00000"/>
                </a:solidFill>
              </a:rPr>
              <a:t>team</a:t>
            </a:r>
            <a:r>
              <a:rPr lang="en-US" smtClean="0"/>
              <a:t>, the original thread is called the </a:t>
            </a:r>
            <a:r>
              <a:rPr lang="en-US" smtClean="0">
                <a:solidFill>
                  <a:srgbClr val="C00000"/>
                </a:solidFill>
              </a:rPr>
              <a:t>master</a:t>
            </a:r>
            <a:r>
              <a:rPr lang="en-US" smtClean="0"/>
              <a:t>, and the additional threads are called </a:t>
            </a:r>
            <a:r>
              <a:rPr lang="en-US" smtClean="0">
                <a:solidFill>
                  <a:srgbClr val="C00000"/>
                </a:solidFill>
              </a:rPr>
              <a:t>slaves</a:t>
            </a:r>
            <a:r>
              <a:rPr lang="en-US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3317" name="Picture 2" descr="cartoons,cooperation,households,keys,people,persons,Screen Beans®,synergy,team efforts,teamwor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163" y="3644900"/>
            <a:ext cx="24479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In case the compiler doesn’t support OpenMP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1913" y="1916113"/>
            <a:ext cx="314483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 include &lt;omp.h&gt;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6600" y="3284538"/>
            <a:ext cx="4572000" cy="1557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#ifdef _OPENMP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 include &lt;omp.h&gt;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#endif</a:t>
            </a:r>
          </a:p>
        </p:txBody>
      </p:sp>
      <p:cxnSp>
        <p:nvCxnSpPr>
          <p:cNvPr id="14342" name="Straight Arrow Connector 6"/>
          <p:cNvCxnSpPr>
            <a:cxnSpLocks noChangeShapeType="1"/>
          </p:cNvCxnSpPr>
          <p:nvPr/>
        </p:nvCxnSpPr>
        <p:spPr bwMode="auto">
          <a:xfrm>
            <a:off x="3132138" y="2492375"/>
            <a:ext cx="1008062" cy="649288"/>
          </a:xfrm>
          <a:prstGeom prst="straightConnector1">
            <a:avLst/>
          </a:prstGeom>
          <a:noFill/>
          <a:ln w="28575" algn="ctr">
            <a:solidFill>
              <a:srgbClr val="0066FF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In case the compiler doesn’t support OpenMP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213" y="1844675"/>
            <a:ext cx="8064500" cy="3625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 ifdef _OPENMP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   </a:t>
            </a:r>
            <a:r>
              <a:rPr lang="en-US" sz="2800" dirty="0" err="1">
                <a:latin typeface="+mn-lt"/>
              </a:rPr>
              <a:t>int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my_rank</a:t>
            </a:r>
            <a:r>
              <a:rPr lang="en-US" sz="2800" dirty="0">
                <a:latin typeface="+mn-lt"/>
              </a:rPr>
              <a:t> = </a:t>
            </a:r>
            <a:r>
              <a:rPr lang="en-US" sz="2800" dirty="0" err="1">
                <a:latin typeface="+mn-lt"/>
              </a:rPr>
              <a:t>omp_get_thread_num</a:t>
            </a:r>
            <a:r>
              <a:rPr lang="en-US" sz="2800" dirty="0">
                <a:latin typeface="+mn-lt"/>
              </a:rPr>
              <a:t> ( 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   </a:t>
            </a:r>
            <a:r>
              <a:rPr lang="en-US" sz="2800" dirty="0" err="1">
                <a:latin typeface="+mn-lt"/>
              </a:rPr>
              <a:t>int</a:t>
            </a:r>
            <a:r>
              <a:rPr lang="en-US" sz="2800" dirty="0">
                <a:latin typeface="+mn-lt"/>
              </a:rPr>
              <a:t> thread_count = </a:t>
            </a:r>
            <a:r>
              <a:rPr lang="en-US" sz="2800" dirty="0" err="1">
                <a:latin typeface="+mn-lt"/>
              </a:rPr>
              <a:t>omp_get_num_threads</a:t>
            </a:r>
            <a:r>
              <a:rPr lang="en-US" sz="2800" dirty="0">
                <a:latin typeface="+mn-lt"/>
              </a:rPr>
              <a:t> ( 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 e l s 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   </a:t>
            </a:r>
            <a:r>
              <a:rPr lang="en-US" sz="2800" dirty="0" err="1">
                <a:latin typeface="+mn-lt"/>
              </a:rPr>
              <a:t>int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my_rank</a:t>
            </a:r>
            <a:r>
              <a:rPr lang="en-US" sz="2800" dirty="0">
                <a:latin typeface="+mn-lt"/>
              </a:rPr>
              <a:t>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   </a:t>
            </a:r>
            <a:r>
              <a:rPr lang="en-US" sz="2800" dirty="0" err="1">
                <a:latin typeface="+mn-lt"/>
              </a:rPr>
              <a:t>int</a:t>
            </a:r>
            <a:r>
              <a:rPr lang="en-US" sz="2800" dirty="0">
                <a:latin typeface="+mn-lt"/>
              </a:rPr>
              <a:t> thread_count =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# endif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cademic,cartoons,children,classes,courses,education,females,geometric shapes,geometry,girls,kids,mathematics,people,persons,schools,students,trapezoid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4300" y="2060575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7080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The Trapezoidal 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trapezoidal rule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275" y="1844675"/>
            <a:ext cx="8199438" cy="279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Serial algorithm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0" y="1484313"/>
            <a:ext cx="58864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 First OpenMP Version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None/>
            </a:pPr>
            <a:r>
              <a:rPr lang="en-US" smtClean="0"/>
              <a:t>1) We identified two types of tasks:</a:t>
            </a:r>
          </a:p>
          <a:p>
            <a:pPr marL="971550" lvl="1" indent="-514350">
              <a:buFont typeface="Wingdings" pitchFamily="2" charset="2"/>
              <a:buNone/>
            </a:pPr>
            <a:r>
              <a:rPr lang="en-US" smtClean="0"/>
              <a:t>a) computation of the areas of individual trapezoids, and</a:t>
            </a:r>
          </a:p>
          <a:p>
            <a:pPr marL="971550" lvl="1" indent="-514350">
              <a:buFont typeface="Wingdings" pitchFamily="2" charset="2"/>
              <a:buNone/>
            </a:pPr>
            <a:r>
              <a:rPr lang="en-US" smtClean="0"/>
              <a:t>b) adding the areas of trapezoids.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smtClean="0"/>
              <a:t>2) There is no communication among the tasks in the first collection, but each task in the first collection communicates with task 1b.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First OpenMP Version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3) We assumed that there would be many more trapezoids than cores.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So we aggregated tasks by assigning a contiguous block of trapezoids to each thread (and a single thread to each core).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11188" y="171450"/>
            <a:ext cx="8281987" cy="646113"/>
          </a:xfrm>
        </p:spPr>
        <p:txBody>
          <a:bodyPr/>
          <a:lstStyle/>
          <a:p>
            <a:r>
              <a:rPr lang="en-US" sz="3600" smtClean="0"/>
              <a:t>Assignment of trapezoids to threads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1052513"/>
            <a:ext cx="6538912" cy="496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550" y="3141663"/>
            <a:ext cx="7021513" cy="1814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Unpredictable results when two (or more)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threads attempt to simultaneously execute: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	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global_result += my_result ;</a:t>
            </a: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908050"/>
            <a:ext cx="83947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0113" y="5084763"/>
            <a:ext cx="2592387" cy="109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Mutual exclusion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7450" y="1628775"/>
            <a:ext cx="6175375" cy="1176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# pragma omp critical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   global_result += my_result ;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2500" y="3860800"/>
            <a:ext cx="4572000" cy="769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only one thread can execute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the following structured block at a time</a:t>
            </a:r>
          </a:p>
        </p:txBody>
      </p:sp>
      <p:sp>
        <p:nvSpPr>
          <p:cNvPr id="23558" name="Freeform 6"/>
          <p:cNvSpPr>
            <a:spLocks noChangeArrowheads="1"/>
          </p:cNvSpPr>
          <p:nvPr/>
        </p:nvSpPr>
        <p:spPr bwMode="auto">
          <a:xfrm>
            <a:off x="5341938" y="1758950"/>
            <a:ext cx="2992437" cy="2189163"/>
          </a:xfrm>
          <a:custGeom>
            <a:avLst/>
            <a:gdLst>
              <a:gd name="T0" fmla="*/ 0 w 2992362"/>
              <a:gd name="T1" fmla="*/ 157233 h 2189238"/>
              <a:gd name="T2" fmla="*/ 2670695 w 2992362"/>
              <a:gd name="T3" fmla="*/ 157233 h 2189238"/>
              <a:gd name="T4" fmla="*/ 1930448 w 2992362"/>
              <a:gd name="T5" fmla="*/ 1100628 h 2189238"/>
              <a:gd name="T6" fmla="*/ 2815843 w 2992362"/>
              <a:gd name="T7" fmla="*/ 1347363 h 2189238"/>
              <a:gd name="T8" fmla="*/ 1756273 w 2992362"/>
              <a:gd name="T9" fmla="*/ 2189163 h 21892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362"/>
              <a:gd name="T16" fmla="*/ 0 h 2189238"/>
              <a:gd name="T17" fmla="*/ 2992362 w 2992362"/>
              <a:gd name="T18" fmla="*/ 2189238 h 21892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362" h="2189238">
                <a:moveTo>
                  <a:pt x="0" y="157238"/>
                </a:moveTo>
                <a:cubicBezTo>
                  <a:pt x="1174448" y="78619"/>
                  <a:pt x="2348896" y="0"/>
                  <a:pt x="2670629" y="157238"/>
                </a:cubicBezTo>
                <a:cubicBezTo>
                  <a:pt x="2992362" y="314476"/>
                  <a:pt x="1906210" y="902304"/>
                  <a:pt x="1930400" y="1100666"/>
                </a:cubicBezTo>
                <a:cubicBezTo>
                  <a:pt x="1954591" y="1299028"/>
                  <a:pt x="2844800" y="1165980"/>
                  <a:pt x="2815772" y="1347409"/>
                </a:cubicBezTo>
                <a:cubicBezTo>
                  <a:pt x="2786744" y="1528838"/>
                  <a:pt x="2271486" y="1859038"/>
                  <a:pt x="1756229" y="2189238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260350"/>
            <a:ext cx="8348662" cy="584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333375"/>
            <a:ext cx="870267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7080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Scope of Variables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26628" name="Picture 2" descr="optical viewing devices,science,scopes,technology,telescopes,tripod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052513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Scope</a:t>
            </a:r>
          </a:p>
        </p:txBody>
      </p:sp>
      <p:sp>
        <p:nvSpPr>
          <p:cNvPr id="2765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serial programming, the scope of a variable consists of those parts of a program in which the variable can be used.</a:t>
            </a:r>
          </a:p>
          <a:p>
            <a:endParaRPr lang="en-US" smtClean="0"/>
          </a:p>
          <a:p>
            <a:r>
              <a:rPr lang="en-US" smtClean="0"/>
              <a:t>In OpenMP, the scope of a variable refers to the set of threads that can access the variable in a parallel block.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optical viewing devices,science,scopes,technology,telescopes,tripod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175" y="3644900"/>
            <a:ext cx="2663825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Scope in OpenMP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 variable that can be accessed by all the threads in the team has </a:t>
            </a:r>
            <a:r>
              <a:rPr lang="en-US" smtClean="0">
                <a:solidFill>
                  <a:srgbClr val="C00000"/>
                </a:solidFill>
              </a:rPr>
              <a:t>shared</a:t>
            </a:r>
            <a:r>
              <a:rPr lang="en-US" smtClean="0"/>
              <a:t> scope.</a:t>
            </a:r>
          </a:p>
          <a:p>
            <a:pPr fontAlgn="auto">
              <a:spcAft>
                <a:spcPts val="0"/>
              </a:spcAft>
              <a:defRPr/>
            </a:pPr>
            <a:endParaRPr lang="en-US" smtClean="0"/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A variable that can only be accessed by a single thread has </a:t>
            </a:r>
            <a:r>
              <a:rPr lang="en-US" smtClean="0">
                <a:solidFill>
                  <a:srgbClr val="C00000"/>
                </a:solidFill>
              </a:rPr>
              <a:t>private</a:t>
            </a:r>
            <a:r>
              <a:rPr lang="en-US" smtClean="0"/>
              <a:t> scope.</a:t>
            </a:r>
          </a:p>
          <a:p>
            <a:pPr fontAlgn="auto">
              <a:spcAft>
                <a:spcPts val="0"/>
              </a:spcAft>
              <a:defRPr/>
            </a:pPr>
            <a:endParaRPr lang="en-US" smtClean="0"/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The default scope for variables </a:t>
            </a:r>
            <a:br>
              <a:rPr lang="en-US" smtClean="0"/>
            </a:br>
            <a:r>
              <a:rPr lang="en-US" smtClean="0"/>
              <a:t>declared before a parallel block </a:t>
            </a:r>
            <a:br>
              <a:rPr lang="en-US" smtClean="0"/>
            </a:br>
            <a:r>
              <a:rPr lang="en-US" smtClean="0"/>
              <a:t>is </a:t>
            </a:r>
            <a:r>
              <a:rPr lang="en-US" smtClean="0">
                <a:solidFill>
                  <a:srgbClr val="0066FF"/>
                </a:solidFill>
              </a:rPr>
              <a:t>shared</a:t>
            </a:r>
            <a:r>
              <a:rPr lang="en-US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7080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The Reduction Clause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29700" name="Picture 2" descr="businesses,computer keys,concepts,keyboard keys,Photographs,reduce,tex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25538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1188" y="1125538"/>
            <a:ext cx="6840537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We need this more complex version to add each thread’s local calculation to get </a:t>
            </a:r>
            <a:r>
              <a:rPr lang="en-US" sz="2400" i="1" dirty="0">
                <a:solidFill>
                  <a:srgbClr val="808080"/>
                </a:solidFill>
                <a:latin typeface="+mn-lt"/>
              </a:rPr>
              <a:t>global_result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.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2276475"/>
            <a:ext cx="7905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550" y="4076700"/>
            <a:ext cx="50609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11188" y="3357563"/>
            <a:ext cx="6840537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Although we’d prefer this.</a:t>
            </a:r>
          </a:p>
        </p:txBody>
      </p:sp>
      <p:pic>
        <p:nvPicPr>
          <p:cNvPr id="3072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6950" y="5157788"/>
            <a:ext cx="4343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0728" name="Straight Arrow Connector 10"/>
          <p:cNvCxnSpPr>
            <a:cxnSpLocks noChangeShapeType="1"/>
          </p:cNvCxnSpPr>
          <p:nvPr/>
        </p:nvCxnSpPr>
        <p:spPr bwMode="auto">
          <a:xfrm>
            <a:off x="3132138" y="4508500"/>
            <a:ext cx="647700" cy="504825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1916113"/>
            <a:ext cx="6999288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827088" y="1125538"/>
            <a:ext cx="6840537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If we use this, there’s no critical section!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088" y="2781300"/>
            <a:ext cx="68405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If we fix it like this…</a:t>
            </a:r>
          </a:p>
        </p:txBody>
      </p:sp>
      <p:pic>
        <p:nvPicPr>
          <p:cNvPr id="3175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550" y="3429000"/>
            <a:ext cx="7189788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827088" y="5157788"/>
            <a:ext cx="6840537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… we force the threads to execute sequentially.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088" y="1125538"/>
            <a:ext cx="6840537" cy="12731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We can avoid this problem by declaring a private variable inside the parallel block and moving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the critical section after the function call.</a:t>
            </a:r>
          </a:p>
        </p:txBody>
      </p:sp>
      <p:grpSp>
        <p:nvGrpSpPr>
          <p:cNvPr id="32772" name="Group 9"/>
          <p:cNvGrpSpPr>
            <a:grpSpLocks/>
          </p:cNvGrpSpPr>
          <p:nvPr/>
        </p:nvGrpSpPr>
        <p:grpSpPr bwMode="auto">
          <a:xfrm>
            <a:off x="971550" y="2708275"/>
            <a:ext cx="7488238" cy="2665413"/>
            <a:chOff x="1331640" y="2708920"/>
            <a:chExt cx="6732587" cy="2151112"/>
          </a:xfrm>
        </p:grpSpPr>
        <p:pic>
          <p:nvPicPr>
            <p:cNvPr id="32773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31640" y="2708920"/>
              <a:ext cx="5743575" cy="1076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31640" y="3717032"/>
              <a:ext cx="6732587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811213"/>
            <a:ext cx="8316912" cy="553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ular Callout 4"/>
          <p:cNvSpPr/>
          <p:nvPr/>
        </p:nvSpPr>
        <p:spPr bwMode="auto">
          <a:xfrm>
            <a:off x="3059113" y="3789363"/>
            <a:ext cx="1368425" cy="1055687"/>
          </a:xfrm>
          <a:prstGeom prst="wedgeRoundRectCallout">
            <a:avLst>
              <a:gd name="adj1" fmla="val 47062"/>
              <a:gd name="adj2" fmla="val 68000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I don’t like it.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500563" y="2636838"/>
            <a:ext cx="1584325" cy="1055687"/>
          </a:xfrm>
          <a:prstGeom prst="wedgeRoundRectCallout">
            <a:avLst>
              <a:gd name="adj1" fmla="val 47110"/>
              <a:gd name="adj2" fmla="val 61125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Neither do I.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588125" y="1125538"/>
            <a:ext cx="2087563" cy="1531937"/>
          </a:xfrm>
          <a:prstGeom prst="wedgeRoundRectCallout">
            <a:avLst>
              <a:gd name="adj1" fmla="val 9420"/>
              <a:gd name="adj2" fmla="val 76433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</a:rPr>
              <a:t>I think we can do better.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Reduction operators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A </a:t>
            </a:r>
            <a:r>
              <a:rPr lang="en-US" smtClean="0">
                <a:solidFill>
                  <a:srgbClr val="C00000"/>
                </a:solidFill>
              </a:rPr>
              <a:t>reduction operator </a:t>
            </a:r>
            <a:r>
              <a:rPr lang="en-US" smtClean="0"/>
              <a:t>is a binary operation (such as addition or multiplication).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A </a:t>
            </a:r>
            <a:r>
              <a:rPr lang="en-US" smtClean="0">
                <a:solidFill>
                  <a:srgbClr val="C00000"/>
                </a:solidFill>
              </a:rPr>
              <a:t>reduction</a:t>
            </a:r>
            <a:r>
              <a:rPr lang="en-US" smtClean="0"/>
              <a:t> is a computation that repeatedly applies the same reduction operator to a sequence of operands in order to get a single result.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All of the intermediate results of the operation should be stored in the same variable: the reduction variable.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088" y="1125538"/>
            <a:ext cx="6840537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A reduction clause can be added to a parallel directive.</a:t>
            </a: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4076700"/>
            <a:ext cx="8532813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013" y="2205038"/>
            <a:ext cx="5986462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500563" y="3068638"/>
            <a:ext cx="273526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+, *, -, &amp;, |, ˆ, &amp;&amp;, ||</a:t>
            </a:r>
          </a:p>
        </p:txBody>
      </p:sp>
      <p:sp>
        <p:nvSpPr>
          <p:cNvPr id="35847" name="Freeform 9"/>
          <p:cNvSpPr>
            <a:spLocks noChangeArrowheads="1"/>
          </p:cNvSpPr>
          <p:nvPr/>
        </p:nvSpPr>
        <p:spPr bwMode="auto">
          <a:xfrm>
            <a:off x="3357563" y="2655888"/>
            <a:ext cx="982662" cy="849312"/>
          </a:xfrm>
          <a:custGeom>
            <a:avLst/>
            <a:gdLst>
              <a:gd name="T0" fmla="*/ 140381 w 982133"/>
              <a:gd name="T1" fmla="*/ 0 h 849087"/>
              <a:gd name="T2" fmla="*/ 140381 w 982133"/>
              <a:gd name="T3" fmla="*/ 725907 h 849087"/>
              <a:gd name="T4" fmla="*/ 982662 w 982133"/>
              <a:gd name="T5" fmla="*/ 740425 h 849087"/>
              <a:gd name="T6" fmla="*/ 0 60000 65536"/>
              <a:gd name="T7" fmla="*/ 0 60000 65536"/>
              <a:gd name="T8" fmla="*/ 0 60000 65536"/>
              <a:gd name="T9" fmla="*/ 0 w 982133"/>
              <a:gd name="T10" fmla="*/ 0 h 849087"/>
              <a:gd name="T11" fmla="*/ 982133 w 982133"/>
              <a:gd name="T12" fmla="*/ 849087 h 8490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2133" h="849087">
                <a:moveTo>
                  <a:pt x="140305" y="0"/>
                </a:moveTo>
                <a:cubicBezTo>
                  <a:pt x="70152" y="301172"/>
                  <a:pt x="0" y="602344"/>
                  <a:pt x="140305" y="725715"/>
                </a:cubicBezTo>
                <a:cubicBezTo>
                  <a:pt x="280610" y="849087"/>
                  <a:pt x="631371" y="794658"/>
                  <a:pt x="982133" y="740229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239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The “Parallel For” Directive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36868" name="Picture 2" descr="cartoons,competitions,gymnastics,handstands,leisure,parallel bars,people,recreation,spor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981075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Parallel for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Forks a team of threads to execute the following structured block. </a:t>
            </a:r>
          </a:p>
          <a:p>
            <a:r>
              <a:rPr lang="en-US" smtClean="0"/>
              <a:t>However, the structured block following the parallel for directive must be a for loop. </a:t>
            </a:r>
          </a:p>
          <a:p>
            <a:r>
              <a:rPr lang="en-US" smtClean="0"/>
              <a:t>Furthermore, with the parallel for directive the system parallelizes the for loop by dividing the iterations of the loop among the threads.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1341438"/>
            <a:ext cx="33718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613" y="3716338"/>
            <a:ext cx="6399212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8917" name="Straight Arrow Connector 5"/>
          <p:cNvCxnSpPr>
            <a:cxnSpLocks noChangeShapeType="1"/>
          </p:cNvCxnSpPr>
          <p:nvPr/>
        </p:nvCxnSpPr>
        <p:spPr bwMode="auto">
          <a:xfrm rot="16200000" flipH="1">
            <a:off x="2658269" y="2812257"/>
            <a:ext cx="831850" cy="690562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8" name="Trapezoid 7"/>
          <p:cNvSpPr/>
          <p:nvPr/>
        </p:nvSpPr>
        <p:spPr bwMode="auto">
          <a:xfrm>
            <a:off x="5292725" y="2420938"/>
            <a:ext cx="1079500" cy="792162"/>
          </a:xfrm>
          <a:prstGeom prst="trapezoid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Legal forms for parallelizable for statements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628775"/>
            <a:ext cx="8497887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Caveats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variable </a:t>
            </a:r>
            <a:r>
              <a:rPr lang="en-US" smtClean="0">
                <a:solidFill>
                  <a:srgbClr val="808080"/>
                </a:solidFill>
              </a:rPr>
              <a:t>index</a:t>
            </a:r>
            <a:r>
              <a:rPr lang="en-US" smtClean="0"/>
              <a:t> must have integer or pointer type (e.g., it can’t be a float).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The expressions </a:t>
            </a:r>
            <a:r>
              <a:rPr lang="en-US" smtClean="0">
                <a:solidFill>
                  <a:srgbClr val="808080"/>
                </a:solidFill>
              </a:rPr>
              <a:t>start</a:t>
            </a:r>
            <a:r>
              <a:rPr lang="en-US" smtClean="0"/>
              <a:t>, </a:t>
            </a:r>
            <a:r>
              <a:rPr lang="en-US" smtClean="0">
                <a:solidFill>
                  <a:srgbClr val="808080"/>
                </a:solidFill>
              </a:rPr>
              <a:t>end</a:t>
            </a:r>
            <a:r>
              <a:rPr lang="en-US" smtClean="0"/>
              <a:t>, and </a:t>
            </a:r>
            <a:r>
              <a:rPr lang="en-US" smtClean="0">
                <a:solidFill>
                  <a:srgbClr val="808080"/>
                </a:solidFill>
              </a:rPr>
              <a:t>incr</a:t>
            </a:r>
            <a:r>
              <a:rPr lang="en-US" smtClean="0"/>
              <a:t> must have a compatible type. For example, if index is a pointer, then </a:t>
            </a:r>
            <a:r>
              <a:rPr lang="en-US" smtClean="0">
                <a:solidFill>
                  <a:srgbClr val="808080"/>
                </a:solidFill>
              </a:rPr>
              <a:t>incr</a:t>
            </a:r>
            <a:r>
              <a:rPr lang="en-US" smtClean="0"/>
              <a:t> must have integer type.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Caveats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expressions </a:t>
            </a:r>
            <a:r>
              <a:rPr lang="en-US" smtClean="0">
                <a:solidFill>
                  <a:srgbClr val="808080"/>
                </a:solidFill>
              </a:rPr>
              <a:t>start</a:t>
            </a:r>
            <a:r>
              <a:rPr lang="en-US" smtClean="0"/>
              <a:t>, </a:t>
            </a:r>
            <a:r>
              <a:rPr lang="en-US" smtClean="0">
                <a:solidFill>
                  <a:srgbClr val="808080"/>
                </a:solidFill>
              </a:rPr>
              <a:t>end</a:t>
            </a:r>
            <a:r>
              <a:rPr lang="en-US" smtClean="0"/>
              <a:t>, and </a:t>
            </a:r>
            <a:r>
              <a:rPr lang="en-US" smtClean="0">
                <a:solidFill>
                  <a:srgbClr val="808080"/>
                </a:solidFill>
              </a:rPr>
              <a:t>incr</a:t>
            </a:r>
            <a:r>
              <a:rPr lang="en-US" smtClean="0"/>
              <a:t> must not change during execution of the loop.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During execution of the loop, the variable </a:t>
            </a:r>
            <a:r>
              <a:rPr lang="en-US" smtClean="0">
                <a:solidFill>
                  <a:srgbClr val="808080"/>
                </a:solidFill>
              </a:rPr>
              <a:t>index</a:t>
            </a:r>
            <a:r>
              <a:rPr lang="en-US" smtClean="0"/>
              <a:t> can only be modified by the “increment expression” in the </a:t>
            </a:r>
            <a:r>
              <a:rPr lang="en-US" smtClean="0">
                <a:solidFill>
                  <a:srgbClr val="C00000"/>
                </a:solidFill>
              </a:rPr>
              <a:t>for</a:t>
            </a:r>
            <a:r>
              <a:rPr lang="en-US" smtClean="0"/>
              <a:t> statement.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Data dependencies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cxnSp>
        <p:nvCxnSpPr>
          <p:cNvPr id="43012" name="Straight Arrow Connector 6"/>
          <p:cNvCxnSpPr>
            <a:cxnSpLocks noChangeShapeType="1"/>
          </p:cNvCxnSpPr>
          <p:nvPr/>
        </p:nvCxnSpPr>
        <p:spPr bwMode="auto">
          <a:xfrm rot="5400000">
            <a:off x="3490912" y="2493963"/>
            <a:ext cx="720725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9" name="Rectangle 8"/>
          <p:cNvSpPr/>
          <p:nvPr/>
        </p:nvSpPr>
        <p:spPr>
          <a:xfrm>
            <a:off x="684213" y="5084763"/>
            <a:ext cx="36004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1 1 2 3 5 8 13 21 34 55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563" y="5589588"/>
            <a:ext cx="26638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latin typeface="+mn-lt"/>
              </a:rPr>
              <a:t>1 1 2 3 5 8 0 0 0 0</a:t>
            </a:r>
          </a:p>
        </p:txBody>
      </p:sp>
      <p:cxnSp>
        <p:nvCxnSpPr>
          <p:cNvPr id="43015" name="Straight Arrow Connector 10"/>
          <p:cNvCxnSpPr>
            <a:cxnSpLocks noChangeShapeType="1"/>
          </p:cNvCxnSpPr>
          <p:nvPr/>
        </p:nvCxnSpPr>
        <p:spPr bwMode="auto">
          <a:xfrm rot="5400000">
            <a:off x="2339975" y="4725988"/>
            <a:ext cx="720725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43016" name="Straight Arrow Connector 11"/>
          <p:cNvCxnSpPr>
            <a:cxnSpLocks noChangeShapeType="1"/>
          </p:cNvCxnSpPr>
          <p:nvPr/>
        </p:nvCxnSpPr>
        <p:spPr bwMode="auto">
          <a:xfrm rot="5400000">
            <a:off x="5112543" y="4977607"/>
            <a:ext cx="1223963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1763713" y="5516563"/>
            <a:ext cx="16922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this is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1863" y="4581525"/>
            <a:ext cx="1865312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but sometimes</a:t>
            </a:r>
            <a:br>
              <a:rPr lang="en-US" sz="2000" dirty="0">
                <a:solidFill>
                  <a:srgbClr val="C00000"/>
                </a:solidFill>
                <a:latin typeface="+mn-lt"/>
              </a:rPr>
            </a:br>
            <a:r>
              <a:rPr lang="en-US" sz="2000" dirty="0">
                <a:solidFill>
                  <a:srgbClr val="C00000"/>
                </a:solidFill>
                <a:latin typeface="+mn-lt"/>
              </a:rPr>
              <a:t>we get this</a:t>
            </a:r>
          </a:p>
        </p:txBody>
      </p:sp>
      <p:sp>
        <p:nvSpPr>
          <p:cNvPr id="43019" name="TextBox 12"/>
          <p:cNvSpPr txBox="1">
            <a:spLocks noChangeArrowheads="1"/>
          </p:cNvSpPr>
          <p:nvPr/>
        </p:nvSpPr>
        <p:spPr bwMode="auto">
          <a:xfrm>
            <a:off x="1835150" y="981075"/>
            <a:ext cx="466883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>
                <a:latin typeface="Bodoni MT" pitchFamily="18" charset="0"/>
              </a:rPr>
              <a:t>fibo[ 0 ]  =  fibo[ 1 ]  = 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 b="1">
                <a:latin typeface="Bodoni MT" pitchFamily="18" charset="0"/>
              </a:rPr>
              <a:t>for</a:t>
            </a:r>
            <a:r>
              <a:rPr lang="en-US" sz="2100">
                <a:latin typeface="Bodoni MT" pitchFamily="18" charset="0"/>
              </a:rPr>
              <a:t>  (i  =  2;  i  &lt;  n;  i++)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>
                <a:latin typeface="Bodoni MT" pitchFamily="18" charset="0"/>
              </a:rPr>
              <a:t>     fibo[ i ]  =  fibo[ i – 1 ] + fibo[ i – 2 ]; </a:t>
            </a:r>
          </a:p>
        </p:txBody>
      </p:sp>
      <p:sp>
        <p:nvSpPr>
          <p:cNvPr id="43020" name="TextBox 13"/>
          <p:cNvSpPr txBox="1">
            <a:spLocks noChangeArrowheads="1"/>
          </p:cNvSpPr>
          <p:nvPr/>
        </p:nvSpPr>
        <p:spPr bwMode="auto">
          <a:xfrm>
            <a:off x="1476375" y="2781300"/>
            <a:ext cx="5394325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 dirty="0">
                <a:latin typeface="Bodoni MT" pitchFamily="18" charset="0"/>
              </a:rPr>
              <a:t>     </a:t>
            </a:r>
            <a:r>
              <a:rPr lang="en-US" sz="2100" dirty="0" err="1">
                <a:latin typeface="Bodoni MT" pitchFamily="18" charset="0"/>
              </a:rPr>
              <a:t>fibo</a:t>
            </a:r>
            <a:r>
              <a:rPr lang="en-US" sz="2100" dirty="0">
                <a:latin typeface="Bodoni MT" pitchFamily="18" charset="0"/>
              </a:rPr>
              <a:t>[ 0 ]  =  </a:t>
            </a:r>
            <a:r>
              <a:rPr lang="en-US" sz="2100" dirty="0" err="1">
                <a:latin typeface="Bodoni MT" pitchFamily="18" charset="0"/>
              </a:rPr>
              <a:t>fibo</a:t>
            </a:r>
            <a:r>
              <a:rPr lang="en-US" sz="2100" dirty="0">
                <a:latin typeface="Bodoni MT" pitchFamily="18" charset="0"/>
              </a:rPr>
              <a:t>[ 1 ]  = 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 dirty="0">
                <a:latin typeface="Bodoni MT" pitchFamily="18" charset="0"/>
              </a:rPr>
              <a:t>#   </a:t>
            </a:r>
            <a:r>
              <a:rPr lang="en-US" sz="2100" b="1" dirty="0" err="1">
                <a:latin typeface="Bodoni MT" pitchFamily="18" charset="0"/>
              </a:rPr>
              <a:t>pragma</a:t>
            </a:r>
            <a:r>
              <a:rPr lang="en-US" sz="2100" dirty="0">
                <a:latin typeface="Bodoni MT" pitchFamily="18" charset="0"/>
              </a:rPr>
              <a:t>  </a:t>
            </a:r>
            <a:r>
              <a:rPr lang="en-US" sz="2100" dirty="0" err="1">
                <a:latin typeface="Bodoni MT" pitchFamily="18" charset="0"/>
              </a:rPr>
              <a:t>omp</a:t>
            </a:r>
            <a:r>
              <a:rPr lang="en-US" sz="2100" dirty="0">
                <a:latin typeface="Bodoni MT" pitchFamily="18" charset="0"/>
              </a:rPr>
              <a:t>  parallel  </a:t>
            </a:r>
            <a:r>
              <a:rPr lang="en-US" sz="2100" b="1" dirty="0">
                <a:latin typeface="Bodoni MT" pitchFamily="18" charset="0"/>
              </a:rPr>
              <a:t>for</a:t>
            </a:r>
            <a:r>
              <a:rPr lang="en-US" sz="2100" dirty="0">
                <a:latin typeface="Bodoni MT" pitchFamily="18" charset="0"/>
              </a:rPr>
              <a:t>  </a:t>
            </a:r>
            <a:r>
              <a:rPr lang="en-US" sz="2100" dirty="0" err="1">
                <a:latin typeface="Bodoni MT" pitchFamily="18" charset="0"/>
              </a:rPr>
              <a:t>num_threads</a:t>
            </a:r>
            <a:r>
              <a:rPr lang="en-US" sz="2100" dirty="0">
                <a:latin typeface="Bodoni MT" pitchFamily="18" charset="0"/>
              </a:rPr>
              <a:t>(2)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 b="1" dirty="0">
                <a:latin typeface="Bodoni MT" pitchFamily="18" charset="0"/>
              </a:rPr>
              <a:t>     for</a:t>
            </a:r>
            <a:r>
              <a:rPr lang="en-US" sz="2100" dirty="0">
                <a:latin typeface="Bodoni MT" pitchFamily="18" charset="0"/>
              </a:rPr>
              <a:t>  (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  =  2;  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  &lt;  n;  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++)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100" dirty="0">
                <a:latin typeface="Bodoni MT" pitchFamily="18" charset="0"/>
              </a:rPr>
              <a:t>          </a:t>
            </a:r>
            <a:r>
              <a:rPr lang="en-US" sz="2100" dirty="0" err="1">
                <a:latin typeface="Bodoni MT" pitchFamily="18" charset="0"/>
              </a:rPr>
              <a:t>fibo</a:t>
            </a:r>
            <a:r>
              <a:rPr lang="en-US" sz="2100" dirty="0">
                <a:latin typeface="Bodoni MT" pitchFamily="18" charset="0"/>
              </a:rPr>
              <a:t>[ 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 ]  =  </a:t>
            </a:r>
            <a:r>
              <a:rPr lang="en-US" sz="2100" dirty="0" err="1">
                <a:latin typeface="Bodoni MT" pitchFamily="18" charset="0"/>
              </a:rPr>
              <a:t>fibo</a:t>
            </a:r>
            <a:r>
              <a:rPr lang="en-US" sz="2100" dirty="0">
                <a:latin typeface="Bodoni MT" pitchFamily="18" charset="0"/>
              </a:rPr>
              <a:t>[ 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 – 1 ] + </a:t>
            </a:r>
            <a:r>
              <a:rPr lang="en-US" sz="2100" dirty="0" err="1">
                <a:latin typeface="Bodoni MT" pitchFamily="18" charset="0"/>
              </a:rPr>
              <a:t>fibo</a:t>
            </a:r>
            <a:r>
              <a:rPr lang="en-US" sz="2100" dirty="0">
                <a:latin typeface="Bodoni MT" pitchFamily="18" charset="0"/>
              </a:rPr>
              <a:t>[ </a:t>
            </a:r>
            <a:r>
              <a:rPr lang="en-US" sz="2100" dirty="0" err="1">
                <a:latin typeface="Bodoni MT" pitchFamily="18" charset="0"/>
              </a:rPr>
              <a:t>i</a:t>
            </a:r>
            <a:r>
              <a:rPr lang="en-US" sz="2100" dirty="0">
                <a:latin typeface="Bodoni MT" pitchFamily="18" charset="0"/>
              </a:rPr>
              <a:t> – 2 ]; </a:t>
            </a:r>
          </a:p>
        </p:txBody>
      </p:sp>
      <p:cxnSp>
        <p:nvCxnSpPr>
          <p:cNvPr id="43021" name="Straight Arrow Connector 16"/>
          <p:cNvCxnSpPr>
            <a:cxnSpLocks noChangeShapeType="1"/>
          </p:cNvCxnSpPr>
          <p:nvPr/>
        </p:nvCxnSpPr>
        <p:spPr bwMode="auto">
          <a:xfrm rot="5400000">
            <a:off x="6623050" y="2528888"/>
            <a:ext cx="649288" cy="576262"/>
          </a:xfrm>
          <a:prstGeom prst="straightConnector1">
            <a:avLst/>
          </a:prstGeom>
          <a:noFill/>
          <a:ln w="38100" algn="ctr">
            <a:solidFill>
              <a:srgbClr val="0066FF"/>
            </a:solidFill>
            <a:round/>
            <a:headEnd/>
            <a:tailEnd type="arrow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6875463" y="2060575"/>
            <a:ext cx="1498600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solidFill>
                  <a:srgbClr val="0066FF"/>
                </a:solidFill>
                <a:latin typeface="+mn-lt"/>
              </a:rPr>
              <a:t>note 2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happened?</a:t>
            </a:r>
          </a:p>
        </p:txBody>
      </p:sp>
      <p:sp>
        <p:nvSpPr>
          <p:cNvPr id="44035" name="Content Placeholder 4"/>
          <p:cNvSpPr>
            <a:spLocks noGrp="1"/>
          </p:cNvSpPr>
          <p:nvPr>
            <p:ph idx="1"/>
          </p:nvPr>
        </p:nvSpPr>
        <p:spPr>
          <a:xfrm>
            <a:off x="3779838" y="1125538"/>
            <a:ext cx="5175250" cy="5111750"/>
          </a:xfrm>
        </p:spPr>
        <p:txBody>
          <a:bodyPr/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sz="2800" smtClean="0"/>
              <a:t>OpenMP compilers don’t check for dependences among iterations in a loop that’s being parallelized with a parallel for directive.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2800" smtClean="0"/>
              <a:t>A loop in which the results of one or more iterations depend on other iterations cannot, in general, be correctly parallelized by OpenMP.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44037" name="Picture 2" descr="bewilderment,businesses,businessmen,confused,confusion,emotions,men,metaphors,persons,vanishing,vanishing into thin air,wond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2349500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>
                <a:latin typeface="NimbusRomNo9L-Medi"/>
              </a:rPr>
              <a:t>Estimating </a:t>
            </a:r>
            <a:r>
              <a:rPr lang="el-GR" smtClean="0">
                <a:cs typeface="Arial" pitchFamily="34" charset="0"/>
              </a:rPr>
              <a:t>π</a:t>
            </a:r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6375" y="1196975"/>
            <a:ext cx="61150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050" y="2565400"/>
            <a:ext cx="512445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OpenMP solution #1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6238" y="1990725"/>
            <a:ext cx="8389937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5" name="Freeform 4"/>
          <p:cNvSpPr>
            <a:spLocks noChangeArrowheads="1"/>
          </p:cNvSpPr>
          <p:nvPr/>
        </p:nvSpPr>
        <p:spPr bwMode="auto">
          <a:xfrm>
            <a:off x="160338" y="1514475"/>
            <a:ext cx="4221162" cy="3001963"/>
          </a:xfrm>
          <a:custGeom>
            <a:avLst/>
            <a:gdLst>
              <a:gd name="T0" fmla="*/ 1611058 w 4221238"/>
              <a:gd name="T1" fmla="*/ 2607669 h 3002039"/>
              <a:gd name="T2" fmla="*/ 493477 w 4221238"/>
              <a:gd name="T3" fmla="*/ 2636696 h 3002039"/>
              <a:gd name="T4" fmla="*/ 551533 w 4221238"/>
              <a:gd name="T5" fmla="*/ 416067 h 3002039"/>
              <a:gd name="T6" fmla="*/ 3802675 w 4221238"/>
              <a:gd name="T7" fmla="*/ 285441 h 3002039"/>
              <a:gd name="T8" fmla="*/ 3062460 w 4221238"/>
              <a:gd name="T9" fmla="*/ 2128709 h 30020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21238"/>
              <a:gd name="T16" fmla="*/ 0 h 3002039"/>
              <a:gd name="T17" fmla="*/ 4221238 w 4221238"/>
              <a:gd name="T18" fmla="*/ 3002039 h 30020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21238" h="3002039">
                <a:moveTo>
                  <a:pt x="1611086" y="2607734"/>
                </a:moveTo>
                <a:cubicBezTo>
                  <a:pt x="1140581" y="2804886"/>
                  <a:pt x="670076" y="3002039"/>
                  <a:pt x="493486" y="2636763"/>
                </a:cubicBezTo>
                <a:cubicBezTo>
                  <a:pt x="316896" y="2271487"/>
                  <a:pt x="0" y="807963"/>
                  <a:pt x="551543" y="416077"/>
                </a:cubicBezTo>
                <a:cubicBezTo>
                  <a:pt x="1103086" y="24191"/>
                  <a:pt x="3384248" y="0"/>
                  <a:pt x="3802743" y="285448"/>
                </a:cubicBezTo>
                <a:cubicBezTo>
                  <a:pt x="4221238" y="570896"/>
                  <a:pt x="3641876" y="1349829"/>
                  <a:pt x="3062514" y="2128763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11638" y="1484313"/>
            <a:ext cx="21383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loop dependency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268413"/>
            <a:ext cx="8485187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OpenMP solution #2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425" y="2924175"/>
            <a:ext cx="22891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Insures factor has </a:t>
            </a:r>
            <a:br>
              <a:rPr lang="en-US" sz="2000" dirty="0">
                <a:solidFill>
                  <a:srgbClr val="C00000"/>
                </a:solidFill>
                <a:latin typeface="+mn-lt"/>
              </a:rPr>
            </a:br>
            <a:r>
              <a:rPr lang="en-US" sz="2000" dirty="0">
                <a:solidFill>
                  <a:srgbClr val="C00000"/>
                </a:solidFill>
                <a:latin typeface="+mn-lt"/>
              </a:rPr>
              <a:t>private scope.</a:t>
            </a:r>
          </a:p>
        </p:txBody>
      </p:sp>
      <p:sp>
        <p:nvSpPr>
          <p:cNvPr id="47110" name="Freeform 7"/>
          <p:cNvSpPr>
            <a:spLocks noChangeArrowheads="1"/>
          </p:cNvSpPr>
          <p:nvPr/>
        </p:nvSpPr>
        <p:spPr bwMode="auto">
          <a:xfrm>
            <a:off x="5102225" y="2249488"/>
            <a:ext cx="1492250" cy="682625"/>
          </a:xfrm>
          <a:custGeom>
            <a:avLst/>
            <a:gdLst>
              <a:gd name="T0" fmla="*/ 50789 w 1492551"/>
              <a:gd name="T1" fmla="*/ 0 h 682172"/>
              <a:gd name="T2" fmla="*/ 210415 w 1492551"/>
              <a:gd name="T3" fmla="*/ 392146 h 682172"/>
              <a:gd name="T4" fmla="*/ 1313277 w 1492551"/>
              <a:gd name="T5" fmla="*/ 246907 h 682172"/>
              <a:gd name="T6" fmla="*/ 1284255 w 1492551"/>
              <a:gd name="T7" fmla="*/ 682625 h 682172"/>
              <a:gd name="T8" fmla="*/ 0 60000 65536"/>
              <a:gd name="T9" fmla="*/ 0 60000 65536"/>
              <a:gd name="T10" fmla="*/ 0 60000 65536"/>
              <a:gd name="T11" fmla="*/ 0 60000 65536"/>
              <a:gd name="T12" fmla="*/ 0 w 1492551"/>
              <a:gd name="T13" fmla="*/ 0 h 682172"/>
              <a:gd name="T14" fmla="*/ 1492551 w 1492551"/>
              <a:gd name="T15" fmla="*/ 682172 h 6821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92551" h="682172">
                <a:moveTo>
                  <a:pt x="50799" y="0"/>
                </a:moveTo>
                <a:cubicBezTo>
                  <a:pt x="25399" y="175381"/>
                  <a:pt x="0" y="350762"/>
                  <a:pt x="210457" y="391886"/>
                </a:cubicBezTo>
                <a:cubicBezTo>
                  <a:pt x="420914" y="433010"/>
                  <a:pt x="1134533" y="198362"/>
                  <a:pt x="1313542" y="246743"/>
                </a:cubicBezTo>
                <a:cubicBezTo>
                  <a:pt x="1492551" y="295124"/>
                  <a:pt x="1388532" y="488648"/>
                  <a:pt x="1284514" y="682172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default clause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Lets the programmer specify the scope of each variable in a block.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With this clause the compiler will require that we specify the scope of each variable we use in the block and that has been declared outside the block.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4813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2852738"/>
            <a:ext cx="27241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default clause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4915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412875"/>
            <a:ext cx="8243887" cy="325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239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More About Loops in OpenMP: Sorting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0180" name="Picture 2" descr="coils,connections,curling,electronics,loops,networks,reflections,Veer Imag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052513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Bubble Sort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268413"/>
            <a:ext cx="7837487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4" descr="backgrounds,bubbles,clear,colorful,fizz,floating,Fotolia,transparent,wallpapers,wat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725" y="2708275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1188" y="171450"/>
            <a:ext cx="8281987" cy="646113"/>
          </a:xfrm>
        </p:spPr>
        <p:txBody>
          <a:bodyPr/>
          <a:lstStyle/>
          <a:p>
            <a:r>
              <a:rPr lang="en-US" sz="3600" smtClean="0"/>
              <a:t>Serial Odd-Even Transposition Sort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196975"/>
            <a:ext cx="81343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611188" y="171450"/>
            <a:ext cx="8281987" cy="646113"/>
          </a:xfrm>
        </p:spPr>
        <p:txBody>
          <a:bodyPr/>
          <a:lstStyle/>
          <a:p>
            <a:r>
              <a:rPr lang="en-US" sz="3600" smtClean="0"/>
              <a:t>Serial Odd-Even Transposition Sort</a:t>
            </a:r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1484313"/>
            <a:ext cx="4543425" cy="352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sz="3200" dirty="0" smtClean="0"/>
              <a:t>First </a:t>
            </a:r>
            <a:r>
              <a:rPr lang="en-US" sz="3200" dirty="0" err="1" smtClean="0"/>
              <a:t>OpenMP</a:t>
            </a:r>
            <a:r>
              <a:rPr lang="en-US" sz="3200" dirty="0" smtClean="0"/>
              <a:t> Odd-Even Sort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427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836613"/>
            <a:ext cx="7015162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611188" y="233363"/>
            <a:ext cx="8281987" cy="584200"/>
          </a:xfrm>
        </p:spPr>
        <p:txBody>
          <a:bodyPr/>
          <a:lstStyle/>
          <a:p>
            <a:r>
              <a:rPr lang="en-US" sz="3200" smtClean="0"/>
              <a:t>Second OpenMP Odd-Even Sort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836613"/>
            <a:ext cx="6427787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6600" y="3500438"/>
            <a:ext cx="20574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650" y="1125538"/>
            <a:ext cx="7858125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n-lt"/>
              </a:rPr>
              <a:t>Odd-even sort with two parallel for directives and two for directives. </a:t>
            </a:r>
          </a:p>
          <a:p>
            <a:pPr algn="ctr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n-lt"/>
              </a:rPr>
              <a:t>(Times are in seconds.)</a:t>
            </a: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2420938"/>
            <a:ext cx="7008812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cables,coils,connections,curling,electronics,loops,networks,reflections,Veer Imag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979488"/>
            <a:ext cx="381635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7080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Scheduling Loops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6100" y="1125538"/>
            <a:ext cx="37242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042988" y="1125538"/>
            <a:ext cx="2689225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We want to parallelize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this loop.</a:t>
            </a:r>
          </a:p>
        </p:txBody>
      </p:sp>
      <p:pic>
        <p:nvPicPr>
          <p:cNvPr id="5837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988" y="2636838"/>
            <a:ext cx="50768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51275" y="4868863"/>
            <a:ext cx="2894013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Assignment of work </a:t>
            </a:r>
            <a:br>
              <a:rPr lang="en-US" sz="2000" dirty="0">
                <a:solidFill>
                  <a:srgbClr val="C00000"/>
                </a:solidFill>
                <a:latin typeface="+mn-lt"/>
              </a:rPr>
            </a:br>
            <a:r>
              <a:rPr lang="en-US" sz="2000" dirty="0">
                <a:solidFill>
                  <a:srgbClr val="C00000"/>
                </a:solidFill>
                <a:latin typeface="+mn-lt"/>
              </a:rPr>
              <a:t>using cyclic partitioning.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125538"/>
            <a:ext cx="7046912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203575" y="4005263"/>
            <a:ext cx="3776663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Our definition of function </a:t>
            </a:r>
            <a:r>
              <a:rPr lang="en-US" sz="2400" i="1" dirty="0">
                <a:solidFill>
                  <a:srgbClr val="C00000"/>
                </a:solidFill>
                <a:latin typeface="+mn-lt"/>
              </a:rPr>
              <a:t>f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i</a:t>
            </a:r>
            <a:r>
              <a:rPr lang="en-US" dirty="0" smtClean="0"/>
              <a:t>) calls the sin function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times.</a:t>
            </a:r>
          </a:p>
          <a:p>
            <a:r>
              <a:rPr lang="en-US" dirty="0" smtClean="0"/>
              <a:t>Assume the time to execute f(2i) requires approximately twice as much time as the time to execute f(</a:t>
            </a:r>
            <a:r>
              <a:rPr lang="en-US" dirty="0" err="1" smtClean="0"/>
              <a:t>i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n = 10,000</a:t>
            </a:r>
          </a:p>
          <a:p>
            <a:pPr lvl="1"/>
            <a:r>
              <a:rPr lang="en-US" dirty="0" smtClean="0"/>
              <a:t>one thread</a:t>
            </a:r>
          </a:p>
          <a:p>
            <a:pPr lvl="1"/>
            <a:r>
              <a:rPr lang="en-US" dirty="0" smtClean="0"/>
              <a:t>run-time = 3.67 seconds.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Results</a:t>
            </a:r>
          </a:p>
        </p:txBody>
      </p:sp>
      <p:sp>
        <p:nvSpPr>
          <p:cNvPr id="78850" name="Content Placeholder 2"/>
          <p:cNvSpPr>
            <a:spLocks noGrp="1"/>
          </p:cNvSpPr>
          <p:nvPr>
            <p:ph idx="1"/>
          </p:nvPr>
        </p:nvSpPr>
        <p:spPr>
          <a:xfrm>
            <a:off x="611188" y="981075"/>
            <a:ext cx="8270875" cy="511175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n = 10,000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two threads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default assignment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run-time = 2.76 seconds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speedup = 1.33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n = 10,000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two threads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cyclic assignment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run-time = 1.84 seconds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speedup = 1.99</a:t>
            </a:r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61445" name="Picture 4" descr="awards,cartoons,persons,prizes,Screen Beans®,special occasions,trophies,winners,winning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7763" y="3716338"/>
            <a:ext cx="2160587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Schedule Clause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r>
              <a:rPr lang="en-US" smtClean="0"/>
              <a:t>Default schedule: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Cyclic schedule: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6246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844675"/>
            <a:ext cx="8332787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4365625"/>
            <a:ext cx="8313737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schedule ( type , chunksize )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Type can be:</a:t>
            </a:r>
          </a:p>
          <a:p>
            <a:pPr lvl="1"/>
            <a:r>
              <a:rPr lang="en-US" smtClean="0">
                <a:solidFill>
                  <a:srgbClr val="808080"/>
                </a:solidFill>
              </a:rPr>
              <a:t>static</a:t>
            </a:r>
            <a:r>
              <a:rPr lang="en-US" smtClean="0"/>
              <a:t>: the iterations can be assigned to the threads before the loop is executed.</a:t>
            </a:r>
          </a:p>
          <a:p>
            <a:pPr lvl="1"/>
            <a:r>
              <a:rPr lang="en-US" smtClean="0">
                <a:solidFill>
                  <a:srgbClr val="808080"/>
                </a:solidFill>
              </a:rPr>
              <a:t>dynamic</a:t>
            </a:r>
            <a:r>
              <a:rPr lang="en-US" smtClean="0"/>
              <a:t> or </a:t>
            </a:r>
            <a:r>
              <a:rPr lang="en-US" smtClean="0">
                <a:solidFill>
                  <a:srgbClr val="808080"/>
                </a:solidFill>
              </a:rPr>
              <a:t>guided</a:t>
            </a:r>
            <a:r>
              <a:rPr lang="en-US" smtClean="0"/>
              <a:t>: the iterations are assigned to the threads while the loop is executing.</a:t>
            </a:r>
          </a:p>
          <a:p>
            <a:pPr lvl="1"/>
            <a:r>
              <a:rPr lang="en-US" smtClean="0">
                <a:solidFill>
                  <a:srgbClr val="808080"/>
                </a:solidFill>
              </a:rPr>
              <a:t>auto</a:t>
            </a:r>
            <a:r>
              <a:rPr lang="en-US" smtClean="0"/>
              <a:t>: the compiler and/or the run-time system determine the schedule.</a:t>
            </a:r>
          </a:p>
          <a:p>
            <a:pPr lvl="1"/>
            <a:r>
              <a:rPr lang="en-US" smtClean="0">
                <a:solidFill>
                  <a:srgbClr val="808080"/>
                </a:solidFill>
              </a:rPr>
              <a:t>runtime</a:t>
            </a:r>
            <a:r>
              <a:rPr lang="en-US" smtClean="0"/>
              <a:t>: the schedule is determined at run-time.</a:t>
            </a:r>
          </a:p>
          <a:p>
            <a:r>
              <a:rPr lang="en-US" smtClean="0"/>
              <a:t>The chunksize is a positive integer.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Static Schedule Type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650" y="981075"/>
            <a:ext cx="7704138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twelve iterations, 0, 1, . . . , 11, and three threads</a:t>
            </a:r>
          </a:p>
        </p:txBody>
      </p:sp>
      <p:pic>
        <p:nvPicPr>
          <p:cNvPr id="645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1773238"/>
            <a:ext cx="32480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3700" y="2614613"/>
            <a:ext cx="32766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Static Schedule Type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650" y="981075"/>
            <a:ext cx="7704138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twelve iterations, 0, 1, . . . , 11, and three threads</a:t>
            </a:r>
          </a:p>
        </p:txBody>
      </p:sp>
      <p:pic>
        <p:nvPicPr>
          <p:cNvPr id="6554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1773238"/>
            <a:ext cx="32575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4650" y="2590800"/>
            <a:ext cx="33147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Static Schedule Type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650" y="981075"/>
            <a:ext cx="7704138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twelve iterations, 0, 1, . . . , 11, and three threads</a:t>
            </a:r>
          </a:p>
        </p:txBody>
      </p:sp>
      <p:pic>
        <p:nvPicPr>
          <p:cNvPr id="6656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1773238"/>
            <a:ext cx="32289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1313" y="2657475"/>
            <a:ext cx="338137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>
          <a:xfrm>
            <a:off x="539750" y="0"/>
            <a:ext cx="8281988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Dynamic Schedule Type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684213" y="1052513"/>
            <a:ext cx="8270875" cy="5184775"/>
          </a:xfrm>
        </p:spPr>
        <p:txBody>
          <a:bodyPr/>
          <a:lstStyle/>
          <a:p>
            <a:r>
              <a:rPr lang="en-US" sz="3000" smtClean="0"/>
              <a:t>The iterations are also broken up into chunks of </a:t>
            </a:r>
            <a:r>
              <a:rPr lang="en-US" sz="3000" smtClean="0">
                <a:solidFill>
                  <a:srgbClr val="C00000"/>
                </a:solidFill>
              </a:rPr>
              <a:t>chunksize</a:t>
            </a:r>
            <a:r>
              <a:rPr lang="en-US" sz="3000" smtClean="0"/>
              <a:t> consecutive iterations. </a:t>
            </a:r>
          </a:p>
          <a:p>
            <a:r>
              <a:rPr lang="en-US" sz="3000" smtClean="0"/>
              <a:t>Each thread executes a chunk, and when a thread finishes a chunk, it requests another one from the run-time system. </a:t>
            </a:r>
          </a:p>
          <a:p>
            <a:r>
              <a:rPr lang="en-US" sz="3000" smtClean="0"/>
              <a:t>This continues until all the iterations are completed. </a:t>
            </a:r>
          </a:p>
          <a:p>
            <a:r>
              <a:rPr lang="en-US" sz="3000" smtClean="0"/>
              <a:t>The </a:t>
            </a:r>
            <a:r>
              <a:rPr lang="en-US" sz="3000" smtClean="0">
                <a:solidFill>
                  <a:srgbClr val="C00000"/>
                </a:solidFill>
              </a:rPr>
              <a:t>chunksize</a:t>
            </a:r>
            <a:r>
              <a:rPr lang="en-US" sz="3000" smtClean="0"/>
              <a:t> can be omitted. When it is omitted, a </a:t>
            </a:r>
            <a:r>
              <a:rPr lang="en-US" sz="3000" smtClean="0">
                <a:solidFill>
                  <a:srgbClr val="C00000"/>
                </a:solidFill>
              </a:rPr>
              <a:t>chunksize</a:t>
            </a:r>
            <a:r>
              <a:rPr lang="en-US" sz="3000" smtClean="0"/>
              <a:t> of 1 is used.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Guided Schedule Type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Each thread also executes a chunk, and when a thread finishes a chunk, it requests another one. </a:t>
            </a:r>
          </a:p>
          <a:p>
            <a:r>
              <a:rPr lang="en-US" sz="2800" smtClean="0"/>
              <a:t>However, in a guided schedule, as chunks are completed the size of the new chunks decreases.</a:t>
            </a:r>
          </a:p>
          <a:p>
            <a:r>
              <a:rPr lang="en-US" sz="2800" smtClean="0"/>
              <a:t>If no </a:t>
            </a:r>
            <a:r>
              <a:rPr lang="en-US" sz="2800" smtClean="0">
                <a:solidFill>
                  <a:srgbClr val="C00000"/>
                </a:solidFill>
              </a:rPr>
              <a:t>chunksize</a:t>
            </a:r>
            <a:r>
              <a:rPr lang="en-US" sz="2800" smtClean="0"/>
              <a:t> is specified, the size of the chunks decreases down to 1. </a:t>
            </a:r>
          </a:p>
          <a:p>
            <a:r>
              <a:rPr lang="en-US" sz="2800" smtClean="0"/>
              <a:t>If </a:t>
            </a:r>
            <a:r>
              <a:rPr lang="en-US" sz="2800" smtClean="0">
                <a:solidFill>
                  <a:srgbClr val="C00000"/>
                </a:solidFill>
              </a:rPr>
              <a:t>chunksize</a:t>
            </a:r>
            <a:r>
              <a:rPr lang="en-US" sz="2800" smtClean="0"/>
              <a:t> is specified, it decreases down to </a:t>
            </a:r>
            <a:r>
              <a:rPr lang="en-US" sz="2800" smtClean="0">
                <a:solidFill>
                  <a:srgbClr val="C00000"/>
                </a:solidFill>
              </a:rPr>
              <a:t>chunksize</a:t>
            </a:r>
            <a:r>
              <a:rPr lang="en-US" sz="2800" smtClean="0"/>
              <a:t>, with the exception that the very last chunk can be smaller than </a:t>
            </a:r>
            <a:r>
              <a:rPr lang="en-US" sz="2800" smtClean="0">
                <a:solidFill>
                  <a:srgbClr val="C00000"/>
                </a:solidFill>
              </a:rPr>
              <a:t>chunksize</a:t>
            </a:r>
            <a:r>
              <a:rPr lang="en-US" sz="280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750" y="5229225"/>
            <a:ext cx="77041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Assignment of trapezoidal rule iterations 1–9999 using a guided schedule with two threads.</a:t>
            </a:r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488" y="876300"/>
            <a:ext cx="5821362" cy="428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Runtime Schedule Type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system uses the environment variable </a:t>
            </a:r>
            <a:r>
              <a:rPr lang="en-US" smtClean="0">
                <a:solidFill>
                  <a:srgbClr val="0066FF"/>
                </a:solidFill>
              </a:rPr>
              <a:t>OMP_SCHEDULE </a:t>
            </a:r>
            <a:r>
              <a:rPr lang="en-US" smtClean="0"/>
              <a:t>to determine at run-time how to schedule the loop. </a:t>
            </a:r>
          </a:p>
          <a:p>
            <a:r>
              <a:rPr lang="en-US" smtClean="0"/>
              <a:t>The </a:t>
            </a:r>
            <a:r>
              <a:rPr lang="en-US" smtClean="0">
                <a:solidFill>
                  <a:srgbClr val="0066FF"/>
                </a:solidFill>
              </a:rPr>
              <a:t>OMP_SCHEDULE</a:t>
            </a:r>
            <a:r>
              <a:rPr lang="en-US" smtClean="0"/>
              <a:t> environment variable can take on any of the values that can be used for a static, dynamic, or guided schedule.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239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Producers and Consumers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1684" name="Picture 2" descr="business,people,retail shops,shoppers,shopping,carts,supermarkets,commercial,supermarke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1268413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Queues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Can be viewed as an abstraction of a line of customers waiting to pay for their groceries in a supermarket.</a:t>
            </a:r>
          </a:p>
          <a:p>
            <a:r>
              <a:rPr lang="en-US" sz="2800" smtClean="0"/>
              <a:t>A natural data structure to use in many multithreaded applications. </a:t>
            </a:r>
          </a:p>
          <a:p>
            <a:r>
              <a:rPr lang="en-US" sz="2800" smtClean="0"/>
              <a:t>For example, suppose we have several “producer” threads and several “consumer” threads.</a:t>
            </a:r>
          </a:p>
          <a:p>
            <a:pPr lvl="1"/>
            <a:r>
              <a:rPr lang="en-US" sz="2400" smtClean="0"/>
              <a:t>Producer threads might “produce” requests for data.</a:t>
            </a:r>
          </a:p>
          <a:p>
            <a:pPr lvl="1"/>
            <a:r>
              <a:rPr lang="en-US" sz="2400" smtClean="0"/>
              <a:t>Consumer threads might “consume” the request by finding or generating the requested data.</a:t>
            </a:r>
          </a:p>
          <a:p>
            <a:pPr lvl="1"/>
            <a:endParaRPr lang="en-US" sz="2400" smtClean="0"/>
          </a:p>
          <a:p>
            <a:endParaRPr lang="en-US" sz="2800" smtClean="0"/>
          </a:p>
          <a:p>
            <a:endParaRPr lang="en-US" sz="28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Message-Passing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Each thread could have a shared message queue, and when one thread wants to “send a message” to another thread, it could enqueue the message in the destination thread’s queue. </a:t>
            </a:r>
          </a:p>
          <a:p>
            <a:r>
              <a:rPr lang="en-US" smtClean="0"/>
              <a:t>A thread could receive a message by dequeuing the message at the head of its message queue.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Message-Passing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475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412875"/>
            <a:ext cx="822801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Sending Messages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57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628775"/>
            <a:ext cx="7818437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Receiving Messages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680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1557338"/>
            <a:ext cx="6827838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Termination Detection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782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1628775"/>
            <a:ext cx="7123112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492500" y="3644900"/>
            <a:ext cx="4572000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each thread increments this after completing its for loop</a:t>
            </a:r>
          </a:p>
        </p:txBody>
      </p:sp>
      <p:sp>
        <p:nvSpPr>
          <p:cNvPr id="77830" name="Freeform 6"/>
          <p:cNvSpPr>
            <a:spLocks noChangeArrowheads="1"/>
          </p:cNvSpPr>
          <p:nvPr/>
        </p:nvSpPr>
        <p:spPr bwMode="auto">
          <a:xfrm>
            <a:off x="4090988" y="2308225"/>
            <a:ext cx="1182687" cy="1276350"/>
          </a:xfrm>
          <a:custGeom>
            <a:avLst/>
            <a:gdLst>
              <a:gd name="T0" fmla="*/ 553855 w 1182915"/>
              <a:gd name="T1" fmla="*/ 0 h 1277258"/>
              <a:gd name="T2" fmla="*/ 89488 w 1182915"/>
              <a:gd name="T3" fmla="*/ 609167 h 1277258"/>
              <a:gd name="T4" fmla="*/ 1090781 w 1182915"/>
              <a:gd name="T5" fmla="*/ 522143 h 1277258"/>
              <a:gd name="T6" fmla="*/ 640924 w 1182915"/>
              <a:gd name="T7" fmla="*/ 1276350 h 1277258"/>
              <a:gd name="T8" fmla="*/ 0 60000 65536"/>
              <a:gd name="T9" fmla="*/ 0 60000 65536"/>
              <a:gd name="T10" fmla="*/ 0 60000 65536"/>
              <a:gd name="T11" fmla="*/ 0 60000 65536"/>
              <a:gd name="T12" fmla="*/ 0 w 1182915"/>
              <a:gd name="T13" fmla="*/ 0 h 1277258"/>
              <a:gd name="T14" fmla="*/ 1182915 w 1182915"/>
              <a:gd name="T15" fmla="*/ 1277258 h 12772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82915" h="1277258">
                <a:moveTo>
                  <a:pt x="553962" y="0"/>
                </a:moveTo>
                <a:cubicBezTo>
                  <a:pt x="276981" y="261257"/>
                  <a:pt x="0" y="522514"/>
                  <a:pt x="89505" y="609600"/>
                </a:cubicBezTo>
                <a:cubicBezTo>
                  <a:pt x="179010" y="696686"/>
                  <a:pt x="999067" y="411239"/>
                  <a:pt x="1090991" y="522515"/>
                </a:cubicBezTo>
                <a:cubicBezTo>
                  <a:pt x="1182915" y="633791"/>
                  <a:pt x="911981" y="955524"/>
                  <a:pt x="641048" y="1277258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Startup (1)</a:t>
            </a:r>
          </a:p>
        </p:txBody>
      </p:sp>
      <p:sp>
        <p:nvSpPr>
          <p:cNvPr id="7885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When the program begins execution, a single thread, the master thread, will get command line arguments and allocate an array of message queues: one for each thread. </a:t>
            </a:r>
          </a:p>
          <a:p>
            <a:r>
              <a:rPr lang="en-US" smtClean="0"/>
              <a:t>This array needs to be shared among the threads, since any thread can send to any other thread, and hence any thread can enqueue a message in any of the queues.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Startup (2)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One or more threads may finish allocating their queues before some other threads.</a:t>
            </a:r>
          </a:p>
          <a:p>
            <a:r>
              <a:rPr lang="en-US" smtClean="0"/>
              <a:t>We need an explicit barrier so that when a thread encounters the barrier, it blocks until all the threads in the team have reached the barrier.</a:t>
            </a:r>
          </a:p>
          <a:p>
            <a:r>
              <a:rPr lang="en-US" smtClean="0"/>
              <a:t>After all the threads have reached the barrier all the threads in the team can proceed.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798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5733256"/>
            <a:ext cx="4048125" cy="6762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The Atomic Directive (1)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Unlike the critical directive, it can only protect critical sections that consist of a single C assignment statement.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Further, the statement must have one of the following forms: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090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050" y="2636838"/>
            <a:ext cx="39528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4075" y="4292600"/>
            <a:ext cx="374332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Atomic Directive (2)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000" smtClean="0"/>
              <a:t>Here &lt;op&gt; can be one of the binary operators</a:t>
            </a:r>
            <a:br>
              <a:rPr lang="en-US" sz="3000" smtClean="0"/>
            </a:br>
            <a:r>
              <a:rPr lang="en-US" sz="3000" smtClean="0"/>
              <a:t/>
            </a:r>
            <a:br>
              <a:rPr lang="en-US" sz="3000" smtClean="0"/>
            </a:br>
            <a:endParaRPr lang="en-US" sz="3000" smtClean="0"/>
          </a:p>
          <a:p>
            <a:pPr fontAlgn="auto">
              <a:spcAft>
                <a:spcPts val="0"/>
              </a:spcAft>
              <a:defRPr/>
            </a:pPr>
            <a:r>
              <a:rPr lang="en-US" sz="3000" smtClean="0"/>
              <a:t>Many processors provide a special load-modify-store instruction.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3000" smtClean="0"/>
              <a:t>A critical section that only does a load-modify-store can be protected much more efficiently by using this special instruction rather than the constructs that are used to protect more general critical sections.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192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913" y="2349500"/>
            <a:ext cx="59340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Critical Sections</a:t>
            </a:r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>
          <a:xfrm>
            <a:off x="684213" y="1052513"/>
            <a:ext cx="8270875" cy="511175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OpenMP provides the option of adding a name to a critical directive: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When we do this, two blocks protected with critical directives with different names can be executed simultaneously.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mtClean="0"/>
              <a:t>However, the names are set during compilation, and we want a different critical section for each thread’s queue.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294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813" y="2276475"/>
            <a:ext cx="54673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Locks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lock consists of a data structure and functions that allow the programmer to explicitly enforce mutual exclusion in a critical section.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3973" name="Picture 2" descr="combination locks,households,locks,padlocks,securiti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68638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Locks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49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341438"/>
            <a:ext cx="8220075" cy="380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Using Locks in the Message-Passing Program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700213"/>
            <a:ext cx="62198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413" y="3573463"/>
            <a:ext cx="57054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6022" name="Straight Connector 6"/>
          <p:cNvCxnSpPr>
            <a:cxnSpLocks noChangeShapeType="1"/>
          </p:cNvCxnSpPr>
          <p:nvPr/>
        </p:nvCxnSpPr>
        <p:spPr bwMode="auto">
          <a:xfrm rot="10800000" flipV="1">
            <a:off x="539750" y="1628775"/>
            <a:ext cx="5545138" cy="1512888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Using Locks in the Message-Passing Program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773238"/>
            <a:ext cx="6751637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7045" name="Straight Connector 4"/>
          <p:cNvCxnSpPr>
            <a:cxnSpLocks noChangeShapeType="1"/>
          </p:cNvCxnSpPr>
          <p:nvPr/>
        </p:nvCxnSpPr>
        <p:spPr bwMode="auto">
          <a:xfrm rot="10800000" flipV="1">
            <a:off x="539750" y="1628775"/>
            <a:ext cx="5545138" cy="1512888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</p:spPr>
      </p:cxnSp>
      <p:pic>
        <p:nvPicPr>
          <p:cNvPr id="8704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4438" y="3573463"/>
            <a:ext cx="62388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Some Caveats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smtClean="0"/>
              <a:t>You shouldn’t mix the different types of mutual exclusion for a single critical section.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mtClean="0"/>
              <a:t>There is no guarantee of fairness in mutual exclusion constructs.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mtClean="0"/>
              <a:t>It can be dangerous to “nest” mutual exclusion constructs.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4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Matrix-vector multiplication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8909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628775"/>
            <a:ext cx="8513763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313" y="1196975"/>
            <a:ext cx="38004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1050" y="4365625"/>
            <a:ext cx="39814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Matrix-vector multiplication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01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1484313"/>
            <a:ext cx="8085138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313" y="3716338"/>
            <a:ext cx="6637337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435600" y="2636838"/>
            <a:ext cx="3236913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+mn-lt"/>
              </a:rPr>
              <a:t>Run-times and efficiencies </a:t>
            </a:r>
            <a:br>
              <a:rPr lang="en-US" sz="1800" dirty="0">
                <a:solidFill>
                  <a:srgbClr val="C00000"/>
                </a:solidFill>
                <a:latin typeface="+mn-lt"/>
              </a:rPr>
            </a:br>
            <a:r>
              <a:rPr lang="en-US" sz="1800" dirty="0">
                <a:solidFill>
                  <a:srgbClr val="C00000"/>
                </a:solidFill>
                <a:latin typeface="+mn-lt"/>
              </a:rPr>
              <a:t>of matrix-vector multiplication </a:t>
            </a:r>
            <a:br>
              <a:rPr lang="en-US" sz="1800" dirty="0">
                <a:solidFill>
                  <a:srgbClr val="C00000"/>
                </a:solidFill>
                <a:latin typeface="+mn-lt"/>
              </a:rPr>
            </a:br>
            <a:r>
              <a:rPr lang="en-US" sz="1800" dirty="0">
                <a:solidFill>
                  <a:srgbClr val="C00000"/>
                </a:solidFill>
                <a:latin typeface="+mn-lt"/>
              </a:rPr>
              <a:t>(times are in seconds)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11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213" y="260350"/>
            <a:ext cx="7937500" cy="600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5508625" y="260350"/>
            <a:ext cx="334486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rgbClr val="0066FF"/>
                </a:solidFill>
              </a:rPr>
              <a:t>Thread-Safety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Concluding Remarks (1)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OpenMP</a:t>
            </a:r>
            <a:r>
              <a:rPr lang="en-US" dirty="0" smtClean="0"/>
              <a:t> is a standard for programming shared-memory systems.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uses both special functions and preprocessor directives called </a:t>
            </a:r>
            <a:r>
              <a:rPr lang="en-US" dirty="0" err="1" smtClean="0"/>
              <a:t>pragmas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programs start multiple threads rather than multiple processes.</a:t>
            </a:r>
          </a:p>
          <a:p>
            <a:r>
              <a:rPr lang="en-US" dirty="0" smtClean="0"/>
              <a:t>Many </a:t>
            </a:r>
            <a:r>
              <a:rPr lang="en-US" dirty="0" err="1" smtClean="0"/>
              <a:t>OpenMP</a:t>
            </a:r>
            <a:r>
              <a:rPr lang="en-US" dirty="0" smtClean="0"/>
              <a:t> directives can be modified by clauses.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Concluding Remarks (2)</a:t>
            </a:r>
          </a:p>
        </p:txBody>
      </p:sp>
      <p:sp>
        <p:nvSpPr>
          <p:cNvPr id="113666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 major problem in the development of shared memory programs is the possibility of race conditions.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 smtClean="0"/>
              <a:t>OpenMP</a:t>
            </a:r>
            <a:r>
              <a:rPr lang="en-US" dirty="0" smtClean="0"/>
              <a:t> provides several mechanisms for insuring mutual exclusion in critical sections.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Critical directives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Named critical directives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Atomic directives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Simple locks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Concluding Remarks (3)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default most systems use a block-partitioning of the iterations in a parallelized for loop.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offers a variety of scheduling options.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OpenMP</a:t>
            </a:r>
            <a:r>
              <a:rPr lang="en-US" dirty="0" smtClean="0"/>
              <a:t> the scope of a variable is the collection of threads to which the variable is accessible.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Concluding Remarks (4)</a:t>
            </a:r>
          </a:p>
        </p:txBody>
      </p:sp>
      <p:sp>
        <p:nvSpPr>
          <p:cNvPr id="952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reduction is a computation that repeatedly applies the same reduction operator to a sequence of operands in order to get a single result.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14098</TotalTime>
  <Words>3321</Words>
  <Application>Microsoft Office PowerPoint</Application>
  <PresentationFormat>On-screen Show (4:3)</PresentationFormat>
  <Paragraphs>397</Paragraphs>
  <Slides>92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3" baseType="lpstr">
      <vt:lpstr>Office Theme</vt:lpstr>
      <vt:lpstr>Slide 1</vt:lpstr>
      <vt:lpstr>Roadmap</vt:lpstr>
      <vt:lpstr>OpenMP</vt:lpstr>
      <vt:lpstr>A shared memory system</vt:lpstr>
      <vt:lpstr>Pragmas</vt:lpstr>
      <vt:lpstr>Slide 6</vt:lpstr>
      <vt:lpstr>Slide 7</vt:lpstr>
      <vt:lpstr>OpenMp pragmas</vt:lpstr>
      <vt:lpstr>A process forking and joining two threads</vt:lpstr>
      <vt:lpstr>clause</vt:lpstr>
      <vt:lpstr>Of note…</vt:lpstr>
      <vt:lpstr>Some terminology</vt:lpstr>
      <vt:lpstr>In case the compiler doesn’t support OpenMP</vt:lpstr>
      <vt:lpstr>In case the compiler doesn’t support OpenMP</vt:lpstr>
      <vt:lpstr>The Trapezoidal Rule</vt:lpstr>
      <vt:lpstr>The trapezoidal rule</vt:lpstr>
      <vt:lpstr>Serial algorithm</vt:lpstr>
      <vt:lpstr>A First OpenMP Version</vt:lpstr>
      <vt:lpstr>A First OpenMP Version</vt:lpstr>
      <vt:lpstr>Assignment of trapezoids to threads</vt:lpstr>
      <vt:lpstr>Slide 21</vt:lpstr>
      <vt:lpstr>Mutual exclusion</vt:lpstr>
      <vt:lpstr>Slide 23</vt:lpstr>
      <vt:lpstr>Slide 24</vt:lpstr>
      <vt:lpstr>Scope of Variables</vt:lpstr>
      <vt:lpstr>Scope</vt:lpstr>
      <vt:lpstr>Scope in OpenMP</vt:lpstr>
      <vt:lpstr>The Reduction Clause</vt:lpstr>
      <vt:lpstr>Slide 29</vt:lpstr>
      <vt:lpstr>Slide 30</vt:lpstr>
      <vt:lpstr>Slide 31</vt:lpstr>
      <vt:lpstr>Slide 32</vt:lpstr>
      <vt:lpstr>Reduction operators</vt:lpstr>
      <vt:lpstr>Slide 34</vt:lpstr>
      <vt:lpstr>The “Parallel For” Directive</vt:lpstr>
      <vt:lpstr>Parallel for</vt:lpstr>
      <vt:lpstr>Slide 37</vt:lpstr>
      <vt:lpstr>Legal forms for parallelizable for statements</vt:lpstr>
      <vt:lpstr>Caveats</vt:lpstr>
      <vt:lpstr>Caveats</vt:lpstr>
      <vt:lpstr>Data dependencies</vt:lpstr>
      <vt:lpstr>What happened?</vt:lpstr>
      <vt:lpstr>Estimating π</vt:lpstr>
      <vt:lpstr>OpenMP solution #1</vt:lpstr>
      <vt:lpstr>OpenMP solution #2</vt:lpstr>
      <vt:lpstr>The default clause</vt:lpstr>
      <vt:lpstr>The default clause</vt:lpstr>
      <vt:lpstr>More About Loops in OpenMP: Sorting</vt:lpstr>
      <vt:lpstr>Bubble Sort</vt:lpstr>
      <vt:lpstr>Serial Odd-Even Transposition Sort</vt:lpstr>
      <vt:lpstr>Serial Odd-Even Transposition Sort</vt:lpstr>
      <vt:lpstr>First OpenMP Odd-Even Sort</vt:lpstr>
      <vt:lpstr>Second OpenMP Odd-Even Sort</vt:lpstr>
      <vt:lpstr>Slide 54</vt:lpstr>
      <vt:lpstr>Scheduling Loops</vt:lpstr>
      <vt:lpstr>Slide 56</vt:lpstr>
      <vt:lpstr>Slide 57</vt:lpstr>
      <vt:lpstr>Results</vt:lpstr>
      <vt:lpstr>Results</vt:lpstr>
      <vt:lpstr>The Schedule Clause</vt:lpstr>
      <vt:lpstr>schedule ( type , chunksize )</vt:lpstr>
      <vt:lpstr>The Static Schedule Type</vt:lpstr>
      <vt:lpstr>The Static Schedule Type</vt:lpstr>
      <vt:lpstr>The Static Schedule Type</vt:lpstr>
      <vt:lpstr>The Dynamic Schedule Type</vt:lpstr>
      <vt:lpstr>The Guided Schedule Type</vt:lpstr>
      <vt:lpstr>Slide 67</vt:lpstr>
      <vt:lpstr>The Runtime Schedule Type</vt:lpstr>
      <vt:lpstr>Producers and Consumers</vt:lpstr>
      <vt:lpstr>Queues</vt:lpstr>
      <vt:lpstr>Message-Passing</vt:lpstr>
      <vt:lpstr>Message-Passing</vt:lpstr>
      <vt:lpstr>Sending Messages</vt:lpstr>
      <vt:lpstr>Receiving Messages</vt:lpstr>
      <vt:lpstr>Termination Detection</vt:lpstr>
      <vt:lpstr>Startup (1)</vt:lpstr>
      <vt:lpstr>Startup (2)</vt:lpstr>
      <vt:lpstr>The Atomic Directive (1)</vt:lpstr>
      <vt:lpstr>The Atomic Directive (2)</vt:lpstr>
      <vt:lpstr>Critical Sections</vt:lpstr>
      <vt:lpstr>Locks</vt:lpstr>
      <vt:lpstr>Locks</vt:lpstr>
      <vt:lpstr>Using Locks in the Message-Passing Program</vt:lpstr>
      <vt:lpstr>Using Locks in the Message-Passing Program</vt:lpstr>
      <vt:lpstr>Some Caveats</vt:lpstr>
      <vt:lpstr>Matrix-vector multiplication</vt:lpstr>
      <vt:lpstr>Matrix-vector multiplication</vt:lpstr>
      <vt:lpstr>Slide 88</vt:lpstr>
      <vt:lpstr>Concluding Remarks (1)</vt:lpstr>
      <vt:lpstr>Concluding Remarks (2)</vt:lpstr>
      <vt:lpstr>Concluding Remarks (3)</vt:lpstr>
      <vt:lpstr>Concluding Remarks (4)</vt:lpstr>
    </vt:vector>
  </TitlesOfParts>
  <Company>Ashenden Designs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Kathy J. Liszka</dc:creator>
  <cp:lastModifiedBy>Admin</cp:lastModifiedBy>
  <cp:revision>224</cp:revision>
  <dcterms:created xsi:type="dcterms:W3CDTF">2008-07-27T22:34:41Z</dcterms:created>
  <dcterms:modified xsi:type="dcterms:W3CDTF">2025-08-19T04:00:36Z</dcterms:modified>
</cp:coreProperties>
</file>