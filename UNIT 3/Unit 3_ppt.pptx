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</p:sldIdLst>
  <p:sldSz cy="6858000" cx="12192000"/>
  <p:notesSz cx="6858000" cy="9144000"/>
  <p:embeddedFontLst>
    <p:embeddedFont>
      <p:font typeface="Arial Black"/>
      <p:regular r:id="rId1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1" roundtripDataSignature="AMtx7mgi4ePGwTfn2OfOCXKCUV9ghSEo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26" Type="http://schemas.openxmlformats.org/officeDocument/2006/relationships/slide" Target="slides/slide22.xml"/><Relationship Id="rId121" Type="http://schemas.openxmlformats.org/officeDocument/2006/relationships/slide" Target="slides/slide117.xml"/><Relationship Id="rId25" Type="http://schemas.openxmlformats.org/officeDocument/2006/relationships/slide" Target="slides/slide21.xml"/><Relationship Id="rId120" Type="http://schemas.openxmlformats.org/officeDocument/2006/relationships/slide" Target="slides/slide116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125" Type="http://schemas.openxmlformats.org/officeDocument/2006/relationships/slide" Target="slides/slide121.xml"/><Relationship Id="rId29" Type="http://schemas.openxmlformats.org/officeDocument/2006/relationships/slide" Target="slides/slide25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9" Type="http://schemas.openxmlformats.org/officeDocument/2006/relationships/slide" Target="slides/slide115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slide" Target="slides/slide110.xml"/><Relationship Id="rId18" Type="http://schemas.openxmlformats.org/officeDocument/2006/relationships/slide" Target="slides/slide14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131" Type="http://customschemas.google.com/relationships/presentationmetadata" Target="metadata"/><Relationship Id="rId130" Type="http://schemas.openxmlformats.org/officeDocument/2006/relationships/font" Target="fonts/ArialBlack-regular.fntdata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/>
          </a:p>
        </p:txBody>
      </p:sp>
      <p:sp>
        <p:nvSpPr>
          <p:cNvPr id="118" name="Google Shape;118;p3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 June 2024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3:notes"/>
          <p:cNvSpPr/>
          <p:nvPr>
            <p:ph idx="3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8"/>
          <p:cNvSpPr/>
          <p:nvPr/>
        </p:nvSpPr>
        <p:spPr>
          <a:xfrm>
            <a:off x="0" y="1"/>
            <a:ext cx="12192000" cy="765175"/>
          </a:xfrm>
          <a:prstGeom prst="rect">
            <a:avLst/>
          </a:prstGeom>
          <a:solidFill>
            <a:srgbClr val="767D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8"/>
          <p:cNvSpPr/>
          <p:nvPr/>
        </p:nvSpPr>
        <p:spPr>
          <a:xfrm>
            <a:off x="0" y="765176"/>
            <a:ext cx="12192000" cy="174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MK_logo2" id="89" name="Google Shape;89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3934" y="50801"/>
            <a:ext cx="16383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8"/>
          <p:cNvSpPr/>
          <p:nvPr/>
        </p:nvSpPr>
        <p:spPr>
          <a:xfrm>
            <a:off x="2929467" y="765176"/>
            <a:ext cx="61384" cy="5732463"/>
          </a:xfrm>
          <a:prstGeom prst="rect">
            <a:avLst/>
          </a:prstGeom>
          <a:gradFill>
            <a:gsLst>
              <a:gs pos="0">
                <a:srgbClr val="808080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1" name="Google Shape;91;p138"/>
          <p:cNvSpPr/>
          <p:nvPr/>
        </p:nvSpPr>
        <p:spPr>
          <a:xfrm>
            <a:off x="3412067" y="1195388"/>
            <a:ext cx="61384" cy="3816350"/>
          </a:xfrm>
          <a:prstGeom prst="rect">
            <a:avLst/>
          </a:prstGeom>
          <a:gradFill>
            <a:gsLst>
              <a:gs pos="0">
                <a:srgbClr val="767D79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" name="Google Shape;92;p138"/>
          <p:cNvSpPr/>
          <p:nvPr/>
        </p:nvSpPr>
        <p:spPr>
          <a:xfrm>
            <a:off x="3122084" y="1916114"/>
            <a:ext cx="8830733" cy="46037"/>
          </a:xfrm>
          <a:prstGeom prst="rect">
            <a:avLst/>
          </a:prstGeom>
          <a:gradFill>
            <a:gsLst>
              <a:gs pos="0">
                <a:srgbClr val="5F5F5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" name="Google Shape;93;p138"/>
          <p:cNvSpPr/>
          <p:nvPr/>
        </p:nvSpPr>
        <p:spPr>
          <a:xfrm>
            <a:off x="0" y="6308726"/>
            <a:ext cx="12192000" cy="549275"/>
          </a:xfrm>
          <a:prstGeom prst="rect">
            <a:avLst/>
          </a:prstGeom>
          <a:solidFill>
            <a:srgbClr val="767D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" name="Google Shape;94;p138"/>
          <p:cNvSpPr/>
          <p:nvPr/>
        </p:nvSpPr>
        <p:spPr>
          <a:xfrm>
            <a:off x="0" y="6308726"/>
            <a:ext cx="12192000" cy="174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MK_logo2" id="95" name="Google Shape;95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9184" y="6381751"/>
            <a:ext cx="1056216" cy="460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8"/>
          <p:cNvSpPr txBox="1"/>
          <p:nvPr/>
        </p:nvSpPr>
        <p:spPr>
          <a:xfrm>
            <a:off x="11184467" y="6497639"/>
            <a:ext cx="768351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9780123742605.jpg" id="97" name="Google Shape;97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260" y="1152509"/>
            <a:ext cx="2471369" cy="2286016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98" name="Google Shape;98;p1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82200" y="0"/>
            <a:ext cx="22002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525" y="6465153"/>
            <a:ext cx="12192000" cy="38032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46.png"/><Relationship Id="rId5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Relationship Id="rId4" Type="http://schemas.openxmlformats.org/officeDocument/2006/relationships/image" Target="../media/image6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53.png"/><Relationship Id="rId5" Type="http://schemas.openxmlformats.org/officeDocument/2006/relationships/image" Target="../media/image21.png"/><Relationship Id="rId6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Relationship Id="rId4" Type="http://schemas.openxmlformats.org/officeDocument/2006/relationships/image" Target="../media/image5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2.png"/><Relationship Id="rId4" Type="http://schemas.openxmlformats.org/officeDocument/2006/relationships/image" Target="../media/image8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Relationship Id="rId5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9.png"/><Relationship Id="rId4" Type="http://schemas.openxmlformats.org/officeDocument/2006/relationships/image" Target="../media/image99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6.png"/><Relationship Id="rId4" Type="http://schemas.openxmlformats.org/officeDocument/2006/relationships/image" Target="../media/image50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9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7.png"/><Relationship Id="rId4" Type="http://schemas.openxmlformats.org/officeDocument/2006/relationships/image" Target="../media/image87.png"/><Relationship Id="rId5" Type="http://schemas.openxmlformats.org/officeDocument/2006/relationships/image" Target="../media/image66.png"/><Relationship Id="rId6" Type="http://schemas.openxmlformats.org/officeDocument/2006/relationships/image" Target="../media/image84.png"/><Relationship Id="rId7" Type="http://schemas.openxmlformats.org/officeDocument/2006/relationships/image" Target="../media/image6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2.png"/><Relationship Id="rId4" Type="http://schemas.openxmlformats.org/officeDocument/2006/relationships/image" Target="../media/image10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1.png"/><Relationship Id="rId4" Type="http://schemas.openxmlformats.org/officeDocument/2006/relationships/image" Target="../media/image7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96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88.png"/><Relationship Id="rId4" Type="http://schemas.openxmlformats.org/officeDocument/2006/relationships/image" Target="../media/image95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6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8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9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07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1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9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92.png"/><Relationship Id="rId4" Type="http://schemas.openxmlformats.org/officeDocument/2006/relationships/image" Target="../media/image105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97.png"/><Relationship Id="rId4" Type="http://schemas.openxmlformats.org/officeDocument/2006/relationships/image" Target="../media/image103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94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90.png"/><Relationship Id="rId4" Type="http://schemas.openxmlformats.org/officeDocument/2006/relationships/image" Target="../media/image91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4.png"/><Relationship Id="rId4" Type="http://schemas.openxmlformats.org/officeDocument/2006/relationships/image" Target="../media/image12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9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00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01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19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14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25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18.png"/><Relationship Id="rId4" Type="http://schemas.openxmlformats.org/officeDocument/2006/relationships/image" Target="../media/image133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04.png"/><Relationship Id="rId4" Type="http://schemas.openxmlformats.org/officeDocument/2006/relationships/image" Target="../media/image126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09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15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20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27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34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13.png"/><Relationship Id="rId4" Type="http://schemas.openxmlformats.org/officeDocument/2006/relationships/image" Target="../media/image130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23.png"/><Relationship Id="rId4" Type="http://schemas.openxmlformats.org/officeDocument/2006/relationships/image" Target="../media/image117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16.png"/><Relationship Id="rId4" Type="http://schemas.openxmlformats.org/officeDocument/2006/relationships/image" Target="../media/image122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31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28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32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5" name="Google Shape;105;p1"/>
          <p:cNvPicPr preferRelativeResize="0"/>
          <p:nvPr/>
        </p:nvPicPr>
        <p:blipFill rotWithShape="1">
          <a:blip r:embed="rId3">
            <a:alphaModFix/>
          </a:blip>
          <a:srcRect b="2862" l="0" r="0" t="0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22302" y="1295400"/>
            <a:ext cx="12169698" cy="29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21BTCS030 - High Performance Computing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– L.Y (SEM-II), &lt;Core, AIEC&gt;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– II Parallel Programming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-1" y="0"/>
            <a:ext cx="10910171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 Art Design and Technology University</a:t>
            </a:r>
            <a:br>
              <a:rPr b="1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 School of Computing, Pune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713503" y="5600700"/>
            <a:ext cx="8784921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 202</a:t>
            </a:r>
            <a:r>
              <a:rPr lang="en-US" sz="310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3100" u="none" cap="none" strike="noStrike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-202</a:t>
            </a:r>
            <a:r>
              <a:rPr lang="en-US" sz="310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0" lang="en-US" sz="3100" u="none" cap="none" strike="noStrike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SEM-I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524000" y="4472575"/>
            <a:ext cx="8974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Rashmi S Nair ,Dr. Sharon Christa, Prof. Tushar Mane, Prof. Abhijeet Dinkar Cholke, Prof. Dr. Ram Kumar Kanhi Singh Solanki</a:t>
            </a:r>
            <a:endParaRPr sz="3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404668" y="1337110"/>
            <a:ext cx="11725405" cy="4963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– II Parallel Programming                                                           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09 hours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Principles of Parallel Algorithm Design: Preliminaries, Decomposition Techniques, Characteristics of Tasks and Interactions, Mapping Techniques for Load Balancing, Methods for Containing Interaction Overheads, Parallel Algorithm Models, The Age of Parallel Processing, the Rise of GPU Computing, A Brief History of GPUs, Early GPU.</a:t>
            </a:r>
            <a:endParaRPr/>
          </a:p>
        </p:txBody>
      </p:sp>
      <p:sp>
        <p:nvSpPr>
          <p:cNvPr id="115" name="Google Shape;115;p2"/>
          <p:cNvSpPr txBox="1"/>
          <p:nvPr>
            <p:ph type="title"/>
          </p:nvPr>
        </p:nvSpPr>
        <p:spPr>
          <a:xfrm>
            <a:off x="904482" y="115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II - Syllabus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sp>
        <p:nvSpPr>
          <p:cNvPr id="125" name="Google Shape;12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Roadmap</a:t>
            </a:r>
            <a:endParaRPr/>
          </a:p>
        </p:txBody>
      </p:sp>
      <p:sp>
        <p:nvSpPr>
          <p:cNvPr id="126" name="Google Shape;12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Writing your first MPI program.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Using the common MPI functions.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Trapezoidal Rule in MPI.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Collective communication.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MPI derived datatypes.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Performance evaluation of MPI programs.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Parallel sorting.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Safety in MPI programs.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27" name="Google Shape;127;p3"/>
          <p:cNvSpPr txBox="1"/>
          <p:nvPr/>
        </p:nvSpPr>
        <p:spPr>
          <a:xfrm rot="5400000">
            <a:off x="9478169" y="823119"/>
            <a:ext cx="2012950" cy="366712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66FF"/>
                </a:solidFill>
                <a:latin typeface="Arial"/>
                <a:ea typeface="Arial"/>
                <a:cs typeface="Arial"/>
                <a:sym typeface="Arial"/>
              </a:rPr>
              <a:t># Chapter Subtitle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distributed memory system</a:t>
            </a:r>
            <a:endParaRPr/>
          </a:p>
        </p:txBody>
      </p:sp>
      <p:sp>
        <p:nvSpPr>
          <p:cNvPr id="133" name="Google Shape;133;p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01-9780123742605.eps"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225" y="2312987"/>
            <a:ext cx="5549900" cy="223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shared memory system</a:t>
            </a:r>
            <a:endParaRPr/>
          </a:p>
        </p:txBody>
      </p:sp>
      <p:sp>
        <p:nvSpPr>
          <p:cNvPr id="140" name="Google Shape;140;p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02-9780123742605.eps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7350" y="1773239"/>
            <a:ext cx="5976938" cy="261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Hello World! </a:t>
            </a:r>
            <a:endParaRPr/>
          </a:p>
        </p:txBody>
      </p:sp>
      <p:sp>
        <p:nvSpPr>
          <p:cNvPr id="147" name="Google Shape;147;p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6627" y="1816101"/>
            <a:ext cx="4752975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5159376" y="5229225"/>
            <a:ext cx="2500313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(a classic)</a:t>
            </a:r>
            <a:endParaRPr/>
          </a:p>
        </p:txBody>
      </p:sp>
      <p:pic>
        <p:nvPicPr>
          <p:cNvPr descr="business,concepts,earth,education,giving,global communications,globes,growths,handful,holding,ideas,iStockphoto,maps,palms,peace symbol,Photographs,planets,topography,world in hand,world maps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2376" y="3068639"/>
            <a:ext cx="3095625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Identifying MPI processes</a:t>
            </a:r>
            <a:endParaRPr/>
          </a:p>
        </p:txBody>
      </p:sp>
      <p:sp>
        <p:nvSpPr>
          <p:cNvPr id="156" name="Google Shape;15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Common practice to identify processes by nonnegative integer ranks.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i="1" lang="en-US">
                <a:solidFill>
                  <a:schemeClr val="accent6"/>
                </a:solidFill>
              </a:rPr>
              <a:t>p</a:t>
            </a:r>
            <a:r>
              <a:rPr lang="en-US"/>
              <a:t> processes are numbered </a:t>
            </a:r>
            <a:r>
              <a:rPr i="1" lang="en-US">
                <a:solidFill>
                  <a:schemeClr val="accent6"/>
                </a:solidFill>
              </a:rPr>
              <a:t>0, 1, 2, .. p-1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ipped images,cropped images,cropped pictures,Earth,global,globes,icons,international,planets,PNG,transparent background,worlds,worldwide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7664" y="1"/>
            <a:ext cx="309562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Our first MPI program</a:t>
            </a:r>
            <a:endParaRPr/>
          </a:p>
        </p:txBody>
      </p:sp>
      <p:sp>
        <p:nvSpPr>
          <p:cNvPr id="164" name="Google Shape;164;p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6989" y="1541721"/>
            <a:ext cx="5718175" cy="4647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Compilation</a:t>
            </a:r>
            <a:endParaRPr/>
          </a:p>
        </p:txBody>
      </p:sp>
      <p:sp>
        <p:nvSpPr>
          <p:cNvPr id="171" name="Google Shape;171;p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1992314" y="2565400"/>
            <a:ext cx="82073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92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mpicc  -g  -Wall  -o  mpi_hello  mpi_hello.c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2711451" y="1341439"/>
            <a:ext cx="369411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wrapper script to compile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3575050" y="5157789"/>
            <a:ext cx="301148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turns on all warnings</a:t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8472489" y="1700213"/>
            <a:ext cx="15890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source file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5519739" y="3789364"/>
            <a:ext cx="451643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create this executable file name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(as opposed to default a.out)</a:t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1992314" y="3716338"/>
            <a:ext cx="1709737" cy="1274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produce</a:t>
            </a:r>
            <a:br>
              <a:rPr b="0" i="1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debugging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2114551" y="1655763"/>
            <a:ext cx="576263" cy="976312"/>
          </a:xfrm>
          <a:custGeom>
            <a:rect b="b" l="l" r="r" t="t"/>
            <a:pathLst>
              <a:path extrusionOk="0" h="977462" w="575441">
                <a:moveTo>
                  <a:pt x="575441" y="0"/>
                </a:moveTo>
                <a:cubicBezTo>
                  <a:pt x="327134" y="13138"/>
                  <a:pt x="78828" y="26277"/>
                  <a:pt x="39414" y="189187"/>
                </a:cubicBezTo>
                <a:cubicBezTo>
                  <a:pt x="0" y="352097"/>
                  <a:pt x="169479" y="664779"/>
                  <a:pt x="338959" y="977462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7969250" y="1881189"/>
            <a:ext cx="444500" cy="720725"/>
          </a:xfrm>
          <a:custGeom>
            <a:rect b="b" l="l" r="r" t="t"/>
            <a:pathLst>
              <a:path extrusionOk="0" h="719958" w="444062">
                <a:moveTo>
                  <a:pt x="444062" y="89338"/>
                </a:moveTo>
                <a:cubicBezTo>
                  <a:pt x="240424" y="44669"/>
                  <a:pt x="36786" y="0"/>
                  <a:pt x="18393" y="105103"/>
                </a:cubicBezTo>
                <a:cubicBezTo>
                  <a:pt x="0" y="210206"/>
                  <a:pt x="166851" y="465082"/>
                  <a:pt x="333703" y="719958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305175" y="3232151"/>
            <a:ext cx="577850" cy="862013"/>
          </a:xfrm>
          <a:custGeom>
            <a:rect b="b" l="l" r="r" t="t"/>
            <a:pathLst>
              <a:path extrusionOk="0" h="861848" w="578070">
                <a:moveTo>
                  <a:pt x="0" y="725214"/>
                </a:moveTo>
                <a:cubicBezTo>
                  <a:pt x="231228" y="793531"/>
                  <a:pt x="462456" y="861848"/>
                  <a:pt x="520263" y="740979"/>
                </a:cubicBezTo>
                <a:cubicBezTo>
                  <a:pt x="578070" y="620110"/>
                  <a:pt x="462456" y="310055"/>
                  <a:pt x="346842" y="0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219576" y="3168650"/>
            <a:ext cx="722313" cy="2065338"/>
          </a:xfrm>
          <a:custGeom>
            <a:rect b="b" l="l" r="r" t="t"/>
            <a:pathLst>
              <a:path extrusionOk="0" h="2065283" w="722587">
                <a:moveTo>
                  <a:pt x="0" y="2065283"/>
                </a:moveTo>
                <a:cubicBezTo>
                  <a:pt x="348155" y="1849821"/>
                  <a:pt x="696311" y="1634359"/>
                  <a:pt x="709449" y="1418897"/>
                </a:cubicBezTo>
                <a:cubicBezTo>
                  <a:pt x="722587" y="1203435"/>
                  <a:pt x="149773" y="1008993"/>
                  <a:pt x="78828" y="772510"/>
                </a:cubicBezTo>
                <a:cubicBezTo>
                  <a:pt x="7883" y="536027"/>
                  <a:pt x="145831" y="268013"/>
                  <a:pt x="283780" y="0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678614" y="3168650"/>
            <a:ext cx="350837" cy="520700"/>
          </a:xfrm>
          <a:custGeom>
            <a:rect b="b" l="l" r="r" t="t"/>
            <a:pathLst>
              <a:path extrusionOk="0" h="520262" w="349469">
                <a:moveTo>
                  <a:pt x="0" y="520262"/>
                </a:moveTo>
                <a:cubicBezTo>
                  <a:pt x="156341" y="405962"/>
                  <a:pt x="312683" y="291662"/>
                  <a:pt x="331076" y="204952"/>
                </a:cubicBezTo>
                <a:cubicBezTo>
                  <a:pt x="349469" y="118242"/>
                  <a:pt x="229914" y="59121"/>
                  <a:pt x="110359" y="0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305426" y="3105150"/>
            <a:ext cx="498475" cy="884238"/>
          </a:xfrm>
          <a:custGeom>
            <a:rect b="b" l="l" r="r" t="t"/>
            <a:pathLst>
              <a:path extrusionOk="0" h="882869" w="499241">
                <a:moveTo>
                  <a:pt x="191813" y="882869"/>
                </a:moveTo>
                <a:cubicBezTo>
                  <a:pt x="95906" y="830317"/>
                  <a:pt x="0" y="777766"/>
                  <a:pt x="49924" y="725214"/>
                </a:cubicBezTo>
                <a:cubicBezTo>
                  <a:pt x="99848" y="672662"/>
                  <a:pt x="483475" y="688428"/>
                  <a:pt x="491358" y="567559"/>
                </a:cubicBezTo>
                <a:cubicBezTo>
                  <a:pt x="499241" y="446690"/>
                  <a:pt x="298230" y="223345"/>
                  <a:pt x="97220" y="0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Execution</a:t>
            </a:r>
            <a:endParaRPr/>
          </a:p>
        </p:txBody>
      </p:sp>
      <p:sp>
        <p:nvSpPr>
          <p:cNvPr id="189" name="Google Shape;189;p1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1847851" y="1700214"/>
            <a:ext cx="85693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mpiexec  -n  &lt;number of processes&gt;   &lt;executable&gt;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3792538" y="2924176"/>
            <a:ext cx="48958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mpiexec  -n  1  ./mpi_hello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2208213" y="4365625"/>
            <a:ext cx="4895850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mpiexec  -n  4  ./mpi_hello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6600826" y="3789363"/>
            <a:ext cx="26828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i="1" lang="en-US" sz="24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run with 1 process</a:t>
            </a:r>
            <a:endParaRPr/>
          </a:p>
        </p:txBody>
      </p:sp>
      <p:cxnSp>
        <p:nvCxnSpPr>
          <p:cNvPr id="194" name="Google Shape;194;p10"/>
          <p:cNvCxnSpPr/>
          <p:nvPr/>
        </p:nvCxnSpPr>
        <p:spPr>
          <a:xfrm>
            <a:off x="2063750" y="2636838"/>
            <a:ext cx="7704138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10"/>
          <p:cNvSpPr txBox="1"/>
          <p:nvPr/>
        </p:nvSpPr>
        <p:spPr>
          <a:xfrm>
            <a:off x="5159375" y="5300663"/>
            <a:ext cx="30099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i="1" lang="en-US" sz="24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run with 4 processes</a:t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5807075" y="3421063"/>
            <a:ext cx="762000" cy="754062"/>
          </a:xfrm>
          <a:custGeom>
            <a:rect b="b" l="l" r="r" t="t"/>
            <a:pathLst>
              <a:path extrusionOk="0" h="754117" w="762000">
                <a:moveTo>
                  <a:pt x="762000" y="646386"/>
                </a:moveTo>
                <a:cubicBezTo>
                  <a:pt x="480848" y="700251"/>
                  <a:pt x="199696" y="754117"/>
                  <a:pt x="99848" y="646386"/>
                </a:cubicBezTo>
                <a:cubicBezTo>
                  <a:pt x="0" y="538655"/>
                  <a:pt x="81455" y="269327"/>
                  <a:pt x="162910" y="0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224338" y="4868863"/>
            <a:ext cx="762000" cy="754062"/>
          </a:xfrm>
          <a:custGeom>
            <a:rect b="b" l="l" r="r" t="t"/>
            <a:pathLst>
              <a:path extrusionOk="0" h="754117" w="762000">
                <a:moveTo>
                  <a:pt x="762000" y="646386"/>
                </a:moveTo>
                <a:cubicBezTo>
                  <a:pt x="480848" y="700251"/>
                  <a:pt x="199696" y="754117"/>
                  <a:pt x="99848" y="646386"/>
                </a:cubicBezTo>
                <a:cubicBezTo>
                  <a:pt x="0" y="538655"/>
                  <a:pt x="81455" y="269327"/>
                  <a:pt x="162910" y="0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Execution</a:t>
            </a:r>
            <a:endParaRPr/>
          </a:p>
        </p:txBody>
      </p:sp>
      <p:sp>
        <p:nvSpPr>
          <p:cNvPr id="203" name="Google Shape;203;p1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2855913" y="1429544"/>
            <a:ext cx="489585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mpiexec  -n  1  ./mpi_hello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2855913" y="2997200"/>
            <a:ext cx="4895850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mpiexec  -n  4  ./mpi_hello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2964343" y="2093746"/>
            <a:ext cx="59039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Greetings from process 0 of 1 !</a:t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3432176" y="3789363"/>
            <a:ext cx="5903913" cy="207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Greetings from process 0 of 4 !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Greetings from process 1 of 4 !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Greetings from process 2 of 4 !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168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Greetings from process 3 of 4 !</a:t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2782888" y="1342231"/>
            <a:ext cx="5905500" cy="16557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2782888" y="3068639"/>
            <a:ext cx="5905500" cy="28082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MPI Programs</a:t>
            </a:r>
            <a:endParaRPr/>
          </a:p>
        </p:txBody>
      </p:sp>
      <p:sp>
        <p:nvSpPr>
          <p:cNvPr id="215" name="Google Shape;215;p12"/>
          <p:cNvSpPr txBox="1"/>
          <p:nvPr>
            <p:ph idx="1" type="body"/>
          </p:nvPr>
        </p:nvSpPr>
        <p:spPr>
          <a:xfrm>
            <a:off x="2208214" y="1690688"/>
            <a:ext cx="8270875" cy="432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Written in C.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Has main.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Uses stdio.h, string.h, etc.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Need to add </a:t>
            </a:r>
            <a:r>
              <a:rPr lang="en-US">
                <a:solidFill>
                  <a:srgbClr val="FF0000"/>
                </a:solidFill>
              </a:rPr>
              <a:t>mpi.h</a:t>
            </a:r>
            <a:r>
              <a:rPr lang="en-US"/>
              <a:t> header file.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Identifiers defined by MPI start with “MPI_”.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First letter following underscore is uppercase.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function names and MPI-defined types.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Helps to avoid confusion.</a:t>
            </a:r>
            <a:endParaRPr/>
          </a:p>
        </p:txBody>
      </p:sp>
      <p:sp>
        <p:nvSpPr>
          <p:cNvPr id="216" name="Google Shape;216;p1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MPI Components</a:t>
            </a:r>
            <a:endParaRPr/>
          </a:p>
        </p:txBody>
      </p:sp>
      <p:sp>
        <p:nvSpPr>
          <p:cNvPr id="222" name="Google Shape;222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MPI_Init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Tells MPI to do all the necessary setup.</a:t>
            </a: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MPI_Finalize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Tells MPI we’re done, so clean up anything allocated for this program.</a:t>
            </a:r>
            <a:endParaRPr/>
          </a:p>
        </p:txBody>
      </p:sp>
      <p:sp>
        <p:nvSpPr>
          <p:cNvPr id="223" name="Google Shape;223;p1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224" name="Google Shape;2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812" y="2693804"/>
            <a:ext cx="6149975" cy="129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25" name="Google Shape;2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7713" y="5157788"/>
            <a:ext cx="3816350" cy="469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226" name="Google Shape;226;p13"/>
          <p:cNvCxnSpPr/>
          <p:nvPr/>
        </p:nvCxnSpPr>
        <p:spPr>
          <a:xfrm>
            <a:off x="6527800" y="544512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Outline</a:t>
            </a:r>
            <a:endParaRPr/>
          </a:p>
        </p:txBody>
      </p:sp>
      <p:sp>
        <p:nvSpPr>
          <p:cNvPr id="232" name="Google Shape;232;p1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233" name="Google Shape;2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6989" y="1446028"/>
            <a:ext cx="6270625" cy="3927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Communicators </a:t>
            </a:r>
            <a:endParaRPr/>
          </a:p>
        </p:txBody>
      </p:sp>
      <p:sp>
        <p:nvSpPr>
          <p:cNvPr id="239" name="Google Shape;239;p15"/>
          <p:cNvSpPr txBox="1"/>
          <p:nvPr>
            <p:ph idx="1" type="body"/>
          </p:nvPr>
        </p:nvSpPr>
        <p:spPr>
          <a:xfrm>
            <a:off x="1960562" y="1848553"/>
            <a:ext cx="8270875" cy="3743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collection of processes that can send messages to each other.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MPI_Init defines a communicator that consists of all the processes created when the program is started.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Called </a:t>
            </a:r>
            <a:r>
              <a:rPr lang="en-US">
                <a:solidFill>
                  <a:srgbClr val="FF0000"/>
                </a:solidFill>
              </a:rPr>
              <a:t>MPI_COMM_WORLD</a:t>
            </a:r>
            <a:r>
              <a:rPr lang="en-US"/>
              <a:t>.</a:t>
            </a:r>
            <a:endParaRPr/>
          </a:p>
        </p:txBody>
      </p:sp>
      <p:sp>
        <p:nvSpPr>
          <p:cNvPr id="240" name="Google Shape;240;p1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Communicators</a:t>
            </a:r>
            <a:endParaRPr/>
          </a:p>
        </p:txBody>
      </p:sp>
      <p:sp>
        <p:nvSpPr>
          <p:cNvPr id="246" name="Google Shape;246;p1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247" name="Google Shape;2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9650" y="1341438"/>
            <a:ext cx="6370638" cy="1223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4113" y="3573463"/>
            <a:ext cx="6303962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ildings,business,businessmen,cities,cityscapes,hierarchies,males,metaphors,metropolitan areas,pecking orders,people,persons,ranks,skylines,skyscrapers" id="249" name="Google Shape;2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42311" y="1213773"/>
            <a:ext cx="2089150" cy="208756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 txBox="1"/>
          <p:nvPr/>
        </p:nvSpPr>
        <p:spPr>
          <a:xfrm>
            <a:off x="2855914" y="2636838"/>
            <a:ext cx="60039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i="1" lang="en-US" sz="24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number  of processes in the communicator</a:t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3935414" y="4868863"/>
            <a:ext cx="4173537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i="1" lang="en-US" sz="24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my rank </a:t>
            </a:r>
            <a:br>
              <a:rPr i="1" lang="en-US" sz="24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24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(the process making this call)</a:t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5205413" y="2365375"/>
            <a:ext cx="512762" cy="369888"/>
          </a:xfrm>
          <a:custGeom>
            <a:rect b="b" l="l" r="r" t="t"/>
            <a:pathLst>
              <a:path extrusionOk="0" h="370489" w="512378">
                <a:moveTo>
                  <a:pt x="149772" y="346841"/>
                </a:moveTo>
                <a:cubicBezTo>
                  <a:pt x="331075" y="358665"/>
                  <a:pt x="512378" y="370489"/>
                  <a:pt x="496613" y="346841"/>
                </a:cubicBezTo>
                <a:cubicBezTo>
                  <a:pt x="480848" y="323193"/>
                  <a:pt x="110358" y="262758"/>
                  <a:pt x="55179" y="204951"/>
                </a:cubicBezTo>
                <a:cubicBezTo>
                  <a:pt x="0" y="147144"/>
                  <a:pt x="165537" y="0"/>
                  <a:pt x="165537" y="0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5159376" y="4724401"/>
            <a:ext cx="512763" cy="371475"/>
          </a:xfrm>
          <a:custGeom>
            <a:rect b="b" l="l" r="r" t="t"/>
            <a:pathLst>
              <a:path extrusionOk="0" h="370489" w="512378">
                <a:moveTo>
                  <a:pt x="149772" y="346841"/>
                </a:moveTo>
                <a:cubicBezTo>
                  <a:pt x="331075" y="358665"/>
                  <a:pt x="512378" y="370489"/>
                  <a:pt x="496613" y="346841"/>
                </a:cubicBezTo>
                <a:cubicBezTo>
                  <a:pt x="480848" y="323193"/>
                  <a:pt x="110358" y="262758"/>
                  <a:pt x="55179" y="204951"/>
                </a:cubicBezTo>
                <a:cubicBezTo>
                  <a:pt x="0" y="147144"/>
                  <a:pt x="165537" y="0"/>
                  <a:pt x="165537" y="0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SPMD</a:t>
            </a:r>
            <a:endParaRPr/>
          </a:p>
        </p:txBody>
      </p:sp>
      <p:sp>
        <p:nvSpPr>
          <p:cNvPr id="259" name="Google Shape;25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Single-Program Multiple-Data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compile </a:t>
            </a:r>
            <a:r>
              <a:rPr lang="en-US" u="sng"/>
              <a:t>one</a:t>
            </a:r>
            <a:r>
              <a:rPr lang="en-US"/>
              <a:t> program.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Process 0 does something different.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Receives messages and prints them while the other processes do the work.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if-else</a:t>
            </a:r>
            <a:r>
              <a:rPr lang="en-US"/>
              <a:t> construct makes our program SPMD.</a:t>
            </a:r>
            <a:endParaRPr/>
          </a:p>
        </p:txBody>
      </p:sp>
      <p:sp>
        <p:nvSpPr>
          <p:cNvPr id="260" name="Google Shape;260;p1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Communication</a:t>
            </a:r>
            <a:endParaRPr/>
          </a:p>
        </p:txBody>
      </p:sp>
      <p:sp>
        <p:nvSpPr>
          <p:cNvPr id="266" name="Google Shape;266;p1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grpSp>
        <p:nvGrpSpPr>
          <p:cNvPr id="267" name="Google Shape;267;p18"/>
          <p:cNvGrpSpPr/>
          <p:nvPr/>
        </p:nvGrpSpPr>
        <p:grpSpPr>
          <a:xfrm>
            <a:off x="1992311" y="1690688"/>
            <a:ext cx="6696075" cy="3240088"/>
            <a:chOff x="1475656" y="1772816"/>
            <a:chExt cx="4111749" cy="1726307"/>
          </a:xfrm>
        </p:grpSpPr>
        <p:pic>
          <p:nvPicPr>
            <p:cNvPr id="268" name="Google Shape;26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5656" y="1772816"/>
              <a:ext cx="1381125" cy="285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91680" y="2060848"/>
              <a:ext cx="3895725" cy="14382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0" name="Google Shape;2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6226" y="4508500"/>
            <a:ext cx="2303463" cy="15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types</a:t>
            </a:r>
            <a:endParaRPr/>
          </a:p>
        </p:txBody>
      </p:sp>
      <p:sp>
        <p:nvSpPr>
          <p:cNvPr id="276" name="Google Shape;276;p1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277" name="Google Shape;2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9151" y="1329070"/>
            <a:ext cx="5832475" cy="4955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Communication</a:t>
            </a:r>
            <a:endParaRPr/>
          </a:p>
        </p:txBody>
      </p:sp>
      <p:sp>
        <p:nvSpPr>
          <p:cNvPr id="283" name="Google Shape;283;p2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grpSp>
        <p:nvGrpSpPr>
          <p:cNvPr id="284" name="Google Shape;284;p20"/>
          <p:cNvGrpSpPr/>
          <p:nvPr/>
        </p:nvGrpSpPr>
        <p:grpSpPr>
          <a:xfrm>
            <a:off x="2495550" y="1268413"/>
            <a:ext cx="6985000" cy="3097212"/>
            <a:chOff x="1187624" y="1268760"/>
            <a:chExt cx="4552950" cy="1795636"/>
          </a:xfrm>
        </p:grpSpPr>
        <p:pic>
          <p:nvPicPr>
            <p:cNvPr id="285" name="Google Shape;285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87624" y="1268760"/>
              <a:ext cx="4552950" cy="143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91680" y="2492896"/>
              <a:ext cx="40005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7" name="Google Shape;2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3751" y="4508500"/>
            <a:ext cx="2303463" cy="15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Message matching</a:t>
            </a:r>
            <a:endParaRPr/>
          </a:p>
        </p:txBody>
      </p:sp>
      <p:sp>
        <p:nvSpPr>
          <p:cNvPr id="293" name="Google Shape;293;p2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294" name="Google Shape;2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188" y="1412876"/>
            <a:ext cx="8045450" cy="72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214" y="4724401"/>
            <a:ext cx="77755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/>
          <p:nvPr/>
        </p:nvSpPr>
        <p:spPr>
          <a:xfrm>
            <a:off x="3287714" y="1700214"/>
            <a:ext cx="1368425" cy="288925"/>
          </a:xfrm>
          <a:prstGeom prst="ellipse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3287714" y="5084764"/>
            <a:ext cx="1368425" cy="288925"/>
          </a:xfrm>
          <a:prstGeom prst="ellipse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298" name="Google Shape;298;p21"/>
          <p:cNvCxnSpPr/>
          <p:nvPr/>
        </p:nvCxnSpPr>
        <p:spPr>
          <a:xfrm flipH="1" rot="-5400000">
            <a:off x="2531270" y="3464720"/>
            <a:ext cx="2881313" cy="73025"/>
          </a:xfrm>
          <a:prstGeom prst="straightConnector1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99" name="Google Shape;299;p21"/>
          <p:cNvSpPr/>
          <p:nvPr/>
        </p:nvSpPr>
        <p:spPr>
          <a:xfrm>
            <a:off x="8616950" y="1484314"/>
            <a:ext cx="1366838" cy="288925"/>
          </a:xfrm>
          <a:prstGeom prst="ellipse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8616950" y="4868864"/>
            <a:ext cx="1366838" cy="288925"/>
          </a:xfrm>
          <a:prstGeom prst="ellipse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7967664" y="1484313"/>
            <a:ext cx="504825" cy="215900"/>
          </a:xfrm>
          <a:prstGeom prst="ellipse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8040689" y="4868863"/>
            <a:ext cx="503237" cy="215900"/>
          </a:xfrm>
          <a:prstGeom prst="ellipse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03" name="Google Shape;3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6138" y="2565400"/>
            <a:ext cx="2735262" cy="16906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21"/>
          <p:cNvCxnSpPr/>
          <p:nvPr/>
        </p:nvCxnSpPr>
        <p:spPr>
          <a:xfrm flipH="1" rot="-5400000">
            <a:off x="7860507" y="3248819"/>
            <a:ext cx="2879725" cy="71438"/>
          </a:xfrm>
          <a:prstGeom prst="straightConnector1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05" name="Google Shape;305;p21"/>
          <p:cNvSpPr txBox="1"/>
          <p:nvPr/>
        </p:nvSpPr>
        <p:spPr>
          <a:xfrm>
            <a:off x="4224339" y="2349500"/>
            <a:ext cx="1381125" cy="7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MPI_Send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src = q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7104064" y="3500439"/>
            <a:ext cx="1368425" cy="7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MPI_Recv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dest  = r</a:t>
            </a:r>
            <a:endParaRPr/>
          </a:p>
        </p:txBody>
      </p:sp>
      <p:cxnSp>
        <p:nvCxnSpPr>
          <p:cNvPr id="307" name="Google Shape;307;p21"/>
          <p:cNvCxnSpPr/>
          <p:nvPr/>
        </p:nvCxnSpPr>
        <p:spPr>
          <a:xfrm rot="5400000">
            <a:off x="7931945" y="1808957"/>
            <a:ext cx="287337" cy="215900"/>
          </a:xfrm>
          <a:prstGeom prst="straightConnector1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8" name="Google Shape;308;p21"/>
          <p:cNvSpPr/>
          <p:nvPr/>
        </p:nvSpPr>
        <p:spPr>
          <a:xfrm>
            <a:off x="7680325" y="1989138"/>
            <a:ext cx="28733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8616950" y="5373688"/>
            <a:ext cx="3556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310" name="Google Shape;310;p21"/>
          <p:cNvCxnSpPr/>
          <p:nvPr/>
        </p:nvCxnSpPr>
        <p:spPr>
          <a:xfrm flipH="1" rot="-5400000">
            <a:off x="8293101" y="5192714"/>
            <a:ext cx="358775" cy="288925"/>
          </a:xfrm>
          <a:prstGeom prst="straightConnector1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Receiving messages</a:t>
            </a:r>
            <a:endParaRPr/>
          </a:p>
        </p:txBody>
      </p:sp>
      <p:sp>
        <p:nvSpPr>
          <p:cNvPr id="316" name="Google Shape;316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receiver can get a message without knowing: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amount of data in the message,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sender of the message,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or the tag of the message.</a:t>
            </a:r>
            <a:endParaRPr/>
          </a:p>
        </p:txBody>
      </p:sp>
      <p:sp>
        <p:nvSpPr>
          <p:cNvPr id="317" name="Google Shape;317;p2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318" name="Google Shape;3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4339" y="4005264"/>
            <a:ext cx="3095625" cy="195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 txBox="1"/>
          <p:nvPr>
            <p:ph type="title"/>
          </p:nvPr>
        </p:nvSpPr>
        <p:spPr>
          <a:xfrm>
            <a:off x="919957" y="384176"/>
            <a:ext cx="82819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status_p  argument</a:t>
            </a:r>
            <a:endParaRPr/>
          </a:p>
        </p:txBody>
      </p:sp>
      <p:sp>
        <p:nvSpPr>
          <p:cNvPr id="324" name="Google Shape;324;p2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325" name="Google Shape;3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9651" y="1341439"/>
            <a:ext cx="7777163" cy="6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3"/>
          <p:cNvSpPr/>
          <p:nvPr/>
        </p:nvSpPr>
        <p:spPr>
          <a:xfrm>
            <a:off x="5060951" y="2017713"/>
            <a:ext cx="974725" cy="793750"/>
          </a:xfrm>
          <a:custGeom>
            <a:rect b="b" l="l" r="r" t="t"/>
            <a:pathLst>
              <a:path extrusionOk="0" h="793532" w="974835">
                <a:moveTo>
                  <a:pt x="783021" y="788276"/>
                </a:moveTo>
                <a:cubicBezTo>
                  <a:pt x="444062" y="790904"/>
                  <a:pt x="105104" y="793532"/>
                  <a:pt x="136635" y="740980"/>
                </a:cubicBezTo>
                <a:cubicBezTo>
                  <a:pt x="168166" y="688428"/>
                  <a:pt x="974835" y="530773"/>
                  <a:pt x="972207" y="472966"/>
                </a:cubicBezTo>
                <a:cubicBezTo>
                  <a:pt x="969579" y="415159"/>
                  <a:pt x="241738" y="472966"/>
                  <a:pt x="120869" y="394138"/>
                </a:cubicBezTo>
                <a:cubicBezTo>
                  <a:pt x="0" y="315310"/>
                  <a:pt x="123496" y="157655"/>
                  <a:pt x="246993" y="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 txBox="1"/>
          <p:nvPr/>
        </p:nvSpPr>
        <p:spPr>
          <a:xfrm>
            <a:off x="7608889" y="3789364"/>
            <a:ext cx="1881187" cy="1138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MPI_SOURCE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MPI_TAG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MPI_ERROR</a:t>
            </a: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7940675" y="2716213"/>
            <a:ext cx="871538" cy="989012"/>
          </a:xfrm>
          <a:custGeom>
            <a:rect b="b" l="l" r="r" t="t"/>
            <a:pathLst>
              <a:path extrusionOk="0" h="987972" w="872358">
                <a:moveTo>
                  <a:pt x="0" y="105103"/>
                </a:moveTo>
                <a:cubicBezTo>
                  <a:pt x="378372" y="52551"/>
                  <a:pt x="756745" y="0"/>
                  <a:pt x="772510" y="73572"/>
                </a:cubicBezTo>
                <a:cubicBezTo>
                  <a:pt x="788275" y="147144"/>
                  <a:pt x="86710" y="475592"/>
                  <a:pt x="94593" y="546537"/>
                </a:cubicBezTo>
                <a:cubicBezTo>
                  <a:pt x="102476" y="617482"/>
                  <a:pt x="767254" y="425668"/>
                  <a:pt x="819806" y="499241"/>
                </a:cubicBezTo>
                <a:cubicBezTo>
                  <a:pt x="872358" y="572814"/>
                  <a:pt x="641130" y="780393"/>
                  <a:pt x="409903" y="987972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5951539" y="2636838"/>
            <a:ext cx="196373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MPI_Status*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2135188" y="3860800"/>
            <a:ext cx="3213100" cy="1792288"/>
          </a:xfrm>
          <a:prstGeom prst="rect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lang="en-US" sz="24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MPI_Status*  status;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t/>
            </a:r>
            <a:endParaRPr b="1" sz="2400">
              <a:solidFill>
                <a:srgbClr val="006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lang="en-US" sz="24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status.MPI_SOURCE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b="1" lang="en-US" sz="2400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status.MPI_TAG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much data am I receiving?</a:t>
            </a:r>
            <a:endParaRPr/>
          </a:p>
        </p:txBody>
      </p:sp>
      <p:sp>
        <p:nvSpPr>
          <p:cNvPr id="336" name="Google Shape;336;p2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337" name="Google Shape;3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114" y="1557338"/>
            <a:ext cx="7108825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ew Details" id="338" name="Google Shape;3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1088" y="3789363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Issues with send and receive</a:t>
            </a:r>
            <a:endParaRPr/>
          </a:p>
        </p:txBody>
      </p:sp>
      <p:sp>
        <p:nvSpPr>
          <p:cNvPr id="344" name="Google Shape;344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Exact behavior is determined by the MPI implementation.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MPI_Send may behave differently with regard to buffer size, cutoffs and blocking.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MPI_Recv always blocks until a matching message is received.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Know your implementation;</a:t>
            </a:r>
            <a:br>
              <a:rPr lang="en-US"/>
            </a:br>
            <a:r>
              <a:rPr lang="en-US"/>
              <a:t>don’t make assumptions!</a:t>
            </a:r>
            <a:endParaRPr/>
          </a:p>
        </p:txBody>
      </p:sp>
      <p:sp>
        <p:nvSpPr>
          <p:cNvPr id="345" name="Google Shape;345;p2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View Details" id="346" name="Google Shape;3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2488" y="4005263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ademic,cartoons,children,classes,courses,education,females,geometric shapes,geometry,girls,kids,mathematics,people,persons,schools,students,trapezoids" id="351" name="Google Shape;3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089" y="1484314"/>
            <a:ext cx="309562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 txBox="1"/>
          <p:nvPr>
            <p:ph type="title"/>
          </p:nvPr>
        </p:nvSpPr>
        <p:spPr>
          <a:xfrm>
            <a:off x="2246313" y="4406901"/>
            <a:ext cx="77724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Trapezoidal rule in mpi</a:t>
            </a:r>
            <a:endParaRPr/>
          </a:p>
        </p:txBody>
      </p:sp>
      <p:sp>
        <p:nvSpPr>
          <p:cNvPr id="353" name="Google Shape;353;p2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Trapezoidal Rule</a:t>
            </a:r>
            <a:endParaRPr/>
          </a:p>
        </p:txBody>
      </p:sp>
      <p:sp>
        <p:nvSpPr>
          <p:cNvPr id="359" name="Google Shape;359;p2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360" name="Google Shape;3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8" y="1341439"/>
            <a:ext cx="8318500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Trapezoidal Rule</a:t>
            </a:r>
            <a:endParaRPr/>
          </a:p>
        </p:txBody>
      </p:sp>
      <p:sp>
        <p:nvSpPr>
          <p:cNvPr id="366" name="Google Shape;366;p2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367" name="Google Shape;3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4075" y="1412875"/>
            <a:ext cx="45148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7939" y="2420938"/>
            <a:ext cx="1125537" cy="65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0013" y="3500439"/>
            <a:ext cx="6756400" cy="5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2938" y="4652963"/>
            <a:ext cx="821055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One trapezoid</a:t>
            </a:r>
            <a:endParaRPr/>
          </a:p>
        </p:txBody>
      </p:sp>
      <p:sp>
        <p:nvSpPr>
          <p:cNvPr id="376" name="Google Shape;376;p2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04-9780123742605.eps" id="377" name="Google Shape;37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814" y="1196976"/>
            <a:ext cx="5019675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0"/>
          <p:cNvSpPr txBox="1"/>
          <p:nvPr>
            <p:ph type="title"/>
          </p:nvPr>
        </p:nvSpPr>
        <p:spPr>
          <a:xfrm>
            <a:off x="2063750" y="1"/>
            <a:ext cx="828198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Pseudo-code for a serial program</a:t>
            </a:r>
            <a:endParaRPr/>
          </a:p>
        </p:txBody>
      </p:sp>
      <p:sp>
        <p:nvSpPr>
          <p:cNvPr id="383" name="Google Shape;383;p3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384" name="Google Shape;3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7014" y="1519239"/>
            <a:ext cx="6656387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Parallelizing the Trapezoidal Rule</a:t>
            </a:r>
            <a:endParaRPr/>
          </a:p>
        </p:txBody>
      </p:sp>
      <p:sp>
        <p:nvSpPr>
          <p:cNvPr id="390" name="Google Shape;390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/>
              <a:t>Partition problem solution into tasks.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/>
              <a:t>Identify communication channels between tasks.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/>
              <a:t>Aggregate tasks into composite tasks.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/>
              <a:t>Map composite tasks to cores.</a:t>
            </a:r>
            <a:endParaRPr/>
          </a:p>
        </p:txBody>
      </p:sp>
      <p:sp>
        <p:nvSpPr>
          <p:cNvPr id="391" name="Google Shape;391;p3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Parallel pseudo-code</a:t>
            </a:r>
            <a:endParaRPr/>
          </a:p>
        </p:txBody>
      </p:sp>
      <p:sp>
        <p:nvSpPr>
          <p:cNvPr id="397" name="Google Shape;397;p3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grpSp>
        <p:nvGrpSpPr>
          <p:cNvPr id="398" name="Google Shape;398;p32"/>
          <p:cNvGrpSpPr/>
          <p:nvPr/>
        </p:nvGrpSpPr>
        <p:grpSpPr>
          <a:xfrm>
            <a:off x="2279651" y="1467293"/>
            <a:ext cx="7777163" cy="4482658"/>
            <a:chOff x="1043608" y="1340768"/>
            <a:chExt cx="7361237" cy="4544938"/>
          </a:xfrm>
        </p:grpSpPr>
        <p:pic>
          <p:nvPicPr>
            <p:cNvPr id="399" name="Google Shape;399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3608" y="2132856"/>
              <a:ext cx="7361237" cy="3752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43608" y="1340768"/>
              <a:ext cx="3419475" cy="981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"/>
          <p:cNvSpPr txBox="1"/>
          <p:nvPr>
            <p:ph type="title"/>
          </p:nvPr>
        </p:nvSpPr>
        <p:spPr>
          <a:xfrm>
            <a:off x="540305" y="430215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Tasks and communications for Trapezoidal Rule</a:t>
            </a:r>
            <a:endParaRPr/>
          </a:p>
        </p:txBody>
      </p:sp>
      <p:sp>
        <p:nvSpPr>
          <p:cNvPr id="406" name="Google Shape;406;p3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05-9780123742605.eps" id="407" name="Google Shape;40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8214" y="1989139"/>
            <a:ext cx="7870825" cy="280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First version (1)</a:t>
            </a:r>
            <a:endParaRPr/>
          </a:p>
        </p:txBody>
      </p:sp>
      <p:sp>
        <p:nvSpPr>
          <p:cNvPr id="413" name="Google Shape;413;p3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414" name="Google Shape;4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826" y="1371600"/>
            <a:ext cx="8677275" cy="4395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First version (2)</a:t>
            </a:r>
            <a:endParaRPr/>
          </a:p>
        </p:txBody>
      </p:sp>
      <p:sp>
        <p:nvSpPr>
          <p:cNvPr id="420" name="Google Shape;420;p3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421" name="Google Shape;4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3231" y="1690688"/>
            <a:ext cx="8745538" cy="4284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First version (3)</a:t>
            </a:r>
            <a:endParaRPr/>
          </a:p>
        </p:txBody>
      </p:sp>
      <p:sp>
        <p:nvSpPr>
          <p:cNvPr id="427" name="Google Shape;427;p3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428" name="Google Shape;42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7344" y="1497678"/>
            <a:ext cx="8977312" cy="46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Dealing with I/O</a:t>
            </a:r>
            <a:endParaRPr/>
          </a:p>
        </p:txBody>
      </p:sp>
      <p:sp>
        <p:nvSpPr>
          <p:cNvPr id="434" name="Google Shape;434;p3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435" name="Google Shape;43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2981" y="1490108"/>
            <a:ext cx="7666037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7"/>
          <p:cNvSpPr txBox="1"/>
          <p:nvPr/>
        </p:nvSpPr>
        <p:spPr>
          <a:xfrm>
            <a:off x="6311901" y="1773239"/>
            <a:ext cx="2208213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Each process just</a:t>
            </a:r>
            <a:b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prints a message.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with 6 processes</a:t>
            </a:r>
            <a:endParaRPr/>
          </a:p>
        </p:txBody>
      </p:sp>
      <p:sp>
        <p:nvSpPr>
          <p:cNvPr id="442" name="Google Shape;442;p3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sp>
        <p:nvSpPr>
          <p:cNvPr id="443" name="Google Shape;443;p38"/>
          <p:cNvSpPr txBox="1"/>
          <p:nvPr/>
        </p:nvSpPr>
        <p:spPr>
          <a:xfrm>
            <a:off x="3359150" y="4149725"/>
            <a:ext cx="2508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unpredictable </a:t>
            </a: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  <p:pic>
        <p:nvPicPr>
          <p:cNvPr id="444" name="Google Shape;4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840706"/>
            <a:ext cx="7069138" cy="201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6" y="4292601"/>
            <a:ext cx="2043113" cy="136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Input </a:t>
            </a:r>
            <a:endParaRPr/>
          </a:p>
        </p:txBody>
      </p:sp>
      <p:sp>
        <p:nvSpPr>
          <p:cNvPr id="451" name="Google Shape;451;p39"/>
          <p:cNvSpPr txBox="1"/>
          <p:nvPr>
            <p:ph idx="1" type="body"/>
          </p:nvPr>
        </p:nvSpPr>
        <p:spPr>
          <a:xfrm>
            <a:off x="1790700" y="1540207"/>
            <a:ext cx="8270875" cy="295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MPI implementations only allow process 0 in MPI_COMM_WORLD access to </a:t>
            </a:r>
            <a:r>
              <a:rPr lang="en-US">
                <a:solidFill>
                  <a:srgbClr val="0066FF"/>
                </a:solidFill>
              </a:rPr>
              <a:t>stdin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Process 0 must read the data (scanf) and send to the other processes.</a:t>
            </a:r>
            <a:endParaRPr/>
          </a:p>
        </p:txBody>
      </p:sp>
      <p:sp>
        <p:nvSpPr>
          <p:cNvPr id="452" name="Google Shape;452;p3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453" name="Google Shape;45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7713" y="3933825"/>
            <a:ext cx="527685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 for reading user input</a:t>
            </a:r>
            <a:endParaRPr/>
          </a:p>
        </p:txBody>
      </p:sp>
      <p:sp>
        <p:nvSpPr>
          <p:cNvPr id="459" name="Google Shape;459;p4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460" name="Google Shape;46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7351" y="1414130"/>
            <a:ext cx="6481763" cy="4764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"/>
          <p:cNvSpPr txBox="1"/>
          <p:nvPr>
            <p:ph type="title"/>
          </p:nvPr>
        </p:nvSpPr>
        <p:spPr>
          <a:xfrm>
            <a:off x="449411" y="4385636"/>
            <a:ext cx="77724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Collective communication</a:t>
            </a:r>
            <a:endParaRPr/>
          </a:p>
        </p:txBody>
      </p:sp>
      <p:sp>
        <p:nvSpPr>
          <p:cNvPr id="466" name="Google Shape;466;p4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View Details" id="467" name="Google Shape;4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811" y="2205038"/>
            <a:ext cx="3340100" cy="33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Tree-structured communication</a:t>
            </a:r>
            <a:endParaRPr/>
          </a:p>
        </p:txBody>
      </p:sp>
      <p:sp>
        <p:nvSpPr>
          <p:cNvPr id="473" name="Google Shape;473;p42"/>
          <p:cNvSpPr txBox="1"/>
          <p:nvPr>
            <p:ph idx="1" type="body"/>
          </p:nvPr>
        </p:nvSpPr>
        <p:spPr>
          <a:xfrm>
            <a:off x="1992314" y="1690688"/>
            <a:ext cx="8486775" cy="4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/>
              <a:t>In the first phase: </a:t>
            </a:r>
            <a:br>
              <a:rPr lang="en-US" sz="2400"/>
            </a:br>
            <a:r>
              <a:rPr lang="en-US" sz="2400"/>
              <a:t>(a) Process 1 sends to 0, 3 sends to 2, 5 sends to 4, and 7 sends to 6. </a:t>
            </a:r>
            <a:br>
              <a:rPr lang="en-US" sz="2400"/>
            </a:br>
            <a:r>
              <a:rPr lang="en-US" sz="2400"/>
              <a:t>(b) Processes 0, 2, 4, and 6 add in the received values. </a:t>
            </a:r>
            <a:br>
              <a:rPr lang="en-US" sz="2400"/>
            </a:br>
            <a:r>
              <a:rPr lang="en-US" sz="2400"/>
              <a:t>(c) Processes 2 and 6 send their new values to processes 0 and 4, respectively.</a:t>
            </a:r>
            <a:br>
              <a:rPr lang="en-US" sz="2400"/>
            </a:br>
            <a:r>
              <a:rPr lang="en-US" sz="2400"/>
              <a:t>(d) Processes 0 and 4 add the received values into their new values.</a:t>
            </a:r>
            <a:br>
              <a:rPr lang="en-US" sz="2400"/>
            </a:br>
            <a:endParaRPr sz="2400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/>
              <a:t>(a) Process 4 sends its newest value to process 0.</a:t>
            </a:r>
            <a:br>
              <a:rPr lang="en-US" sz="2400"/>
            </a:br>
            <a:r>
              <a:rPr lang="en-US" sz="2400"/>
              <a:t>(b) Process 0 adds the received value to its newest value.</a:t>
            </a:r>
            <a:endParaRPr/>
          </a:p>
        </p:txBody>
      </p:sp>
      <p:sp>
        <p:nvSpPr>
          <p:cNvPr id="474" name="Google Shape;474;p4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3"/>
          <p:cNvSpPr txBox="1"/>
          <p:nvPr>
            <p:ph type="title"/>
          </p:nvPr>
        </p:nvSpPr>
        <p:spPr>
          <a:xfrm>
            <a:off x="838200" y="365126"/>
            <a:ext cx="10515600" cy="7604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tree-structured global sum</a:t>
            </a:r>
            <a:endParaRPr/>
          </a:p>
        </p:txBody>
      </p:sp>
      <p:sp>
        <p:nvSpPr>
          <p:cNvPr id="480" name="Google Shape;480;p4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06-9780123742605.eps" id="481" name="Google Shape;48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376" y="1125539"/>
            <a:ext cx="6380163" cy="4376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/>
          <p:nvPr>
            <p:ph type="title"/>
          </p:nvPr>
        </p:nvSpPr>
        <p:spPr>
          <a:xfrm>
            <a:off x="669851" y="1"/>
            <a:ext cx="974732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 alternative tree-structured global sum</a:t>
            </a:r>
            <a:endParaRPr/>
          </a:p>
        </p:txBody>
      </p:sp>
      <p:sp>
        <p:nvSpPr>
          <p:cNvPr id="487" name="Google Shape;487;p4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07-9780123742605.eps"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7350" y="1557339"/>
            <a:ext cx="6408738" cy="4395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5"/>
          <p:cNvSpPr txBox="1"/>
          <p:nvPr>
            <p:ph type="title"/>
          </p:nvPr>
        </p:nvSpPr>
        <p:spPr>
          <a:xfrm>
            <a:off x="1466850" y="350839"/>
            <a:ext cx="82819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MPI_Reduce</a:t>
            </a:r>
            <a:endParaRPr/>
          </a:p>
        </p:txBody>
      </p:sp>
      <p:sp>
        <p:nvSpPr>
          <p:cNvPr id="494" name="Google Shape;494;p4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495" name="Google Shape;49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088" y="1196976"/>
            <a:ext cx="6513512" cy="2519363"/>
          </a:xfrm>
          <a:prstGeom prst="rect">
            <a:avLst/>
          </a:prstGeom>
          <a:noFill/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96" name="Google Shape;49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4826" y="3860801"/>
            <a:ext cx="8689975" cy="792163"/>
          </a:xfrm>
          <a:prstGeom prst="rect">
            <a:avLst/>
          </a:prstGeom>
          <a:noFill/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97" name="Google Shape;49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1089" y="4797426"/>
            <a:ext cx="6296025" cy="1171575"/>
          </a:xfrm>
          <a:prstGeom prst="rect">
            <a:avLst/>
          </a:prstGeom>
          <a:noFill/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6"/>
          <p:cNvSpPr txBox="1"/>
          <p:nvPr>
            <p:ph type="title"/>
          </p:nvPr>
        </p:nvSpPr>
        <p:spPr>
          <a:xfrm>
            <a:off x="433981" y="136525"/>
            <a:ext cx="929481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Predefined reduction operators in MPI</a:t>
            </a:r>
            <a:endParaRPr/>
          </a:p>
        </p:txBody>
      </p:sp>
      <p:sp>
        <p:nvSpPr>
          <p:cNvPr id="503" name="Google Shape;503;p4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504" name="Google Shape;50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2889" y="1268414"/>
            <a:ext cx="6791325" cy="4814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/>
          <p:cNvSpPr txBox="1"/>
          <p:nvPr>
            <p:ph type="title"/>
          </p:nvPr>
        </p:nvSpPr>
        <p:spPr>
          <a:xfrm>
            <a:off x="657263" y="620712"/>
            <a:ext cx="961378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Collective vs. Point-to-Point Communications</a:t>
            </a:r>
            <a:endParaRPr/>
          </a:p>
        </p:txBody>
      </p:sp>
      <p:sp>
        <p:nvSpPr>
          <p:cNvPr id="510" name="Google Shape;510;p47"/>
          <p:cNvSpPr txBox="1"/>
          <p:nvPr>
            <p:ph idx="1" type="body"/>
          </p:nvPr>
        </p:nvSpPr>
        <p:spPr>
          <a:xfrm>
            <a:off x="372140" y="2445488"/>
            <a:ext cx="11227981" cy="37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/>
              <a:t>All</a:t>
            </a:r>
            <a:r>
              <a:rPr lang="en-US"/>
              <a:t> the processes in the communicator must call the same collective function. 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a program that attempts to match a call to </a:t>
            </a:r>
            <a:r>
              <a:rPr lang="en-US">
                <a:solidFill>
                  <a:srgbClr val="0066FF"/>
                </a:solidFill>
              </a:rPr>
              <a:t>MPI_Reduce</a:t>
            </a:r>
            <a:r>
              <a:rPr lang="en-US"/>
              <a:t> on one process with a call to </a:t>
            </a:r>
            <a:r>
              <a:rPr lang="en-US">
                <a:solidFill>
                  <a:srgbClr val="0066FF"/>
                </a:solidFill>
              </a:rPr>
              <a:t>MPI_Recv</a:t>
            </a:r>
            <a:r>
              <a:rPr lang="en-US"/>
              <a:t> on another process is erroneous, and, in all likelihood, the program will hang or crash.</a:t>
            </a:r>
            <a:endParaRPr/>
          </a:p>
        </p:txBody>
      </p:sp>
      <p:sp>
        <p:nvSpPr>
          <p:cNvPr id="511" name="Google Shape;511;p4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8"/>
          <p:cNvSpPr txBox="1"/>
          <p:nvPr>
            <p:ph type="title"/>
          </p:nvPr>
        </p:nvSpPr>
        <p:spPr>
          <a:xfrm>
            <a:off x="582836" y="265261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Collective vs. Point-to-Point Communications</a:t>
            </a:r>
            <a:endParaRPr/>
          </a:p>
        </p:txBody>
      </p:sp>
      <p:sp>
        <p:nvSpPr>
          <p:cNvPr id="517" name="Google Shape;517;p48"/>
          <p:cNvSpPr txBox="1"/>
          <p:nvPr>
            <p:ph idx="1" type="body"/>
          </p:nvPr>
        </p:nvSpPr>
        <p:spPr>
          <a:xfrm>
            <a:off x="730289" y="2013098"/>
            <a:ext cx="10891097" cy="391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arguments passed by each process to an MPI collective communication must be “compatible.”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if one process passes in 0 as the </a:t>
            </a:r>
            <a:r>
              <a:rPr lang="en-US">
                <a:solidFill>
                  <a:srgbClr val="0066FF"/>
                </a:solidFill>
              </a:rPr>
              <a:t>dest_process</a:t>
            </a:r>
            <a:r>
              <a:rPr lang="en-US"/>
              <a:t> and another passes in 1, then the outcome of a call to </a:t>
            </a:r>
            <a:r>
              <a:rPr lang="en-US">
                <a:solidFill>
                  <a:srgbClr val="0066FF"/>
                </a:solidFill>
              </a:rPr>
              <a:t>MPI_Reduce</a:t>
            </a:r>
            <a:r>
              <a:rPr lang="en-US"/>
              <a:t> is erroneous, and, once again, the program is likely to hang or crash.</a:t>
            </a:r>
            <a:endParaRPr/>
          </a:p>
        </p:txBody>
      </p:sp>
      <p:sp>
        <p:nvSpPr>
          <p:cNvPr id="518" name="Google Shape;518;p4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9"/>
          <p:cNvSpPr txBox="1"/>
          <p:nvPr>
            <p:ph type="title"/>
          </p:nvPr>
        </p:nvSpPr>
        <p:spPr>
          <a:xfrm>
            <a:off x="954975" y="606057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Collective vs. Point-to-Point Communications</a:t>
            </a:r>
            <a:endParaRPr/>
          </a:p>
        </p:txBody>
      </p:sp>
      <p:sp>
        <p:nvSpPr>
          <p:cNvPr id="524" name="Google Shape;524;p49"/>
          <p:cNvSpPr txBox="1"/>
          <p:nvPr>
            <p:ph idx="1" type="body"/>
          </p:nvPr>
        </p:nvSpPr>
        <p:spPr>
          <a:xfrm>
            <a:off x="838200" y="2402959"/>
            <a:ext cx="10075052" cy="3685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lang="en-US">
                <a:solidFill>
                  <a:srgbClr val="0066FF"/>
                </a:solidFill>
              </a:rPr>
              <a:t>output_data_p </a:t>
            </a:r>
            <a:r>
              <a:rPr lang="en-US"/>
              <a:t>argument is only used on </a:t>
            </a:r>
            <a:r>
              <a:rPr lang="en-US">
                <a:solidFill>
                  <a:srgbClr val="0066FF"/>
                </a:solidFill>
              </a:rPr>
              <a:t>dest_process</a:t>
            </a:r>
            <a:r>
              <a:rPr lang="en-US"/>
              <a:t>. 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However, all of the processes still need to pass in an actual argument corresponding to </a:t>
            </a:r>
            <a:r>
              <a:rPr lang="en-US">
                <a:solidFill>
                  <a:srgbClr val="0066FF"/>
                </a:solidFill>
              </a:rPr>
              <a:t>output_data_p</a:t>
            </a:r>
            <a:r>
              <a:rPr lang="en-US"/>
              <a:t>, even if it’s just </a:t>
            </a:r>
            <a:r>
              <a:rPr lang="en-US">
                <a:solidFill>
                  <a:srgbClr val="0066FF"/>
                </a:solidFill>
              </a:rPr>
              <a:t>NULL</a:t>
            </a:r>
            <a:r>
              <a:rPr lang="en-US"/>
              <a:t>.</a:t>
            </a:r>
            <a:endParaRPr/>
          </a:p>
        </p:txBody>
      </p:sp>
      <p:sp>
        <p:nvSpPr>
          <p:cNvPr id="525" name="Google Shape;525;p4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0"/>
          <p:cNvSpPr txBox="1"/>
          <p:nvPr>
            <p:ph type="title"/>
          </p:nvPr>
        </p:nvSpPr>
        <p:spPr>
          <a:xfrm>
            <a:off x="742324" y="620712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Collective vs. Point-to-Point Communications</a:t>
            </a:r>
            <a:endParaRPr/>
          </a:p>
        </p:txBody>
      </p:sp>
      <p:sp>
        <p:nvSpPr>
          <p:cNvPr id="531" name="Google Shape;531;p50"/>
          <p:cNvSpPr txBox="1"/>
          <p:nvPr>
            <p:ph idx="1" type="body"/>
          </p:nvPr>
        </p:nvSpPr>
        <p:spPr>
          <a:xfrm>
            <a:off x="584792" y="2700670"/>
            <a:ext cx="11079124" cy="3536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Point-to-point communications are matched on the basis of tags and communicators. 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Collective communications don’t use tags.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They’re matched solely on the basis of the communicator and the order in which they’re called.</a:t>
            </a:r>
            <a:endParaRPr/>
          </a:p>
        </p:txBody>
      </p:sp>
      <p:sp>
        <p:nvSpPr>
          <p:cNvPr id="532" name="Google Shape;532;p5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(1)</a:t>
            </a:r>
            <a:endParaRPr/>
          </a:p>
        </p:txBody>
      </p:sp>
      <p:sp>
        <p:nvSpPr>
          <p:cNvPr id="538" name="Google Shape;538;p5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539" name="Google Shape;53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851" y="1773238"/>
            <a:ext cx="8569325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51"/>
          <p:cNvSpPr/>
          <p:nvPr/>
        </p:nvSpPr>
        <p:spPr>
          <a:xfrm>
            <a:off x="3071814" y="3500439"/>
            <a:ext cx="6408737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calls to MPI_Reduce</a:t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(2)</a:t>
            </a:r>
            <a:endParaRPr/>
          </a:p>
        </p:txBody>
      </p:sp>
      <p:sp>
        <p:nvSpPr>
          <p:cNvPr id="546" name="Google Shape;546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that each process calls </a:t>
            </a:r>
            <a:r>
              <a:rPr lang="en-US">
                <a:solidFill>
                  <a:srgbClr val="0066FF"/>
                </a:solidFill>
              </a:rPr>
              <a:t>MPI_Reduce</a:t>
            </a:r>
            <a:r>
              <a:rPr lang="en-US"/>
              <a:t> with operator </a:t>
            </a:r>
            <a:r>
              <a:rPr lang="en-US">
                <a:solidFill>
                  <a:srgbClr val="0066FF"/>
                </a:solidFill>
              </a:rPr>
              <a:t>MPI_SUM</a:t>
            </a:r>
            <a:r>
              <a:rPr lang="en-US"/>
              <a:t>, and destination process 0. 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 first glance, it might seem that after the two calls to </a:t>
            </a:r>
            <a:r>
              <a:rPr lang="en-US">
                <a:solidFill>
                  <a:srgbClr val="0066FF"/>
                </a:solidFill>
              </a:rPr>
              <a:t>MPI_Reduce</a:t>
            </a:r>
            <a:r>
              <a:rPr lang="en-US"/>
              <a:t>, the value of b will be 3, and the value of d will be 6. </a:t>
            </a:r>
            <a:endParaRPr/>
          </a:p>
        </p:txBody>
      </p:sp>
      <p:sp>
        <p:nvSpPr>
          <p:cNvPr id="547" name="Google Shape;547;p5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(3)</a:t>
            </a:r>
            <a:endParaRPr/>
          </a:p>
        </p:txBody>
      </p:sp>
      <p:sp>
        <p:nvSpPr>
          <p:cNvPr id="553" name="Google Shape;553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However, the names of the memory locations are irrelevant to the matching of the calls to </a:t>
            </a:r>
            <a:r>
              <a:rPr lang="en-US">
                <a:solidFill>
                  <a:srgbClr val="0066FF"/>
                </a:solidFill>
              </a:rPr>
              <a:t>MPI_Reduce</a:t>
            </a:r>
            <a:r>
              <a:rPr lang="en-US"/>
              <a:t>. 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order of the calls will determine the matching so the value stored in b will be 1+2+1 = 4, and the value stored in d will be 2+1+2 = 5.</a:t>
            </a:r>
            <a:endParaRPr/>
          </a:p>
        </p:txBody>
      </p:sp>
      <p:sp>
        <p:nvSpPr>
          <p:cNvPr id="554" name="Google Shape;554;p5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4"/>
          <p:cNvSpPr txBox="1"/>
          <p:nvPr>
            <p:ph type="title"/>
          </p:nvPr>
        </p:nvSpPr>
        <p:spPr>
          <a:xfrm>
            <a:off x="689161" y="293686"/>
            <a:ext cx="82819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MPI_Allreduce</a:t>
            </a:r>
            <a:endParaRPr/>
          </a:p>
        </p:txBody>
      </p:sp>
      <p:sp>
        <p:nvSpPr>
          <p:cNvPr id="560" name="Google Shape;560;p54"/>
          <p:cNvSpPr txBox="1"/>
          <p:nvPr>
            <p:ph idx="1" type="body"/>
          </p:nvPr>
        </p:nvSpPr>
        <p:spPr>
          <a:xfrm>
            <a:off x="2208214" y="1125538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Useful in a situation in which all of the processes need the result of a global sum in order to complete some larger computation.</a:t>
            </a:r>
            <a:endParaRPr/>
          </a:p>
        </p:txBody>
      </p:sp>
      <p:sp>
        <p:nvSpPr>
          <p:cNvPr id="561" name="Google Shape;561;p5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562" name="Google Shape;56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188" y="3357564"/>
            <a:ext cx="7993062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08-9780123742605.eps" id="568" name="Google Shape;56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7713" y="908050"/>
            <a:ext cx="3987800" cy="5189538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5"/>
          <p:cNvSpPr txBox="1"/>
          <p:nvPr/>
        </p:nvSpPr>
        <p:spPr>
          <a:xfrm>
            <a:off x="7104063" y="2781300"/>
            <a:ext cx="26717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global sum followed</a:t>
            </a:r>
            <a:b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by distribution of the</a:t>
            </a:r>
            <a:b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result.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09-9780123742605.eps" id="575" name="Google Shape;57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1450" y="908050"/>
            <a:ext cx="6192838" cy="4249738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6"/>
          <p:cNvSpPr txBox="1"/>
          <p:nvPr/>
        </p:nvSpPr>
        <p:spPr>
          <a:xfrm>
            <a:off x="3863975" y="5516563"/>
            <a:ext cx="3917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butterfly-structured global sum.</a:t>
            </a:r>
            <a:endParaRPr/>
          </a:p>
        </p:txBody>
      </p:sp>
      <p:pic>
        <p:nvPicPr>
          <p:cNvPr descr="animals,bugs,butterflies,cropped images,cropped pictures,insects,nature,PNG,transparent background,yellow" id="577" name="Google Shape;577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3688" y="1"/>
            <a:ext cx="1484312" cy="148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Broadcast</a:t>
            </a:r>
            <a:endParaRPr/>
          </a:p>
        </p:txBody>
      </p:sp>
      <p:sp>
        <p:nvSpPr>
          <p:cNvPr id="583" name="Google Shape;583;p57"/>
          <p:cNvSpPr txBox="1"/>
          <p:nvPr>
            <p:ph idx="1" type="body"/>
          </p:nvPr>
        </p:nvSpPr>
        <p:spPr>
          <a:xfrm>
            <a:off x="942939" y="1480345"/>
            <a:ext cx="10515600" cy="187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belonging to a single process is sent to all of the processes in the communicator.</a:t>
            </a:r>
            <a:endParaRPr/>
          </a:p>
        </p:txBody>
      </p:sp>
      <p:sp>
        <p:nvSpPr>
          <p:cNvPr id="584" name="Google Shape;584;p5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585" name="Google Shape;58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1" y="3141664"/>
            <a:ext cx="7834313" cy="201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10-9780123742605.eps" id="591" name="Google Shape;59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088" y="1125538"/>
            <a:ext cx="7200900" cy="49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8"/>
          <p:cNvSpPr txBox="1"/>
          <p:nvPr/>
        </p:nvSpPr>
        <p:spPr>
          <a:xfrm>
            <a:off x="5087938" y="1268413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tree-structured broadcast.</a:t>
            </a:r>
            <a:endParaRPr/>
          </a:p>
        </p:txBody>
      </p:sp>
      <p:pic>
        <p:nvPicPr>
          <p:cNvPr descr="conservation,cropped images,cropped pictures,growing,nature,plants,PNG,transparent background,trees,woods" id="593" name="Google Shape;59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9825" y="260350"/>
            <a:ext cx="1701800" cy="17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9"/>
          <p:cNvSpPr txBox="1"/>
          <p:nvPr>
            <p:ph type="title"/>
          </p:nvPr>
        </p:nvSpPr>
        <p:spPr>
          <a:xfrm>
            <a:off x="191386" y="1"/>
            <a:ext cx="1015435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version of Get_input that uses MPI_Bcast</a:t>
            </a:r>
            <a:endParaRPr/>
          </a:p>
        </p:txBody>
      </p:sp>
      <p:sp>
        <p:nvSpPr>
          <p:cNvPr id="599" name="Google Shape;599;p5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00" name="Google Shape;60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1450" y="1557339"/>
            <a:ext cx="7162800" cy="4256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distributions</a:t>
            </a:r>
            <a:endParaRPr/>
          </a:p>
        </p:txBody>
      </p:sp>
      <p:sp>
        <p:nvSpPr>
          <p:cNvPr id="606" name="Google Shape;606;p6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07" name="Google Shape;60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550" y="1700213"/>
            <a:ext cx="6529388" cy="208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60"/>
          <p:cNvSpPr txBox="1"/>
          <p:nvPr/>
        </p:nvSpPr>
        <p:spPr>
          <a:xfrm>
            <a:off x="6383338" y="4508500"/>
            <a:ext cx="2832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Compute a vector sum.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1"/>
          <p:cNvSpPr txBox="1"/>
          <p:nvPr>
            <p:ph type="title"/>
          </p:nvPr>
        </p:nvSpPr>
        <p:spPr>
          <a:xfrm>
            <a:off x="468866" y="520997"/>
            <a:ext cx="9757809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Serial implementation of vector addition</a:t>
            </a:r>
            <a:endParaRPr/>
          </a:p>
        </p:txBody>
      </p:sp>
      <p:sp>
        <p:nvSpPr>
          <p:cNvPr id="614" name="Google Shape;614;p6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15" name="Google Shape;61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1" y="1989139"/>
            <a:ext cx="816292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2"/>
          <p:cNvSpPr txBox="1"/>
          <p:nvPr>
            <p:ph type="title"/>
          </p:nvPr>
        </p:nvSpPr>
        <p:spPr>
          <a:xfrm>
            <a:off x="425303" y="0"/>
            <a:ext cx="9991874" cy="1938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Different partitions of a 12-component vector among 3 processes</a:t>
            </a:r>
            <a:endParaRPr/>
          </a:p>
        </p:txBody>
      </p:sp>
      <p:sp>
        <p:nvSpPr>
          <p:cNvPr id="621" name="Google Shape;621;p6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22" name="Google Shape;62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313" y="2420939"/>
            <a:ext cx="8375650" cy="259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Partitioning options</a:t>
            </a:r>
            <a:endParaRPr/>
          </a:p>
        </p:txBody>
      </p:sp>
      <p:sp>
        <p:nvSpPr>
          <p:cNvPr id="628" name="Google Shape;628;p6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Block partitioning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Assign blocks of consecutive components to each process.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Cyclic partitioning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Assign components in a round robin fashion.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Block-cyclic partitioning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a cyclic distribution of blocks of components.</a:t>
            </a:r>
            <a:endParaRPr/>
          </a:p>
        </p:txBody>
      </p:sp>
      <p:sp>
        <p:nvSpPr>
          <p:cNvPr id="629" name="Google Shape;629;p6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4"/>
          <p:cNvSpPr txBox="1"/>
          <p:nvPr>
            <p:ph type="title"/>
          </p:nvPr>
        </p:nvSpPr>
        <p:spPr>
          <a:xfrm>
            <a:off x="447600" y="318977"/>
            <a:ext cx="9802185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Parallel implementation of </a:t>
            </a:r>
            <a:br>
              <a:rPr lang="en-US"/>
            </a:br>
            <a:r>
              <a:rPr lang="en-US"/>
              <a:t>vector addition</a:t>
            </a:r>
            <a:endParaRPr/>
          </a:p>
        </p:txBody>
      </p:sp>
      <p:sp>
        <p:nvSpPr>
          <p:cNvPr id="635" name="Google Shape;635;p6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36" name="Google Shape;63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188" y="1773238"/>
            <a:ext cx="7988300" cy="2735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Scatter</a:t>
            </a:r>
            <a:endParaRPr/>
          </a:p>
        </p:txBody>
      </p:sp>
      <p:sp>
        <p:nvSpPr>
          <p:cNvPr id="642" name="Google Shape;642;p65"/>
          <p:cNvSpPr txBox="1"/>
          <p:nvPr>
            <p:ph idx="1" type="body"/>
          </p:nvPr>
        </p:nvSpPr>
        <p:spPr>
          <a:xfrm>
            <a:off x="1134326" y="1491531"/>
            <a:ext cx="10423265" cy="208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MPI_Scatter can be used in a function that reads in an entire vector on process 0 but only sends the needed components to each of the other processes.</a:t>
            </a:r>
            <a:endParaRPr/>
          </a:p>
        </p:txBody>
      </p:sp>
      <p:sp>
        <p:nvSpPr>
          <p:cNvPr id="643" name="Google Shape;643;p6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44" name="Google Shape;6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276" y="3357563"/>
            <a:ext cx="526732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Reading and distributing a vector</a:t>
            </a:r>
            <a:endParaRPr/>
          </a:p>
        </p:txBody>
      </p:sp>
      <p:sp>
        <p:nvSpPr>
          <p:cNvPr id="650" name="Google Shape;650;p6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51" name="Google Shape;65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8213" y="1318437"/>
            <a:ext cx="7416800" cy="4780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Gather</a:t>
            </a:r>
            <a:endParaRPr/>
          </a:p>
        </p:txBody>
      </p:sp>
      <p:sp>
        <p:nvSpPr>
          <p:cNvPr id="657" name="Google Shape;657;p67"/>
          <p:cNvSpPr txBox="1"/>
          <p:nvPr>
            <p:ph idx="1" type="body"/>
          </p:nvPr>
        </p:nvSpPr>
        <p:spPr>
          <a:xfrm>
            <a:off x="1081162" y="1370566"/>
            <a:ext cx="10667815" cy="208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Collect all of the components of the vector onto process 0, and then process 0 can process all of the components.</a:t>
            </a:r>
            <a:endParaRPr/>
          </a:p>
        </p:txBody>
      </p:sp>
      <p:sp>
        <p:nvSpPr>
          <p:cNvPr id="658" name="Google Shape;658;p6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59" name="Google Shape;65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7350" y="2852738"/>
            <a:ext cx="63119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Print a distributed vector (1)</a:t>
            </a:r>
            <a:endParaRPr/>
          </a:p>
        </p:txBody>
      </p:sp>
      <p:sp>
        <p:nvSpPr>
          <p:cNvPr id="665" name="Google Shape;665;p6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66" name="Google Shape;66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6988" y="1690688"/>
            <a:ext cx="7605712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Print a distributed vector (2)</a:t>
            </a:r>
            <a:endParaRPr/>
          </a:p>
        </p:txBody>
      </p:sp>
      <p:sp>
        <p:nvSpPr>
          <p:cNvPr id="672" name="Google Shape;672;p6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73" name="Google Shape;67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951" y="1676400"/>
            <a:ext cx="8418513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Allgather</a:t>
            </a:r>
            <a:endParaRPr/>
          </a:p>
        </p:txBody>
      </p:sp>
      <p:sp>
        <p:nvSpPr>
          <p:cNvPr id="679" name="Google Shape;679;p70"/>
          <p:cNvSpPr txBox="1"/>
          <p:nvPr>
            <p:ph idx="1" type="body"/>
          </p:nvPr>
        </p:nvSpPr>
        <p:spPr>
          <a:xfrm>
            <a:off x="838200" y="1341438"/>
            <a:ext cx="10804451" cy="208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Concatenates the contents of each process’ </a:t>
            </a:r>
            <a:r>
              <a:rPr lang="en-US">
                <a:solidFill>
                  <a:srgbClr val="0066FF"/>
                </a:solidFill>
              </a:rPr>
              <a:t>send_buf_p</a:t>
            </a:r>
            <a:r>
              <a:rPr lang="en-US"/>
              <a:t> and stores this in each process’ </a:t>
            </a:r>
            <a:r>
              <a:rPr lang="en-US">
                <a:solidFill>
                  <a:srgbClr val="0066FF"/>
                </a:solidFill>
              </a:rPr>
              <a:t>recv_buf_p</a:t>
            </a:r>
            <a:r>
              <a:rPr lang="en-US"/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 usual, </a:t>
            </a:r>
            <a:r>
              <a:rPr lang="en-US">
                <a:solidFill>
                  <a:srgbClr val="0066FF"/>
                </a:solidFill>
              </a:rPr>
              <a:t>recv_count</a:t>
            </a:r>
            <a:r>
              <a:rPr lang="en-US"/>
              <a:t> is the amount of data being received from each process.</a:t>
            </a:r>
            <a:endParaRPr/>
          </a:p>
        </p:txBody>
      </p:sp>
      <p:sp>
        <p:nvSpPr>
          <p:cNvPr id="680" name="Google Shape;680;p7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81" name="Google Shape;68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1814" y="3789363"/>
            <a:ext cx="5578475" cy="223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1"/>
          <p:cNvSpPr txBox="1"/>
          <p:nvPr>
            <p:ph type="title"/>
          </p:nvPr>
        </p:nvSpPr>
        <p:spPr>
          <a:xfrm>
            <a:off x="622302" y="358865"/>
            <a:ext cx="82819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Matrix-vector multiplication</a:t>
            </a:r>
            <a:endParaRPr/>
          </a:p>
        </p:txBody>
      </p:sp>
      <p:sp>
        <p:nvSpPr>
          <p:cNvPr id="687" name="Google Shape;687;p7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688" name="Google Shape;68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113" y="4076701"/>
            <a:ext cx="6240462" cy="72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213" y="1125539"/>
            <a:ext cx="4367212" cy="503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876" y="2133601"/>
            <a:ext cx="4824413" cy="377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1" name="Google Shape;691;p71"/>
          <p:cNvGrpSpPr/>
          <p:nvPr/>
        </p:nvGrpSpPr>
        <p:grpSpPr>
          <a:xfrm>
            <a:off x="2424113" y="2997200"/>
            <a:ext cx="5759450" cy="431800"/>
            <a:chOff x="1043608" y="2996952"/>
            <a:chExt cx="5760640" cy="432048"/>
          </a:xfrm>
        </p:grpSpPr>
        <p:pic>
          <p:nvPicPr>
            <p:cNvPr id="692" name="Google Shape;692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43608" y="3053959"/>
              <a:ext cx="1080120" cy="37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3" name="Google Shape;693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195736" y="2996952"/>
              <a:ext cx="4608512" cy="43204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94" name="Google Shape;694;p71"/>
          <p:cNvCxnSpPr/>
          <p:nvPr/>
        </p:nvCxnSpPr>
        <p:spPr>
          <a:xfrm>
            <a:off x="4800600" y="1773239"/>
            <a:ext cx="503238" cy="287337"/>
          </a:xfrm>
          <a:prstGeom prst="straightConnector1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5" name="Google Shape;695;p71"/>
          <p:cNvCxnSpPr/>
          <p:nvPr/>
        </p:nvCxnSpPr>
        <p:spPr>
          <a:xfrm flipH="1">
            <a:off x="4872039" y="2565401"/>
            <a:ext cx="503237" cy="358775"/>
          </a:xfrm>
          <a:prstGeom prst="straightConnector1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6" name="Google Shape;696;p71"/>
          <p:cNvCxnSpPr/>
          <p:nvPr/>
        </p:nvCxnSpPr>
        <p:spPr>
          <a:xfrm>
            <a:off x="4872038" y="3500438"/>
            <a:ext cx="671512" cy="576262"/>
          </a:xfrm>
          <a:prstGeom prst="straightConnector1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97" name="Google Shape;697;p71"/>
          <p:cNvSpPr txBox="1"/>
          <p:nvPr/>
        </p:nvSpPr>
        <p:spPr>
          <a:xfrm>
            <a:off x="2279650" y="5013325"/>
            <a:ext cx="2362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i-th component of y</a:t>
            </a:r>
            <a:endParaRPr/>
          </a:p>
        </p:txBody>
      </p:sp>
      <p:sp>
        <p:nvSpPr>
          <p:cNvPr id="698" name="Google Shape;698;p71"/>
          <p:cNvSpPr txBox="1"/>
          <p:nvPr/>
        </p:nvSpPr>
        <p:spPr>
          <a:xfrm>
            <a:off x="5232400" y="5229226"/>
            <a:ext cx="255905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Dot product of the ith</a:t>
            </a:r>
            <a:b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row of A with x.</a:t>
            </a:r>
            <a:endParaRPr/>
          </a:p>
        </p:txBody>
      </p:sp>
      <p:cxnSp>
        <p:nvCxnSpPr>
          <p:cNvPr id="699" name="Google Shape;699;p71"/>
          <p:cNvCxnSpPr/>
          <p:nvPr/>
        </p:nvCxnSpPr>
        <p:spPr>
          <a:xfrm flipH="1" rot="5400000">
            <a:off x="2927351" y="4724401"/>
            <a:ext cx="288925" cy="288925"/>
          </a:xfrm>
          <a:prstGeom prst="straightConnector1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0" name="Google Shape;700;p71"/>
          <p:cNvCxnSpPr/>
          <p:nvPr/>
        </p:nvCxnSpPr>
        <p:spPr>
          <a:xfrm rot="-5400000">
            <a:off x="5735638" y="5013325"/>
            <a:ext cx="360362" cy="71438"/>
          </a:xfrm>
          <a:prstGeom prst="straightConnector1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2"/>
          <p:cNvSpPr txBox="1"/>
          <p:nvPr>
            <p:ph type="title"/>
          </p:nvPr>
        </p:nvSpPr>
        <p:spPr>
          <a:xfrm>
            <a:off x="838200" y="566739"/>
            <a:ext cx="82819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Matrix-vector multiplication</a:t>
            </a:r>
            <a:endParaRPr/>
          </a:p>
        </p:txBody>
      </p:sp>
      <p:sp>
        <p:nvSpPr>
          <p:cNvPr id="706" name="Google Shape;706;p7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707" name="Google Shape;70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1" y="1700213"/>
            <a:ext cx="8012113" cy="2233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Multiply a matrix by a vector</a:t>
            </a:r>
            <a:endParaRPr/>
          </a:p>
        </p:txBody>
      </p:sp>
      <p:sp>
        <p:nvSpPr>
          <p:cNvPr id="713" name="Google Shape;713;p7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sp>
        <p:nvSpPr>
          <p:cNvPr id="714" name="Google Shape;714;p73"/>
          <p:cNvSpPr txBox="1"/>
          <p:nvPr/>
        </p:nvSpPr>
        <p:spPr>
          <a:xfrm>
            <a:off x="6096000" y="4652963"/>
            <a:ext cx="23955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Serial pseudo-code</a:t>
            </a:r>
            <a:endParaRPr/>
          </a:p>
        </p:txBody>
      </p:sp>
      <p:grpSp>
        <p:nvGrpSpPr>
          <p:cNvPr id="715" name="Google Shape;715;p73"/>
          <p:cNvGrpSpPr/>
          <p:nvPr/>
        </p:nvGrpSpPr>
        <p:grpSpPr>
          <a:xfrm>
            <a:off x="2279651" y="1700213"/>
            <a:ext cx="7572375" cy="2665412"/>
            <a:chOff x="755576" y="1700808"/>
            <a:chExt cx="7573035" cy="2664296"/>
          </a:xfrm>
        </p:grpSpPr>
        <p:pic>
          <p:nvPicPr>
            <p:cNvPr id="716" name="Google Shape;716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5576" y="1700808"/>
              <a:ext cx="7573035" cy="16561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7" name="Google Shape;717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5576" y="3068960"/>
              <a:ext cx="4905835" cy="12961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 style arrays</a:t>
            </a:r>
            <a:endParaRPr/>
          </a:p>
        </p:txBody>
      </p:sp>
      <p:sp>
        <p:nvSpPr>
          <p:cNvPr id="723" name="Google Shape;723;p7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724" name="Google Shape;72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188" y="1341438"/>
            <a:ext cx="3313112" cy="17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9151" y="4437063"/>
            <a:ext cx="5224463" cy="75565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74"/>
          <p:cNvSpPr txBox="1"/>
          <p:nvPr/>
        </p:nvSpPr>
        <p:spPr>
          <a:xfrm>
            <a:off x="7319964" y="2565400"/>
            <a:ext cx="198278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</a:pPr>
            <a:r>
              <a:rPr i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stored  as</a:t>
            </a:r>
            <a:endParaRPr/>
          </a:p>
        </p:txBody>
      </p:sp>
      <p:sp>
        <p:nvSpPr>
          <p:cNvPr id="727" name="Google Shape;727;p74"/>
          <p:cNvSpPr/>
          <p:nvPr/>
        </p:nvSpPr>
        <p:spPr>
          <a:xfrm>
            <a:off x="5487989" y="2011364"/>
            <a:ext cx="2790825" cy="579437"/>
          </a:xfrm>
          <a:custGeom>
            <a:rect b="b" l="l" r="r" t="t"/>
            <a:pathLst>
              <a:path extrusionOk="0" h="580189" w="2791326">
                <a:moveTo>
                  <a:pt x="0" y="82884"/>
                </a:moveTo>
                <a:cubicBezTo>
                  <a:pt x="898358" y="41442"/>
                  <a:pt x="1796716" y="0"/>
                  <a:pt x="2261937" y="82884"/>
                </a:cubicBezTo>
                <a:cubicBezTo>
                  <a:pt x="2727158" y="165768"/>
                  <a:pt x="2759242" y="372978"/>
                  <a:pt x="2791326" y="580189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74"/>
          <p:cNvSpPr/>
          <p:nvPr/>
        </p:nvSpPr>
        <p:spPr>
          <a:xfrm>
            <a:off x="4584700" y="3240089"/>
            <a:ext cx="4343400" cy="1235075"/>
          </a:xfrm>
          <a:custGeom>
            <a:rect b="b" l="l" r="r" t="t"/>
            <a:pathLst>
              <a:path extrusionOk="0" h="1235242" w="4342062">
                <a:moveTo>
                  <a:pt x="3804652" y="0"/>
                </a:moveTo>
                <a:cubicBezTo>
                  <a:pt x="4073357" y="279400"/>
                  <a:pt x="4342062" y="558801"/>
                  <a:pt x="3804652" y="657727"/>
                </a:cubicBezTo>
                <a:cubicBezTo>
                  <a:pt x="3267242" y="756653"/>
                  <a:pt x="1160379" y="497306"/>
                  <a:pt x="580189" y="593558"/>
                </a:cubicBezTo>
                <a:cubicBezTo>
                  <a:pt x="0" y="689811"/>
                  <a:pt x="161757" y="962526"/>
                  <a:pt x="323515" y="1235242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5"/>
          <p:cNvSpPr txBox="1"/>
          <p:nvPr>
            <p:ph type="title"/>
          </p:nvPr>
        </p:nvSpPr>
        <p:spPr>
          <a:xfrm>
            <a:off x="550938" y="361508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Serial matrix-vector multiplication</a:t>
            </a:r>
            <a:endParaRPr/>
          </a:p>
        </p:txBody>
      </p:sp>
      <p:sp>
        <p:nvSpPr>
          <p:cNvPr id="734" name="Google Shape;734;p7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735" name="Google Shape;73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3613" y="1557338"/>
            <a:ext cx="5040312" cy="4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6"/>
          <p:cNvSpPr txBox="1"/>
          <p:nvPr>
            <p:ph type="title"/>
          </p:nvPr>
        </p:nvSpPr>
        <p:spPr>
          <a:xfrm>
            <a:off x="476510" y="326066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 MPI matrix-vector multiplication function (1)</a:t>
            </a:r>
            <a:endParaRPr/>
          </a:p>
        </p:txBody>
      </p:sp>
      <p:sp>
        <p:nvSpPr>
          <p:cNvPr id="741" name="Google Shape;741;p7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742" name="Google Shape;742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6988" y="1628776"/>
            <a:ext cx="6769100" cy="384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77"/>
          <p:cNvSpPr txBox="1"/>
          <p:nvPr>
            <p:ph type="title"/>
          </p:nvPr>
        </p:nvSpPr>
        <p:spPr>
          <a:xfrm>
            <a:off x="540306" y="520700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 MPI matrix-vector multiplication function (2)</a:t>
            </a:r>
            <a:endParaRPr/>
          </a:p>
        </p:txBody>
      </p:sp>
      <p:sp>
        <p:nvSpPr>
          <p:cNvPr id="748" name="Google Shape;748;p7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749" name="Google Shape;74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314" y="1844675"/>
            <a:ext cx="8091487" cy="340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78"/>
          <p:cNvSpPr txBox="1"/>
          <p:nvPr>
            <p:ph type="title"/>
          </p:nvPr>
        </p:nvSpPr>
        <p:spPr>
          <a:xfrm>
            <a:off x="2246313" y="4406901"/>
            <a:ext cx="77724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MPI derived datatypes</a:t>
            </a:r>
            <a:endParaRPr/>
          </a:p>
        </p:txBody>
      </p:sp>
      <p:sp>
        <p:nvSpPr>
          <p:cNvPr id="755" name="Google Shape;755;p7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View Details" id="756" name="Google Shape;756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2349500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Derived datatypes</a:t>
            </a:r>
            <a:endParaRPr/>
          </a:p>
        </p:txBody>
      </p:sp>
      <p:sp>
        <p:nvSpPr>
          <p:cNvPr id="762" name="Google Shape;762;p7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Used to represent any collection of data items in memory by storing both the types of the items and their relative locations in memory.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idea is that if a function that sends data knows this information about a collection of data items, it can collect the items from memory before they are sent.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Similarly, a function that receives data can distribute the items into their correct destinations in memory when they’re received.</a:t>
            </a:r>
            <a:endParaRPr/>
          </a:p>
        </p:txBody>
      </p:sp>
      <p:sp>
        <p:nvSpPr>
          <p:cNvPr id="763" name="Google Shape;763;p7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8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Derived datatypes</a:t>
            </a:r>
            <a:endParaRPr/>
          </a:p>
        </p:txBody>
      </p:sp>
      <p:sp>
        <p:nvSpPr>
          <p:cNvPr id="769" name="Google Shape;769;p80"/>
          <p:cNvSpPr txBox="1"/>
          <p:nvPr>
            <p:ph idx="1" type="body"/>
          </p:nvPr>
        </p:nvSpPr>
        <p:spPr>
          <a:xfrm>
            <a:off x="838200" y="1547960"/>
            <a:ext cx="9640889" cy="188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Formally, consists of a sequence of basic MPI data types together with a displacement for each of the data types.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Trapezoidal Rule example:</a:t>
            </a:r>
            <a:endParaRPr/>
          </a:p>
        </p:txBody>
      </p:sp>
      <p:sp>
        <p:nvSpPr>
          <p:cNvPr id="770" name="Google Shape;770;p8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771" name="Google Shape;77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8214" y="3644900"/>
            <a:ext cx="2592387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7576" y="4292601"/>
            <a:ext cx="548957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81"/>
          <p:cNvSpPr txBox="1"/>
          <p:nvPr>
            <p:ph type="title"/>
          </p:nvPr>
        </p:nvSpPr>
        <p:spPr>
          <a:xfrm>
            <a:off x="657264" y="351631"/>
            <a:ext cx="82819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MPI_Type create_struct</a:t>
            </a:r>
            <a:endParaRPr/>
          </a:p>
        </p:txBody>
      </p:sp>
      <p:sp>
        <p:nvSpPr>
          <p:cNvPr id="778" name="Google Shape;778;p81"/>
          <p:cNvSpPr txBox="1"/>
          <p:nvPr>
            <p:ph idx="1" type="body"/>
          </p:nvPr>
        </p:nvSpPr>
        <p:spPr>
          <a:xfrm>
            <a:off x="996103" y="1492250"/>
            <a:ext cx="8270875" cy="187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Builds a derived datatype that consists of individual elements that have different basic types.</a:t>
            </a:r>
            <a:endParaRPr/>
          </a:p>
        </p:txBody>
      </p:sp>
      <p:sp>
        <p:nvSpPr>
          <p:cNvPr id="779" name="Google Shape;779;p8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780" name="Google Shape;780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9" y="3141663"/>
            <a:ext cx="8410575" cy="183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82"/>
          <p:cNvSpPr txBox="1"/>
          <p:nvPr>
            <p:ph type="title"/>
          </p:nvPr>
        </p:nvSpPr>
        <p:spPr>
          <a:xfrm>
            <a:off x="731691" y="423863"/>
            <a:ext cx="82819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MPI_Get_address</a:t>
            </a:r>
            <a:endParaRPr/>
          </a:p>
        </p:txBody>
      </p:sp>
      <p:sp>
        <p:nvSpPr>
          <p:cNvPr id="786" name="Google Shape;786;p82"/>
          <p:cNvSpPr txBox="1"/>
          <p:nvPr>
            <p:ph idx="1" type="body"/>
          </p:nvPr>
        </p:nvSpPr>
        <p:spPr>
          <a:xfrm>
            <a:off x="838200" y="1484311"/>
            <a:ext cx="10347251" cy="187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Returns the address of the memory location referenced by </a:t>
            </a:r>
            <a:r>
              <a:rPr lang="en-US">
                <a:solidFill>
                  <a:srgbClr val="0066FF"/>
                </a:solidFill>
              </a:rPr>
              <a:t>location_p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special type </a:t>
            </a:r>
            <a:r>
              <a:rPr lang="en-US">
                <a:solidFill>
                  <a:srgbClr val="0066FF"/>
                </a:solidFill>
              </a:rPr>
              <a:t>MPI_Aint</a:t>
            </a:r>
            <a:r>
              <a:rPr lang="en-US"/>
              <a:t> is an integer type that is big enough to store an address on the system.</a:t>
            </a:r>
            <a:endParaRPr/>
          </a:p>
        </p:txBody>
      </p:sp>
      <p:sp>
        <p:nvSpPr>
          <p:cNvPr id="787" name="Google Shape;787;p8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788" name="Google Shape;788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088" y="4149726"/>
            <a:ext cx="7404100" cy="1223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83"/>
          <p:cNvSpPr txBox="1"/>
          <p:nvPr>
            <p:ph type="title"/>
          </p:nvPr>
        </p:nvSpPr>
        <p:spPr>
          <a:xfrm>
            <a:off x="681518" y="315912"/>
            <a:ext cx="8281988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MPI_Type_commit</a:t>
            </a:r>
            <a:endParaRPr/>
          </a:p>
        </p:txBody>
      </p:sp>
      <p:sp>
        <p:nvSpPr>
          <p:cNvPr id="794" name="Google Shape;794;p83"/>
          <p:cNvSpPr txBox="1"/>
          <p:nvPr>
            <p:ph idx="1" type="body"/>
          </p:nvPr>
        </p:nvSpPr>
        <p:spPr>
          <a:xfrm>
            <a:off x="692631" y="1404533"/>
            <a:ext cx="11183936" cy="187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Allows the MPI implementation to optimize its internal representation of the datatype for use in communication functions.</a:t>
            </a:r>
            <a:endParaRPr/>
          </a:p>
        </p:txBody>
      </p:sp>
      <p:sp>
        <p:nvSpPr>
          <p:cNvPr id="795" name="Google Shape;795;p8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796" name="Google Shape;79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1" y="3213101"/>
            <a:ext cx="8113713" cy="360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4"/>
          <p:cNvSpPr txBox="1"/>
          <p:nvPr>
            <p:ph type="title"/>
          </p:nvPr>
        </p:nvSpPr>
        <p:spPr>
          <a:xfrm>
            <a:off x="635999" y="580232"/>
            <a:ext cx="82819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MPI_Type_free</a:t>
            </a:r>
            <a:endParaRPr/>
          </a:p>
        </p:txBody>
      </p:sp>
      <p:sp>
        <p:nvSpPr>
          <p:cNvPr id="802" name="Google Shape;802;p84"/>
          <p:cNvSpPr txBox="1"/>
          <p:nvPr>
            <p:ph idx="1" type="body"/>
          </p:nvPr>
        </p:nvSpPr>
        <p:spPr>
          <a:xfrm>
            <a:off x="838200" y="1901825"/>
            <a:ext cx="10559902" cy="187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we’re finished with our new type, this frees any additional storage used.</a:t>
            </a:r>
            <a:endParaRPr/>
          </a:p>
        </p:txBody>
      </p:sp>
      <p:sp>
        <p:nvSpPr>
          <p:cNvPr id="803" name="Google Shape;803;p8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04" name="Google Shape;804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189" y="2924176"/>
            <a:ext cx="8078787" cy="360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5"/>
          <p:cNvSpPr txBox="1"/>
          <p:nvPr>
            <p:ph type="title"/>
          </p:nvPr>
        </p:nvSpPr>
        <p:spPr>
          <a:xfrm>
            <a:off x="476510" y="343696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Get input function with a derived datatype (1)</a:t>
            </a:r>
            <a:endParaRPr/>
          </a:p>
        </p:txBody>
      </p:sp>
      <p:sp>
        <p:nvSpPr>
          <p:cNvPr id="810" name="Google Shape;810;p8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11" name="Google Shape;81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9" y="1916114"/>
            <a:ext cx="8408987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86"/>
          <p:cNvSpPr txBox="1"/>
          <p:nvPr>
            <p:ph type="title"/>
          </p:nvPr>
        </p:nvSpPr>
        <p:spPr>
          <a:xfrm>
            <a:off x="838200" y="457201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Get input function with a derived datatype (2)</a:t>
            </a:r>
            <a:endParaRPr/>
          </a:p>
        </p:txBody>
      </p:sp>
      <p:sp>
        <p:nvSpPr>
          <p:cNvPr id="817" name="Google Shape;817;p8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18" name="Google Shape;81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9" y="1916113"/>
            <a:ext cx="8593137" cy="3529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87"/>
          <p:cNvSpPr txBox="1"/>
          <p:nvPr>
            <p:ph type="title"/>
          </p:nvPr>
        </p:nvSpPr>
        <p:spPr>
          <a:xfrm>
            <a:off x="519040" y="376238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Get input function with a derived datatype (3)</a:t>
            </a:r>
            <a:endParaRPr/>
          </a:p>
        </p:txBody>
      </p:sp>
      <p:sp>
        <p:nvSpPr>
          <p:cNvPr id="824" name="Google Shape;824;p8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25" name="Google Shape;825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8" y="1700213"/>
            <a:ext cx="8470900" cy="3744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8"/>
          <p:cNvSpPr txBox="1"/>
          <p:nvPr>
            <p:ph type="title"/>
          </p:nvPr>
        </p:nvSpPr>
        <p:spPr>
          <a:xfrm>
            <a:off x="2246313" y="4406901"/>
            <a:ext cx="77724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Performance evaluation</a:t>
            </a:r>
            <a:endParaRPr/>
          </a:p>
        </p:txBody>
      </p:sp>
      <p:sp>
        <p:nvSpPr>
          <p:cNvPr id="831" name="Google Shape;831;p8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egg timers,hourglasses,households,Photographs,timers" id="832" name="Google Shape;832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2264" y="1052514"/>
            <a:ext cx="3095625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Elapsed parallel time</a:t>
            </a:r>
            <a:endParaRPr/>
          </a:p>
        </p:txBody>
      </p:sp>
      <p:sp>
        <p:nvSpPr>
          <p:cNvPr id="838" name="Google Shape;838;p89"/>
          <p:cNvSpPr txBox="1"/>
          <p:nvPr>
            <p:ph idx="1" type="body"/>
          </p:nvPr>
        </p:nvSpPr>
        <p:spPr>
          <a:xfrm>
            <a:off x="719656" y="1471613"/>
            <a:ext cx="10922995" cy="158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Returns the number of seconds that have elapsed since some time in the past.</a:t>
            </a:r>
            <a:endParaRPr/>
          </a:p>
        </p:txBody>
      </p:sp>
      <p:sp>
        <p:nvSpPr>
          <p:cNvPr id="839" name="Google Shape;839;p8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40" name="Google Shape;84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8" y="2420938"/>
            <a:ext cx="3471862" cy="47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5914" y="3213101"/>
            <a:ext cx="6624637" cy="2392363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89"/>
          <p:cNvSpPr/>
          <p:nvPr/>
        </p:nvSpPr>
        <p:spPr>
          <a:xfrm>
            <a:off x="5422900" y="2379664"/>
            <a:ext cx="3365500" cy="1679575"/>
          </a:xfrm>
          <a:custGeom>
            <a:rect b="b" l="l" r="r" t="t"/>
            <a:pathLst>
              <a:path extrusionOk="0" h="1679074" w="3366167">
                <a:moveTo>
                  <a:pt x="0" y="267368"/>
                </a:moveTo>
                <a:cubicBezTo>
                  <a:pt x="1332831" y="133684"/>
                  <a:pt x="2665663" y="0"/>
                  <a:pt x="3015915" y="235284"/>
                </a:cubicBezTo>
                <a:cubicBezTo>
                  <a:pt x="3366167" y="470568"/>
                  <a:pt x="2733841" y="1074821"/>
                  <a:pt x="2101515" y="1679074"/>
                </a:cubicBezTo>
              </a:path>
            </a:pathLst>
          </a:custGeom>
          <a:noFill/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Elapsed serial time</a:t>
            </a:r>
            <a:endParaRPr/>
          </a:p>
        </p:txBody>
      </p:sp>
      <p:sp>
        <p:nvSpPr>
          <p:cNvPr id="848" name="Google Shape;848;p90"/>
          <p:cNvSpPr txBox="1"/>
          <p:nvPr>
            <p:ph idx="1" type="body"/>
          </p:nvPr>
        </p:nvSpPr>
        <p:spPr>
          <a:xfrm>
            <a:off x="970756" y="1466850"/>
            <a:ext cx="105156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case, you don’t need to link in the MPI libraries.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Returns time in microseconds elapsed from some point in the past.</a:t>
            </a:r>
            <a:endParaRPr/>
          </a:p>
        </p:txBody>
      </p:sp>
      <p:sp>
        <p:nvSpPr>
          <p:cNvPr id="849" name="Google Shape;849;p9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50" name="Google Shape;85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9150" y="3500438"/>
            <a:ext cx="3494088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ew Details" id="851" name="Google Shape;851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1763" y="3933825"/>
            <a:ext cx="1130300" cy="11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Elapsed serial time</a:t>
            </a:r>
            <a:endParaRPr/>
          </a:p>
        </p:txBody>
      </p:sp>
      <p:sp>
        <p:nvSpPr>
          <p:cNvPr id="857" name="Google Shape;857;p9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58" name="Google Shape;85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314" y="1484313"/>
            <a:ext cx="794067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92"/>
          <p:cNvSpPr txBox="1"/>
          <p:nvPr>
            <p:ph type="title"/>
          </p:nvPr>
        </p:nvSpPr>
        <p:spPr>
          <a:xfrm>
            <a:off x="710426" y="414336"/>
            <a:ext cx="82819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MPI_Barrier</a:t>
            </a:r>
            <a:endParaRPr/>
          </a:p>
        </p:txBody>
      </p:sp>
      <p:sp>
        <p:nvSpPr>
          <p:cNvPr id="864" name="Google Shape;864;p92"/>
          <p:cNvSpPr txBox="1"/>
          <p:nvPr>
            <p:ph idx="1" type="body"/>
          </p:nvPr>
        </p:nvSpPr>
        <p:spPr>
          <a:xfrm>
            <a:off x="721538" y="1567563"/>
            <a:ext cx="11229457" cy="187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Ensures that no process will return from calling it until every process in the communicator has started calling it.</a:t>
            </a:r>
            <a:endParaRPr/>
          </a:p>
        </p:txBody>
      </p:sp>
      <p:sp>
        <p:nvSpPr>
          <p:cNvPr id="865" name="Google Shape;865;p9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66" name="Google Shape;86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314" y="3357564"/>
            <a:ext cx="7951787" cy="503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rriers,caution barriers,construction,hardware,industries,industry,objects,Photographs,road construction,tools,traffic controls,transportation,warning lights" id="867" name="Google Shape;867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2125" y="4076700"/>
            <a:ext cx="19431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93"/>
          <p:cNvSpPr txBox="1"/>
          <p:nvPr>
            <p:ph type="title"/>
          </p:nvPr>
        </p:nvSpPr>
        <p:spPr>
          <a:xfrm>
            <a:off x="1103831" y="382588"/>
            <a:ext cx="82819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MPI_Barrier</a:t>
            </a:r>
            <a:endParaRPr/>
          </a:p>
        </p:txBody>
      </p:sp>
      <p:sp>
        <p:nvSpPr>
          <p:cNvPr id="873" name="Google Shape;873;p9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74" name="Google Shape;87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8" y="1341438"/>
            <a:ext cx="8469312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9289" y="3284538"/>
            <a:ext cx="7056437" cy="2112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94"/>
          <p:cNvSpPr txBox="1"/>
          <p:nvPr>
            <p:ph type="title"/>
          </p:nvPr>
        </p:nvSpPr>
        <p:spPr>
          <a:xfrm>
            <a:off x="966788" y="304800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Run-times of serial and parallel matrix-vector multiplication</a:t>
            </a:r>
            <a:endParaRPr/>
          </a:p>
        </p:txBody>
      </p:sp>
      <p:sp>
        <p:nvSpPr>
          <p:cNvPr id="881" name="Google Shape;881;p9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82" name="Google Shape;88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4078" y="1916113"/>
            <a:ext cx="7042150" cy="31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94"/>
          <p:cNvSpPr txBox="1"/>
          <p:nvPr/>
        </p:nvSpPr>
        <p:spPr>
          <a:xfrm>
            <a:off x="7896225" y="5084763"/>
            <a:ext cx="135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(Seconds)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Speedup</a:t>
            </a:r>
            <a:endParaRPr/>
          </a:p>
        </p:txBody>
      </p:sp>
      <p:sp>
        <p:nvSpPr>
          <p:cNvPr id="889" name="Google Shape;889;p9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90" name="Google Shape;89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5913" y="1773238"/>
            <a:ext cx="5226050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9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Efficiency</a:t>
            </a:r>
            <a:endParaRPr/>
          </a:p>
        </p:txBody>
      </p:sp>
      <p:sp>
        <p:nvSpPr>
          <p:cNvPr id="896" name="Google Shape;896;p9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897" name="Google Shape;897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550" y="2349500"/>
            <a:ext cx="6777038" cy="1608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97"/>
          <p:cNvSpPr txBox="1"/>
          <p:nvPr>
            <p:ph type="title"/>
          </p:nvPr>
        </p:nvSpPr>
        <p:spPr>
          <a:xfrm>
            <a:off x="1061300" y="439886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Speedups of Parallel Matrix-Vector Multiplication</a:t>
            </a:r>
            <a:endParaRPr/>
          </a:p>
        </p:txBody>
      </p:sp>
      <p:sp>
        <p:nvSpPr>
          <p:cNvPr id="903" name="Google Shape;903;p9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904" name="Google Shape;90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114" y="1700213"/>
            <a:ext cx="7640637" cy="336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8"/>
          <p:cNvSpPr txBox="1"/>
          <p:nvPr>
            <p:ph type="title"/>
          </p:nvPr>
        </p:nvSpPr>
        <p:spPr>
          <a:xfrm>
            <a:off x="838200" y="357188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Efficiencies of Parallel Matrix-Vector Multiplication</a:t>
            </a:r>
            <a:endParaRPr/>
          </a:p>
        </p:txBody>
      </p:sp>
      <p:sp>
        <p:nvSpPr>
          <p:cNvPr id="910" name="Google Shape;910;p9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911" name="Google Shape;911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9650" y="1700213"/>
            <a:ext cx="7353300" cy="3313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9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Scalability</a:t>
            </a:r>
            <a:endParaRPr/>
          </a:p>
        </p:txBody>
      </p:sp>
      <p:sp>
        <p:nvSpPr>
          <p:cNvPr id="917" name="Google Shape;917;p9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program is </a:t>
            </a:r>
            <a:r>
              <a:rPr lang="en-US">
                <a:solidFill>
                  <a:srgbClr val="FF0000"/>
                </a:solidFill>
              </a:rPr>
              <a:t>scalable</a:t>
            </a:r>
            <a:r>
              <a:rPr lang="en-US"/>
              <a:t> if the problem size can be increased at a rate so that the efficiency doesn’t decrease as the number of processes increase.</a:t>
            </a:r>
            <a:br>
              <a:rPr lang="en-US"/>
            </a:b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18" name="Google Shape;918;p9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balances,government,law,objects,Photographs,scales,scales of justice,symbols" id="919" name="Google Shape;919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8164" y="2852739"/>
            <a:ext cx="3095625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0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Scalability</a:t>
            </a:r>
            <a:endParaRPr/>
          </a:p>
        </p:txBody>
      </p:sp>
      <p:sp>
        <p:nvSpPr>
          <p:cNvPr id="925" name="Google Shape;925;p10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Programs that can maintain a constant efficiency without increasing the problem size are sometimes said to be </a:t>
            </a:r>
            <a:r>
              <a:rPr lang="en-US">
                <a:solidFill>
                  <a:srgbClr val="FF0000"/>
                </a:solidFill>
              </a:rPr>
              <a:t>strongly scalable</a:t>
            </a:r>
            <a:r>
              <a:rPr lang="en-US"/>
              <a:t>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Programs that can maintain a constant efficiency if the problem size increases at the same rate as the number of processes are sometimes said to be </a:t>
            </a:r>
            <a:r>
              <a:rPr lang="en-US">
                <a:solidFill>
                  <a:srgbClr val="FF0000"/>
                </a:solidFill>
              </a:rPr>
              <a:t>weakly scalable</a:t>
            </a:r>
            <a:r>
              <a:rPr lang="en-US"/>
              <a:t>.</a:t>
            </a:r>
            <a:endParaRPr/>
          </a:p>
        </p:txBody>
      </p:sp>
      <p:sp>
        <p:nvSpPr>
          <p:cNvPr id="926" name="Google Shape;926;p10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01"/>
          <p:cNvSpPr txBox="1"/>
          <p:nvPr>
            <p:ph type="title"/>
          </p:nvPr>
        </p:nvSpPr>
        <p:spPr>
          <a:xfrm>
            <a:off x="2279650" y="4076701"/>
            <a:ext cx="77724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 parallel sorting algorithm</a:t>
            </a:r>
            <a:endParaRPr/>
          </a:p>
        </p:txBody>
      </p:sp>
      <p:sp>
        <p:nvSpPr>
          <p:cNvPr id="932" name="Google Shape;932;p10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0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Sorting</a:t>
            </a:r>
            <a:endParaRPr/>
          </a:p>
        </p:txBody>
      </p:sp>
      <p:sp>
        <p:nvSpPr>
          <p:cNvPr id="938" name="Google Shape;938;p10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n</a:t>
            </a:r>
            <a:r>
              <a:rPr lang="en-US"/>
              <a:t> keys and </a:t>
            </a:r>
            <a:r>
              <a:rPr lang="en-US">
                <a:solidFill>
                  <a:srgbClr val="FF0000"/>
                </a:solidFill>
              </a:rPr>
              <a:t>p = comm sz processes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n/p</a:t>
            </a:r>
            <a:r>
              <a:rPr lang="en-US"/>
              <a:t> keys assigned to each process.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 restrictions on which keys are assigned to which processes.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the algorithm terminates: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keys assigned to each process should be sorted in (say) increasing order.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</a:t>
            </a:r>
            <a:r>
              <a:rPr lang="en-US">
                <a:solidFill>
                  <a:srgbClr val="FF0000"/>
                </a:solidFill>
              </a:rPr>
              <a:t>0 ≤ q &lt; r &lt; p</a:t>
            </a:r>
            <a:r>
              <a:rPr lang="en-US"/>
              <a:t>, then each key assigned to process </a:t>
            </a:r>
            <a:r>
              <a:rPr lang="en-US">
                <a:solidFill>
                  <a:srgbClr val="FF0000"/>
                </a:solidFill>
              </a:rPr>
              <a:t>q</a:t>
            </a:r>
            <a:r>
              <a:rPr lang="en-US"/>
              <a:t> should be less than or equal to every key assigned to process </a:t>
            </a:r>
            <a:r>
              <a:rPr lang="en-US">
                <a:solidFill>
                  <a:srgbClr val="FF0000"/>
                </a:solidFill>
              </a:rPr>
              <a:t>r</a:t>
            </a:r>
            <a:r>
              <a:rPr lang="en-US"/>
              <a:t>.</a:t>
            </a:r>
            <a:endParaRPr/>
          </a:p>
        </p:txBody>
      </p:sp>
      <p:sp>
        <p:nvSpPr>
          <p:cNvPr id="939" name="Google Shape;939;p10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03"/>
          <p:cNvSpPr txBox="1"/>
          <p:nvPr>
            <p:ph type="title"/>
          </p:nvPr>
        </p:nvSpPr>
        <p:spPr>
          <a:xfrm>
            <a:off x="838201" y="337215"/>
            <a:ext cx="82819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Serial bubble sort</a:t>
            </a:r>
            <a:endParaRPr/>
          </a:p>
        </p:txBody>
      </p:sp>
      <p:sp>
        <p:nvSpPr>
          <p:cNvPr id="945" name="Google Shape;945;p10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946" name="Google Shape;946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7076" y="1196975"/>
            <a:ext cx="8323263" cy="424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ckgrounds,bubbles,clear,colorful,fizz,floating,Fotolia,transparent,wallpapers,waters" id="947" name="Google Shape;947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6226" y="3573464"/>
            <a:ext cx="2447925" cy="2446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0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Odd-even transposition sort</a:t>
            </a:r>
            <a:endParaRPr/>
          </a:p>
        </p:txBody>
      </p:sp>
      <p:sp>
        <p:nvSpPr>
          <p:cNvPr id="953" name="Google Shape;953;p104"/>
          <p:cNvSpPr txBox="1"/>
          <p:nvPr>
            <p:ph idx="1" type="body"/>
          </p:nvPr>
        </p:nvSpPr>
        <p:spPr>
          <a:xfrm>
            <a:off x="1960562" y="1520825"/>
            <a:ext cx="827087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sequence of phases.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Even phases, compare swaps:</a:t>
            </a:r>
            <a:br>
              <a:rPr lang="en-US"/>
            </a:b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Odd phases, compare swaps:</a:t>
            </a:r>
            <a:endParaRPr/>
          </a:p>
        </p:txBody>
      </p:sp>
      <p:sp>
        <p:nvSpPr>
          <p:cNvPr id="954" name="Google Shape;954;p10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955" name="Google Shape;95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50" y="4076700"/>
            <a:ext cx="51435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6276" y="2492376"/>
            <a:ext cx="4930775" cy="576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0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962" name="Google Shape;962;p105"/>
          <p:cNvSpPr txBox="1"/>
          <p:nvPr>
            <p:ph idx="1" type="body"/>
          </p:nvPr>
        </p:nvSpPr>
        <p:spPr>
          <a:xfrm>
            <a:off x="2063751" y="1520455"/>
            <a:ext cx="8270875" cy="4572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/>
              <a:t>Start:  5, 9, 4, 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/>
              <a:t>Even phase:  compare-swap (5,9) and (4,3)</a:t>
            </a:r>
            <a:br>
              <a:rPr lang="en-US"/>
            </a:br>
            <a:r>
              <a:rPr lang="en-US"/>
              <a:t> getting the list  5, 9, 3, 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/>
              <a:t>Odd phase:  compare-swap (9,3)</a:t>
            </a:r>
            <a:br>
              <a:rPr lang="en-US"/>
            </a:br>
            <a:r>
              <a:rPr lang="en-US"/>
              <a:t>getting the list  5, 3, 9, 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/>
              <a:t>Even phase:  compare-swap (5,3) and (9,4)</a:t>
            </a:r>
            <a:br>
              <a:rPr lang="en-US"/>
            </a:br>
            <a:r>
              <a:rPr lang="en-US"/>
              <a:t> getting the list  3, 5, 4, 9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/>
              <a:t>Odd phase:  compare-swap (5,4)</a:t>
            </a:r>
            <a:br>
              <a:rPr lang="en-US"/>
            </a:br>
            <a:r>
              <a:rPr lang="en-US"/>
              <a:t>getting the list  3, 4, 5, 9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963" name="Google Shape;963;p10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06"/>
          <p:cNvSpPr txBox="1"/>
          <p:nvPr>
            <p:ph type="title"/>
          </p:nvPr>
        </p:nvSpPr>
        <p:spPr>
          <a:xfrm>
            <a:off x="540305" y="246062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Serial odd-even transposition sort</a:t>
            </a:r>
            <a:endParaRPr/>
          </a:p>
        </p:txBody>
      </p:sp>
      <p:sp>
        <p:nvSpPr>
          <p:cNvPr id="969" name="Google Shape;969;p10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970" name="Google Shape;970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8438" y="1414130"/>
            <a:ext cx="7730314" cy="4808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07"/>
          <p:cNvSpPr txBox="1"/>
          <p:nvPr>
            <p:ph type="title"/>
          </p:nvPr>
        </p:nvSpPr>
        <p:spPr>
          <a:xfrm>
            <a:off x="519041" y="160338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Communications among tasks in odd-even sort</a:t>
            </a:r>
            <a:endParaRPr/>
          </a:p>
        </p:txBody>
      </p:sp>
      <p:sp>
        <p:nvSpPr>
          <p:cNvPr id="976" name="Google Shape;976;p10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12-9780123742605.eps" id="977" name="Google Shape;97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850" y="1484313"/>
            <a:ext cx="8343900" cy="3744912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107"/>
          <p:cNvSpPr txBox="1"/>
          <p:nvPr/>
        </p:nvSpPr>
        <p:spPr>
          <a:xfrm>
            <a:off x="3359150" y="5373688"/>
            <a:ext cx="5905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Tasks determining a[i] are labeled with a[i].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08"/>
          <p:cNvSpPr txBox="1"/>
          <p:nvPr>
            <p:ph type="title"/>
          </p:nvPr>
        </p:nvSpPr>
        <p:spPr>
          <a:xfrm>
            <a:off x="918426" y="439740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Parallel odd-even transposition sort</a:t>
            </a:r>
            <a:endParaRPr/>
          </a:p>
        </p:txBody>
      </p:sp>
      <p:sp>
        <p:nvSpPr>
          <p:cNvPr id="984" name="Google Shape;984;p10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985" name="Google Shape;985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313" y="1989139"/>
            <a:ext cx="8248650" cy="259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0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Pseudo-code</a:t>
            </a:r>
            <a:endParaRPr/>
          </a:p>
        </p:txBody>
      </p:sp>
      <p:sp>
        <p:nvSpPr>
          <p:cNvPr id="991" name="Google Shape;991;p10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992" name="Google Shape;992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8214" y="1341438"/>
            <a:ext cx="7489825" cy="40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10"/>
          <p:cNvSpPr txBox="1"/>
          <p:nvPr>
            <p:ph type="title"/>
          </p:nvPr>
        </p:nvSpPr>
        <p:spPr>
          <a:xfrm>
            <a:off x="1008138" y="415925"/>
            <a:ext cx="82819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Compute_partner</a:t>
            </a:r>
            <a:endParaRPr/>
          </a:p>
        </p:txBody>
      </p:sp>
      <p:sp>
        <p:nvSpPr>
          <p:cNvPr id="998" name="Google Shape;998;p11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999" name="Google Shape;999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0" y="1123950"/>
            <a:ext cx="7920038" cy="44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Safety in MPI programs</a:t>
            </a:r>
            <a:endParaRPr/>
          </a:p>
        </p:txBody>
      </p:sp>
      <p:sp>
        <p:nvSpPr>
          <p:cNvPr id="1005" name="Google Shape;1005;p1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MPI standard allows MPI_Send to behave in two different ways: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can simply copy the message into an MPI managed buffer and return,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or it can block until the matching call to MPI_Recv starts.</a:t>
            </a:r>
            <a:endParaRPr/>
          </a:p>
        </p:txBody>
      </p:sp>
      <p:sp>
        <p:nvSpPr>
          <p:cNvPr id="1006" name="Google Shape;1006;p11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Safety in MPI programs</a:t>
            </a:r>
            <a:endParaRPr/>
          </a:p>
        </p:txBody>
      </p:sp>
      <p:sp>
        <p:nvSpPr>
          <p:cNvPr id="1012" name="Google Shape;1012;p1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implementations of MPI set a threshold at which the system switches from buffering to blocking.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Relatively small messages will be buffered by MPI_Send.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Larger messages, will cause it to block.</a:t>
            </a:r>
            <a:endParaRPr/>
          </a:p>
        </p:txBody>
      </p:sp>
      <p:sp>
        <p:nvSpPr>
          <p:cNvPr id="1013" name="Google Shape;1013;p11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Safety in MPI programs</a:t>
            </a:r>
            <a:endParaRPr/>
          </a:p>
        </p:txBody>
      </p:sp>
      <p:sp>
        <p:nvSpPr>
          <p:cNvPr id="1019" name="Google Shape;1019;p113"/>
          <p:cNvSpPr txBox="1"/>
          <p:nvPr>
            <p:ph idx="1" type="body"/>
          </p:nvPr>
        </p:nvSpPr>
        <p:spPr>
          <a:xfrm>
            <a:off x="932307" y="1593056"/>
            <a:ext cx="10515600" cy="3671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the MPI_Send executed by each process blocks, no process will be able to start executing a call to MPI_Recv, and the program will hang or </a:t>
            </a:r>
            <a:r>
              <a:rPr lang="en-US">
                <a:solidFill>
                  <a:srgbClr val="FF0000"/>
                </a:solidFill>
              </a:rPr>
              <a:t>deadlock</a:t>
            </a:r>
            <a:r>
              <a:rPr lang="en-US"/>
              <a:t>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process is blocked waiting for an event that will never happen.</a:t>
            </a:r>
            <a:endParaRPr/>
          </a:p>
        </p:txBody>
      </p:sp>
      <p:sp>
        <p:nvSpPr>
          <p:cNvPr id="1020" name="Google Shape;1020;p11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sp>
        <p:nvSpPr>
          <p:cNvPr id="1021" name="Google Shape;1021;p113"/>
          <p:cNvSpPr txBox="1"/>
          <p:nvPr/>
        </p:nvSpPr>
        <p:spPr>
          <a:xfrm>
            <a:off x="6959601" y="5445126"/>
            <a:ext cx="27543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(see pseudo-code)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Safety in MPI programs</a:t>
            </a:r>
            <a:endParaRPr/>
          </a:p>
        </p:txBody>
      </p:sp>
      <p:sp>
        <p:nvSpPr>
          <p:cNvPr id="1027" name="Google Shape;1027;p1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program that relies on MPI provided buffering is said to be </a:t>
            </a:r>
            <a:r>
              <a:rPr lang="en-US">
                <a:solidFill>
                  <a:srgbClr val="FF0000"/>
                </a:solidFill>
              </a:rPr>
              <a:t>unsafe</a:t>
            </a:r>
            <a:r>
              <a:rPr lang="en-US"/>
              <a:t>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Such a program may run without problems for various sets of input, but it may hang or crash with other sets.</a:t>
            </a:r>
            <a:endParaRPr/>
          </a:p>
        </p:txBody>
      </p:sp>
      <p:sp>
        <p:nvSpPr>
          <p:cNvPr id="1028" name="Google Shape;1028;p11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15"/>
          <p:cNvSpPr txBox="1"/>
          <p:nvPr>
            <p:ph type="title"/>
          </p:nvPr>
        </p:nvSpPr>
        <p:spPr>
          <a:xfrm>
            <a:off x="710427" y="473868"/>
            <a:ext cx="8281987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MPI_Ssend</a:t>
            </a:r>
            <a:endParaRPr/>
          </a:p>
        </p:txBody>
      </p:sp>
      <p:sp>
        <p:nvSpPr>
          <p:cNvPr id="1034" name="Google Shape;1034;p115"/>
          <p:cNvSpPr txBox="1"/>
          <p:nvPr>
            <p:ph idx="1" type="body"/>
          </p:nvPr>
        </p:nvSpPr>
        <p:spPr>
          <a:xfrm>
            <a:off x="710426" y="1503870"/>
            <a:ext cx="11176773" cy="280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alternative to MPI_Send defined by the MPI standard.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extra “s” stands for synchronous and MPI_Ssend is guaranteed to block until the matching receive starts.</a:t>
            </a:r>
            <a:endParaRPr/>
          </a:p>
        </p:txBody>
      </p:sp>
      <p:sp>
        <p:nvSpPr>
          <p:cNvPr id="1035" name="Google Shape;1035;p11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grpSp>
        <p:nvGrpSpPr>
          <p:cNvPr id="1036" name="Google Shape;1036;p115"/>
          <p:cNvGrpSpPr/>
          <p:nvPr/>
        </p:nvGrpSpPr>
        <p:grpSpPr>
          <a:xfrm>
            <a:off x="3036925" y="3429000"/>
            <a:ext cx="5656263" cy="2232025"/>
            <a:chOff x="1547664" y="3861048"/>
            <a:chExt cx="5296272" cy="1811263"/>
          </a:xfrm>
        </p:grpSpPr>
        <p:pic>
          <p:nvPicPr>
            <p:cNvPr id="1037" name="Google Shape;1037;p1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47664" y="3861048"/>
              <a:ext cx="5181600" cy="80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8" name="Google Shape;1038;p1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95736" y="4653136"/>
              <a:ext cx="4648200" cy="1019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Restructuring communication</a:t>
            </a:r>
            <a:endParaRPr/>
          </a:p>
        </p:txBody>
      </p:sp>
      <p:sp>
        <p:nvSpPr>
          <p:cNvPr id="1044" name="Google Shape;1044;p116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1045" name="Google Shape;1045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8213" y="1412876"/>
            <a:ext cx="7599362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2314" y="3357564"/>
            <a:ext cx="8180387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116"/>
          <p:cNvSpPr/>
          <p:nvPr/>
        </p:nvSpPr>
        <p:spPr>
          <a:xfrm>
            <a:off x="4978400" y="2305050"/>
            <a:ext cx="585788" cy="1016000"/>
          </a:xfrm>
          <a:custGeom>
            <a:rect b="b" l="l" r="r" t="t"/>
            <a:pathLst>
              <a:path extrusionOk="0" h="1016001" w="585536">
                <a:moveTo>
                  <a:pt x="58821" y="37432"/>
                </a:moveTo>
                <a:cubicBezTo>
                  <a:pt x="274052" y="18716"/>
                  <a:pt x="489284" y="0"/>
                  <a:pt x="491958" y="37432"/>
                </a:cubicBezTo>
                <a:cubicBezTo>
                  <a:pt x="494632" y="74864"/>
                  <a:pt x="74863" y="216569"/>
                  <a:pt x="74863" y="262022"/>
                </a:cubicBezTo>
                <a:cubicBezTo>
                  <a:pt x="74863" y="307475"/>
                  <a:pt x="502653" y="264695"/>
                  <a:pt x="491958" y="310148"/>
                </a:cubicBezTo>
                <a:cubicBezTo>
                  <a:pt x="481263" y="355601"/>
                  <a:pt x="0" y="491959"/>
                  <a:pt x="10695" y="534738"/>
                </a:cubicBezTo>
                <a:cubicBezTo>
                  <a:pt x="21390" y="577517"/>
                  <a:pt x="526716" y="537412"/>
                  <a:pt x="556126" y="566822"/>
                </a:cubicBezTo>
                <a:cubicBezTo>
                  <a:pt x="585536" y="596232"/>
                  <a:pt x="256674" y="636338"/>
                  <a:pt x="187158" y="711201"/>
                </a:cubicBezTo>
                <a:cubicBezTo>
                  <a:pt x="117642" y="786064"/>
                  <a:pt x="128337" y="901032"/>
                  <a:pt x="139032" y="101600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17"/>
          <p:cNvSpPr txBox="1"/>
          <p:nvPr>
            <p:ph type="title"/>
          </p:nvPr>
        </p:nvSpPr>
        <p:spPr>
          <a:xfrm>
            <a:off x="838200" y="681037"/>
            <a:ext cx="8281987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MPI_Sendrecv</a:t>
            </a:r>
            <a:endParaRPr/>
          </a:p>
        </p:txBody>
      </p:sp>
      <p:sp>
        <p:nvSpPr>
          <p:cNvPr id="1053" name="Google Shape;1053;p1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alternative to scheduling the communications ourselves.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Carries out a blocking send and a receive in a single call.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dest and the source can be the same or different.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Especially useful because MPI schedules the communications so that the program won’t hang or crash.</a:t>
            </a:r>
            <a:endParaRPr/>
          </a:p>
        </p:txBody>
      </p:sp>
      <p:sp>
        <p:nvSpPr>
          <p:cNvPr id="1054" name="Google Shape;1054;p117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18"/>
          <p:cNvSpPr txBox="1"/>
          <p:nvPr>
            <p:ph type="title"/>
          </p:nvPr>
        </p:nvSpPr>
        <p:spPr>
          <a:xfrm>
            <a:off x="2135189" y="109538"/>
            <a:ext cx="8281987" cy="582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MPI_Sendrecv</a:t>
            </a:r>
            <a:endParaRPr/>
          </a:p>
        </p:txBody>
      </p:sp>
      <p:sp>
        <p:nvSpPr>
          <p:cNvPr id="1060" name="Google Shape;1060;p118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grpSp>
        <p:nvGrpSpPr>
          <p:cNvPr id="1061" name="Google Shape;1061;p118"/>
          <p:cNvGrpSpPr/>
          <p:nvPr/>
        </p:nvGrpSpPr>
        <p:grpSpPr>
          <a:xfrm>
            <a:off x="2063750" y="981075"/>
            <a:ext cx="7632700" cy="4895850"/>
            <a:chOff x="1043608" y="1268760"/>
            <a:chExt cx="5619750" cy="3293343"/>
          </a:xfrm>
        </p:grpSpPr>
        <p:pic>
          <p:nvPicPr>
            <p:cNvPr id="1062" name="Google Shape;1062;p1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3608" y="1268760"/>
              <a:ext cx="5619750" cy="163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3" name="Google Shape;1063;p1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63688" y="2780928"/>
              <a:ext cx="4848225" cy="1781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19"/>
          <p:cNvSpPr txBox="1"/>
          <p:nvPr>
            <p:ph type="title"/>
          </p:nvPr>
        </p:nvSpPr>
        <p:spPr>
          <a:xfrm>
            <a:off x="838200" y="422274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Safe communication with five processes</a:t>
            </a:r>
            <a:endParaRPr/>
          </a:p>
        </p:txBody>
      </p:sp>
      <p:sp>
        <p:nvSpPr>
          <p:cNvPr id="1069" name="Google Shape;1069;p119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descr="f03-13-9780123742605.eps" id="1070" name="Google Shape;107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5050" y="1557338"/>
            <a:ext cx="5081588" cy="42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20"/>
          <p:cNvSpPr txBox="1"/>
          <p:nvPr>
            <p:ph type="title"/>
          </p:nvPr>
        </p:nvSpPr>
        <p:spPr>
          <a:xfrm>
            <a:off x="716407" y="265113"/>
            <a:ext cx="8281987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Parallel odd-even transposition sort</a:t>
            </a:r>
            <a:endParaRPr/>
          </a:p>
        </p:txBody>
      </p:sp>
      <p:sp>
        <p:nvSpPr>
          <p:cNvPr id="1076" name="Google Shape;1076;p120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1077" name="Google Shape;1077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5913" y="849313"/>
            <a:ext cx="5543550" cy="53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21"/>
          <p:cNvSpPr txBox="1"/>
          <p:nvPr>
            <p:ph type="title"/>
          </p:nvPr>
        </p:nvSpPr>
        <p:spPr>
          <a:xfrm>
            <a:off x="487142" y="350875"/>
            <a:ext cx="828198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Run-times of parallel odd-even sort</a:t>
            </a:r>
            <a:endParaRPr/>
          </a:p>
        </p:txBody>
      </p:sp>
      <p:sp>
        <p:nvSpPr>
          <p:cNvPr id="1083" name="Google Shape;1083;p121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  <p:pic>
        <p:nvPicPr>
          <p:cNvPr id="1084" name="Google Shape;1084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550" y="1484313"/>
            <a:ext cx="7056438" cy="34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121"/>
          <p:cNvSpPr txBox="1"/>
          <p:nvPr/>
        </p:nvSpPr>
        <p:spPr>
          <a:xfrm>
            <a:off x="5735638" y="5084763"/>
            <a:ext cx="33131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(times are in milliseconds)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Concluding Remarks (1)</a:t>
            </a:r>
            <a:endParaRPr/>
          </a:p>
        </p:txBody>
      </p:sp>
      <p:sp>
        <p:nvSpPr>
          <p:cNvPr id="1091" name="Google Shape;1091;p1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MPI or the Message-Passing Interface is a library of functions that can be called from C, C++, or Fortran programs.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communicator is a collection of processes that can send messages to each other.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parallel programs use the single-program multiple data or SPMD approach.</a:t>
            </a:r>
            <a:endParaRPr/>
          </a:p>
        </p:txBody>
      </p:sp>
      <p:sp>
        <p:nvSpPr>
          <p:cNvPr id="1092" name="Google Shape;1092;p122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Concluding Remarks (2)</a:t>
            </a:r>
            <a:endParaRPr/>
          </a:p>
        </p:txBody>
      </p:sp>
      <p:sp>
        <p:nvSpPr>
          <p:cNvPr id="1098" name="Google Shape;1098;p1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serial programs are deterministic: if we run the same program with the same input we’ll get the same output.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Parallel programs often don’t possess this property.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Collective communications involve all the processes in a communicator.</a:t>
            </a:r>
            <a:endParaRPr/>
          </a:p>
        </p:txBody>
      </p:sp>
      <p:sp>
        <p:nvSpPr>
          <p:cNvPr id="1099" name="Google Shape;1099;p123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Concluding Remarks (3)</a:t>
            </a:r>
            <a:endParaRPr/>
          </a:p>
        </p:txBody>
      </p:sp>
      <p:sp>
        <p:nvSpPr>
          <p:cNvPr id="1105" name="Google Shape;1105;p1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we time parallel programs, we’re usually interested in elapsed time or “wall clock time”.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Speedup is the ratio of the serial run-time to the parallel run-time.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Efficiency is the speedup divided by the number of parallel processes.</a:t>
            </a:r>
            <a:endParaRPr/>
          </a:p>
        </p:txBody>
      </p:sp>
      <p:sp>
        <p:nvSpPr>
          <p:cNvPr id="1106" name="Google Shape;1106;p124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Concluding Remarks (4)</a:t>
            </a:r>
            <a:endParaRPr/>
          </a:p>
        </p:txBody>
      </p:sp>
      <p:sp>
        <p:nvSpPr>
          <p:cNvPr id="1112" name="Google Shape;1112;p1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it’s possible to increase the problem size (n) so that the efficiency doesn’t decrease as p is increased, a parallel program is said to be scalable.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MPI program is unsafe if its correct behavior depends on the fact that MPI_Send is buffering its input.</a:t>
            </a:r>
            <a:endParaRPr/>
          </a:p>
        </p:txBody>
      </p:sp>
      <p:sp>
        <p:nvSpPr>
          <p:cNvPr id="1113" name="Google Shape;1113;p125"/>
          <p:cNvSpPr txBox="1"/>
          <p:nvPr>
            <p:ph idx="11" type="ftr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Copyright © 2010, Elsevier Inc. All rights Reserved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2023-06-28T07:14:09Z</dcterms:created>
  <dc:creator>Windows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2024-06-18T05:31:04Z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bb05268a-d962-44c1-9458-7f066bd1cbe1</vt:lpwstr>
  </property>
  <property fmtid="{D5CDD505-2E9C-101B-9397-08002B2CF9AE}" pid="8" name="MSIP_Label_e65487c9-99ed-4cbc-93a8-0e9b1796bde5_ContentBits">
    <vt:lpwstr>0</vt:lpwstr>
  </property>
</Properties>
</file>