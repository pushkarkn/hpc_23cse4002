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762" r:id="rId4"/>
    <p:sldId id="763" r:id="rId5"/>
    <p:sldId id="764" r:id="rId6"/>
    <p:sldId id="765" r:id="rId7"/>
    <p:sldId id="766" r:id="rId8"/>
    <p:sldId id="767" r:id="rId9"/>
    <p:sldId id="768" r:id="rId10"/>
    <p:sldId id="769" r:id="rId11"/>
    <p:sldId id="770" r:id="rId12"/>
    <p:sldId id="771" r:id="rId13"/>
    <p:sldId id="772" r:id="rId14"/>
    <p:sldId id="773" r:id="rId15"/>
    <p:sldId id="774" r:id="rId16"/>
    <p:sldId id="775" r:id="rId17"/>
    <p:sldId id="776" r:id="rId18"/>
    <p:sldId id="777" r:id="rId19"/>
    <p:sldId id="778" r:id="rId20"/>
    <p:sldId id="779" r:id="rId21"/>
    <p:sldId id="780" r:id="rId22"/>
    <p:sldId id="781" r:id="rId23"/>
    <p:sldId id="782" r:id="rId24"/>
    <p:sldId id="783" r:id="rId25"/>
    <p:sldId id="784" r:id="rId26"/>
    <p:sldId id="785" r:id="rId27"/>
    <p:sldId id="786" r:id="rId28"/>
    <p:sldId id="787" r:id="rId29"/>
    <p:sldId id="788" r:id="rId30"/>
    <p:sldId id="789" r:id="rId31"/>
    <p:sldId id="790" r:id="rId32"/>
    <p:sldId id="791" r:id="rId33"/>
    <p:sldId id="792" r:id="rId34"/>
    <p:sldId id="793" r:id="rId35"/>
    <p:sldId id="794" r:id="rId36"/>
    <p:sldId id="795" r:id="rId37"/>
    <p:sldId id="796" r:id="rId38"/>
    <p:sldId id="797" r:id="rId39"/>
    <p:sldId id="798" r:id="rId40"/>
    <p:sldId id="799" r:id="rId41"/>
    <p:sldId id="800" r:id="rId42"/>
    <p:sldId id="801" r:id="rId43"/>
    <p:sldId id="802" r:id="rId44"/>
    <p:sldId id="803" r:id="rId45"/>
    <p:sldId id="804" r:id="rId46"/>
    <p:sldId id="805" r:id="rId47"/>
    <p:sldId id="806" r:id="rId48"/>
    <p:sldId id="807" r:id="rId49"/>
    <p:sldId id="830" r:id="rId50"/>
    <p:sldId id="852" r:id="rId51"/>
    <p:sldId id="853" r:id="rId52"/>
    <p:sldId id="854" r:id="rId53"/>
    <p:sldId id="855" r:id="rId54"/>
    <p:sldId id="856" r:id="rId55"/>
    <p:sldId id="857" r:id="rId56"/>
    <p:sldId id="858" r:id="rId57"/>
    <p:sldId id="859" r:id="rId58"/>
    <p:sldId id="860" r:id="rId59"/>
    <p:sldId id="861" r:id="rId60"/>
    <p:sldId id="841" r:id="rId61"/>
    <p:sldId id="842" r:id="rId62"/>
    <p:sldId id="843" r:id="rId63"/>
    <p:sldId id="844" r:id="rId64"/>
    <p:sldId id="845" r:id="rId65"/>
    <p:sldId id="846" r:id="rId66"/>
    <p:sldId id="847" r:id="rId67"/>
    <p:sldId id="848" r:id="rId68"/>
    <p:sldId id="849" r:id="rId69"/>
    <p:sldId id="850" r:id="rId70"/>
    <p:sldId id="258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EF3BC-1FC8-4506-9DF0-F33E001AE59C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582B1-43CD-4966-B2FE-09C3EFE4D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61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Identical to finding offset in 1-dimensional storage of a 2-dimensional matrix:</a:t>
            </a:r>
          </a:p>
          <a:p>
            <a:pPr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index = x + width * y;</a:t>
            </a:r>
            <a:endParaRPr lang="en-US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5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5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7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4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4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2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1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2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7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9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9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24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5041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64491-1475-4265-8B30-E3BF025A494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7E576-5772-4035-9B10-12485518F42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82200" y="0"/>
            <a:ext cx="2200275" cy="990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9525" y="6465153"/>
            <a:ext cx="12192000" cy="38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6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4BCEC7-B208-43E0-AFB7-1495FA2FF2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</p:spPr>
      </p:pic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22302" y="1295400"/>
            <a:ext cx="1216969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rtl="0">
              <a:buNone/>
            </a:pPr>
            <a:r>
              <a:rPr lang="en-US" sz="3000" b="0" i="0" u="none" strike="noStrike" dirty="0">
                <a:solidFill>
                  <a:srgbClr val="CC00CC"/>
                </a:solidFill>
                <a:effectLst/>
                <a:latin typeface="Times New Roman" panose="02020603050405020304" pitchFamily="18" charset="0"/>
              </a:rPr>
              <a:t>1BTCS030 - High Performance Computing</a:t>
            </a:r>
            <a:endParaRPr lang="en-US" sz="1200" b="0" dirty="0">
              <a:effectLst/>
            </a:endParaRPr>
          </a:p>
          <a:p>
            <a:pPr algn="ctr" rtl="0">
              <a:buNone/>
            </a:pPr>
            <a:r>
              <a:rPr lang="en-US" sz="30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Class – L.Y (SEM-I), &lt;Core, AIEC&gt;</a:t>
            </a:r>
            <a:endParaRPr lang="en-US" sz="1200" b="0" dirty="0">
              <a:effectLst/>
            </a:endParaRPr>
          </a:p>
          <a:p>
            <a:pPr algn="ctr" rtl="0">
              <a:buNone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Unit - IV Accelerated Computing – GPU’s</a:t>
            </a:r>
            <a:br>
              <a:rPr lang="en-US" sz="1200" dirty="0"/>
            </a:br>
            <a:endParaRPr lang="en-US" sz="3600" b="1" kern="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-1" y="0"/>
            <a:ext cx="10910171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MIT Art Design and Technology University</a:t>
            </a:r>
            <a:br>
              <a:rPr lang="en-US" sz="2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MIT School of Computing, Pune</a:t>
            </a:r>
            <a:endParaRPr lang="en-US" sz="2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1713503" y="5600700"/>
            <a:ext cx="878492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100" kern="0" dirty="0">
                <a:solidFill>
                  <a:srgbClr val="CC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AY 2025-2026 SEM-I</a:t>
            </a:r>
            <a:endParaRPr lang="en-US" sz="2800" kern="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708289" y="4268981"/>
            <a:ext cx="6752478" cy="726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rtl="0">
              <a:buNone/>
            </a:pPr>
            <a:r>
              <a:rPr lang="en-IN" sz="30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Team Members</a:t>
            </a:r>
            <a:endParaRPr lang="en-IN" sz="1200" b="0" dirty="0">
              <a:effectLst/>
            </a:endParaRPr>
          </a:p>
          <a:p>
            <a:pPr algn="ctr" rtl="0">
              <a:buNone/>
            </a:pPr>
            <a:r>
              <a:rPr lang="en-IN" sz="30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Dr. Rashmi S Nair ,Dr. Sharon Christa, Prof. Tushar Mane, Prof. Abhijeet Dinkar </a:t>
            </a:r>
            <a:r>
              <a:rPr lang="en-IN" sz="3000" b="0" i="0" u="none" strike="noStrik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Cholke</a:t>
            </a:r>
            <a:r>
              <a:rPr lang="en-IN" sz="30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, Prof. Dr. Ram Kumar Kanhi Singh Solanki</a:t>
            </a:r>
            <a:endParaRPr lang="en-IN" sz="1200" b="0" dirty="0">
              <a:effectLst/>
            </a:endParaRPr>
          </a:p>
          <a:p>
            <a:pPr>
              <a:buNone/>
            </a:pPr>
            <a:br>
              <a:rPr lang="en-IN" sz="1200" dirty="0"/>
            </a:br>
            <a:endParaRPr lang="en-US" sz="3000" kern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09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80" y="1337110"/>
            <a:ext cx="11725405" cy="496348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IV – Accelerated Computing – GPU’s                                                            09 hours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GPU Architectures, Basics of CUDA Programming, CUDA Process flow and Data transfer, CUDA parallel threads, Streaming Multi-processors (SM’s), Threads, blocks, Grids etc. Case study: Matrix – Vector Multiplication</a:t>
            </a:r>
          </a:p>
        </p:txBody>
      </p:sp>
      <p:sp>
        <p:nvSpPr>
          <p:cNvPr id="4" name="Rectangle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04482" y="1154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TW" sz="3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IV - Syllabus </a:t>
            </a:r>
          </a:p>
        </p:txBody>
      </p:sp>
    </p:spTree>
    <p:extLst>
      <p:ext uri="{BB962C8B-B14F-4D97-AF65-F5344CB8AC3E}">
        <p14:creationId xmlns:p14="http://schemas.microsoft.com/office/powerpoint/2010/main" val="350727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CUDA?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CUDA Architecture</a:t>
            </a:r>
          </a:p>
          <a:p>
            <a:pPr lvl="1"/>
            <a:r>
              <a:rPr lang="en-GB"/>
              <a:t>Expose GPU parallelism for general-purpose computing</a:t>
            </a:r>
          </a:p>
          <a:p>
            <a:pPr lvl="1"/>
            <a:r>
              <a:rPr lang="en-GB"/>
              <a:t>Retain performance</a:t>
            </a:r>
          </a:p>
          <a:p>
            <a:endParaRPr lang="en-GB"/>
          </a:p>
          <a:p>
            <a:r>
              <a:rPr lang="en-GB"/>
              <a:t>CUDA C/C++</a:t>
            </a:r>
          </a:p>
          <a:p>
            <a:pPr lvl="1"/>
            <a:r>
              <a:rPr lang="en-GB"/>
              <a:t>Based on industry-standard C/C++</a:t>
            </a:r>
          </a:p>
          <a:p>
            <a:pPr lvl="1"/>
            <a:r>
              <a:rPr lang="en-GB"/>
              <a:t>Small set of extensions to enable heterogeneous programming</a:t>
            </a:r>
          </a:p>
          <a:p>
            <a:pPr lvl="1"/>
            <a:r>
              <a:rPr lang="en-GB"/>
              <a:t>Straightforward APIs to manage devices, memory etc.</a:t>
            </a:r>
          </a:p>
          <a:p>
            <a:endParaRPr lang="en-GB"/>
          </a:p>
          <a:p>
            <a:r>
              <a:rPr lang="en-GB"/>
              <a:t>This session introduces CUDA C/C++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17453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 to CUDA C/C++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What will you learn in this session?</a:t>
            </a:r>
          </a:p>
          <a:p>
            <a:pPr lvl="1"/>
            <a:r>
              <a:rPr lang="en-GB"/>
              <a:t>Start from “Hello World!”</a:t>
            </a:r>
          </a:p>
          <a:p>
            <a:pPr lvl="1"/>
            <a:r>
              <a:rPr lang="en-GB"/>
              <a:t>Write and launch CUDA C/C++ kernels</a:t>
            </a:r>
          </a:p>
          <a:p>
            <a:pPr lvl="1"/>
            <a:r>
              <a:rPr lang="en-GB"/>
              <a:t>Manage GPU memory</a:t>
            </a:r>
          </a:p>
          <a:p>
            <a:pPr lvl="1"/>
            <a:r>
              <a:rPr lang="en-GB"/>
              <a:t>Manage communication and synchronization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99920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(probably) need experience with C or C++</a:t>
            </a:r>
          </a:p>
          <a:p>
            <a:endParaRPr lang="en-GB" dirty="0"/>
          </a:p>
          <a:p>
            <a:r>
              <a:rPr lang="en-GB" dirty="0"/>
              <a:t>You don’t need GPU experience</a:t>
            </a:r>
          </a:p>
          <a:p>
            <a:endParaRPr lang="en-GB" dirty="0"/>
          </a:p>
          <a:p>
            <a:r>
              <a:rPr lang="en-GB" dirty="0"/>
              <a:t>You don’t need parallel programming experience</a:t>
            </a:r>
          </a:p>
          <a:p>
            <a:endParaRPr lang="en-GB" dirty="0"/>
          </a:p>
          <a:p>
            <a:r>
              <a:rPr lang="en-GB" dirty="0"/>
              <a:t>You don’t need graphics experience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91492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/>
          <p:cNvCxnSpPr/>
          <p:nvPr/>
        </p:nvCxnSpPr>
        <p:spPr>
          <a:xfrm>
            <a:off x="6424752" y="1570954"/>
            <a:ext cx="0" cy="4628296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89" name="Straight Connector 88"/>
          <p:cNvCxnSpPr/>
          <p:nvPr/>
        </p:nvCxnSpPr>
        <p:spPr>
          <a:xfrm>
            <a:off x="6424752" y="1570954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90" name="Straight Connector 89"/>
          <p:cNvCxnSpPr/>
          <p:nvPr/>
        </p:nvCxnSpPr>
        <p:spPr>
          <a:xfrm flipV="1">
            <a:off x="2588720" y="3874140"/>
            <a:ext cx="3825044" cy="10962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91" name="AutoShape 14"/>
          <p:cNvSpPr>
            <a:spLocks noChangeArrowheads="1"/>
          </p:cNvSpPr>
          <p:nvPr/>
        </p:nvSpPr>
        <p:spPr bwMode="auto">
          <a:xfrm>
            <a:off x="6943787" y="1310954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105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92" name="AutoShape 14"/>
          <p:cNvSpPr>
            <a:spLocks noChangeArrowheads="1"/>
          </p:cNvSpPr>
          <p:nvPr/>
        </p:nvSpPr>
        <p:spPr bwMode="auto">
          <a:xfrm>
            <a:off x="6943787" y="1889491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3" name="AutoShape 14"/>
          <p:cNvSpPr>
            <a:spLocks noChangeArrowheads="1"/>
          </p:cNvSpPr>
          <p:nvPr/>
        </p:nvSpPr>
        <p:spPr bwMode="auto">
          <a:xfrm>
            <a:off x="6943787" y="2468028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4" name="AutoShape 14"/>
          <p:cNvSpPr>
            <a:spLocks noChangeArrowheads="1"/>
          </p:cNvSpPr>
          <p:nvPr/>
        </p:nvSpPr>
        <p:spPr bwMode="auto">
          <a:xfrm>
            <a:off x="6943787" y="3046564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5" name="AutoShape 14"/>
          <p:cNvSpPr>
            <a:spLocks noChangeArrowheads="1"/>
          </p:cNvSpPr>
          <p:nvPr/>
        </p:nvSpPr>
        <p:spPr bwMode="auto">
          <a:xfrm>
            <a:off x="6943787" y="3625101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6" name="AutoShape 14"/>
          <p:cNvSpPr>
            <a:spLocks noChangeArrowheads="1"/>
          </p:cNvSpPr>
          <p:nvPr/>
        </p:nvSpPr>
        <p:spPr bwMode="auto">
          <a:xfrm>
            <a:off x="6943787" y="4203638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7" name="AutoShape 14"/>
          <p:cNvSpPr>
            <a:spLocks noChangeArrowheads="1"/>
          </p:cNvSpPr>
          <p:nvPr/>
        </p:nvSpPr>
        <p:spPr bwMode="auto">
          <a:xfrm>
            <a:off x="6943787" y="4782174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8" name="AutoShape 14"/>
          <p:cNvSpPr>
            <a:spLocks noChangeArrowheads="1"/>
          </p:cNvSpPr>
          <p:nvPr/>
        </p:nvSpPr>
        <p:spPr bwMode="auto">
          <a:xfrm>
            <a:off x="6943787" y="5360711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9" name="AutoShape 14"/>
          <p:cNvSpPr>
            <a:spLocks noChangeArrowheads="1"/>
          </p:cNvSpPr>
          <p:nvPr/>
        </p:nvSpPr>
        <p:spPr bwMode="auto">
          <a:xfrm>
            <a:off x="6943787" y="5939250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105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cxnSp>
        <p:nvCxnSpPr>
          <p:cNvPr id="100" name="Straight Connector 99"/>
          <p:cNvCxnSpPr/>
          <p:nvPr/>
        </p:nvCxnSpPr>
        <p:spPr>
          <a:xfrm>
            <a:off x="6424751" y="2149491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1" name="Straight Connector 100"/>
          <p:cNvCxnSpPr/>
          <p:nvPr/>
        </p:nvCxnSpPr>
        <p:spPr>
          <a:xfrm>
            <a:off x="6424750" y="2725347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2" name="Straight Connector 101"/>
          <p:cNvCxnSpPr/>
          <p:nvPr/>
        </p:nvCxnSpPr>
        <p:spPr>
          <a:xfrm>
            <a:off x="6424752" y="3306564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3" name="Straight Connector 102"/>
          <p:cNvCxnSpPr/>
          <p:nvPr/>
        </p:nvCxnSpPr>
        <p:spPr>
          <a:xfrm>
            <a:off x="6424752" y="3885101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4" name="Straight Connector 103"/>
          <p:cNvCxnSpPr/>
          <p:nvPr/>
        </p:nvCxnSpPr>
        <p:spPr>
          <a:xfrm>
            <a:off x="6424750" y="4463638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5" name="Straight Connector 104"/>
          <p:cNvCxnSpPr/>
          <p:nvPr/>
        </p:nvCxnSpPr>
        <p:spPr>
          <a:xfrm>
            <a:off x="6424752" y="5042174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6" name="Straight Connector 105"/>
          <p:cNvCxnSpPr/>
          <p:nvPr/>
        </p:nvCxnSpPr>
        <p:spPr>
          <a:xfrm>
            <a:off x="6424752" y="5637509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7" name="Straight Connector 106"/>
          <p:cNvCxnSpPr/>
          <p:nvPr/>
        </p:nvCxnSpPr>
        <p:spPr>
          <a:xfrm>
            <a:off x="6424752" y="6204178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108" name="TextBox 107"/>
          <p:cNvSpPr txBox="1"/>
          <p:nvPr/>
        </p:nvSpPr>
        <p:spPr bwMode="auto">
          <a:xfrm>
            <a:off x="2525471" y="3283128"/>
            <a:ext cx="2308645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3400" b="1" kern="0" dirty="0">
                <a:solidFill>
                  <a:srgbClr val="8AAD00"/>
                </a:solidFill>
                <a:latin typeface="Trebuchet MS" pitchFamily="34" charset="0"/>
              </a:rPr>
              <a:t>CONCEPTS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3639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 txBox="1">
            <a:spLocks/>
          </p:cNvSpPr>
          <p:nvPr/>
        </p:nvSpPr>
        <p:spPr bwMode="auto">
          <a:xfrm>
            <a:off x="2246313" y="4406900"/>
            <a:ext cx="5424862" cy="707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kern="0" dirty="0">
                <a:latin typeface="Trebuchet MS" pitchFamily="34" charset="0"/>
              </a:rPr>
              <a:t>Hello World!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7981609" y="1512906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7984655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9" name="Straight Connector 58"/>
          <p:cNvCxnSpPr/>
          <p:nvPr/>
        </p:nvCxnSpPr>
        <p:spPr>
          <a:xfrm>
            <a:off x="5959430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60" name="AutoShape 14"/>
          <p:cNvSpPr>
            <a:spLocks noChangeArrowheads="1"/>
          </p:cNvSpPr>
          <p:nvPr/>
        </p:nvSpPr>
        <p:spPr bwMode="auto">
          <a:xfrm>
            <a:off x="8319997" y="1296401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9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8319997" y="1737803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8319997" y="2179206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8319997" y="2620608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8319997" y="3062010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8319997" y="3503412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sz="1400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8319997" y="3944814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8319997" y="4386217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AutoShape 14"/>
          <p:cNvSpPr>
            <a:spLocks noChangeArrowheads="1"/>
          </p:cNvSpPr>
          <p:nvPr/>
        </p:nvSpPr>
        <p:spPr bwMode="ltGray">
          <a:xfrm>
            <a:off x="8319997" y="4827621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9" name="TextBox 68"/>
          <p:cNvSpPr txBox="1"/>
          <p:nvPr/>
        </p:nvSpPr>
        <p:spPr bwMode="auto">
          <a:xfrm>
            <a:off x="5884423" y="1231696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2400" b="1" kern="0" dirty="0">
                <a:solidFill>
                  <a:srgbClr val="8AAD00">
                    <a:lumMod val="50000"/>
                  </a:srgbClr>
                </a:solidFill>
                <a:latin typeface="Trebuchet MS" pitchFamily="34" charset="0"/>
              </a:rPr>
              <a:t>CONCEPTS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7983432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7984655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7983431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7984655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7984655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7984655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7984655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7" name="Straight Connector 76"/>
          <p:cNvCxnSpPr/>
          <p:nvPr/>
        </p:nvCxnSpPr>
        <p:spPr>
          <a:xfrm>
            <a:off x="7984655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8791385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Heterogeneous Computing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1981733" y="1599850"/>
            <a:ext cx="8368771" cy="198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kern="0" dirty="0">
                <a:latin typeface="Arial"/>
              </a:rPr>
              <a:t>Terminology:</a:t>
            </a:r>
          </a:p>
          <a:p>
            <a:pPr lvl="1">
              <a:defRPr/>
            </a:pPr>
            <a:r>
              <a:rPr lang="en-GB" i="1" kern="0" dirty="0">
                <a:solidFill>
                  <a:srgbClr val="FF9933"/>
                </a:solidFill>
                <a:latin typeface="Arial"/>
              </a:rPr>
              <a:t>Host</a:t>
            </a:r>
            <a:r>
              <a:rPr lang="en-GB" i="1" kern="0" dirty="0">
                <a:solidFill>
                  <a:srgbClr val="FFFFFF"/>
                </a:solidFill>
                <a:latin typeface="Arial"/>
              </a:rPr>
              <a:t>	</a:t>
            </a:r>
            <a:r>
              <a:rPr lang="en-GB" kern="0" dirty="0">
                <a:latin typeface="Arial"/>
              </a:rPr>
              <a:t>The CPU and its memory (host memory)</a:t>
            </a:r>
          </a:p>
          <a:p>
            <a:pPr lvl="1">
              <a:defRPr/>
            </a:pPr>
            <a:r>
              <a:rPr lang="en-GB" i="1" kern="0" dirty="0">
                <a:solidFill>
                  <a:srgbClr val="FF9933"/>
                </a:solidFill>
                <a:latin typeface="Arial"/>
              </a:rPr>
              <a:t>Device</a:t>
            </a:r>
            <a:r>
              <a:rPr lang="en-GB" i="1" kern="0" dirty="0">
                <a:solidFill>
                  <a:srgbClr val="FFFFFF"/>
                </a:solidFill>
                <a:latin typeface="Arial"/>
              </a:rPr>
              <a:t>	</a:t>
            </a:r>
            <a:r>
              <a:rPr lang="en-GB" kern="0" dirty="0">
                <a:latin typeface="Arial"/>
              </a:rPr>
              <a:t>The GPU and its memory (device memory)</a:t>
            </a:r>
          </a:p>
        </p:txBody>
      </p:sp>
      <p:pic>
        <p:nvPicPr>
          <p:cNvPr id="18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9972" y="3969061"/>
            <a:ext cx="2239935" cy="1942139"/>
          </a:xfrm>
          <a:prstGeom prst="rect">
            <a:avLst/>
          </a:prstGeom>
          <a:noFill/>
        </p:spPr>
      </p:pic>
      <p:pic>
        <p:nvPicPr>
          <p:cNvPr id="19" name="Picture 2" descr="\\JASON-PC\Users\Jason\Documents\CUDA by Example\Tesla_c1060_3qt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25632" y="3969060"/>
            <a:ext cx="2219592" cy="1705550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 bwMode="auto">
          <a:xfrm>
            <a:off x="3766325" y="5911199"/>
            <a:ext cx="712046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>
              <a:defRPr/>
            </a:pPr>
            <a:r>
              <a:rPr lang="en-GB" sz="2000" kern="0" dirty="0">
                <a:solidFill>
                  <a:srgbClr val="808080"/>
                </a:solidFill>
                <a:latin typeface="Arial"/>
              </a:rPr>
              <a:t>Host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8038741" y="5911199"/>
            <a:ext cx="970129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>
              <a:defRPr/>
            </a:pPr>
            <a:r>
              <a:rPr lang="en-GB" sz="2000" kern="0" dirty="0">
                <a:solidFill>
                  <a:srgbClr val="808080"/>
                </a:solidFill>
                <a:latin typeface="Arial"/>
              </a:rPr>
              <a:t>Device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73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Heterogeneous Computing</a:t>
            </a:r>
          </a:p>
        </p:txBody>
      </p:sp>
      <p:sp>
        <p:nvSpPr>
          <p:cNvPr id="100" name="Folded Corner 99"/>
          <p:cNvSpPr/>
          <p:nvPr/>
        </p:nvSpPr>
        <p:spPr>
          <a:xfrm>
            <a:off x="2540606" y="1538792"/>
            <a:ext cx="1912713" cy="4500499"/>
          </a:xfrm>
          <a:prstGeom prst="foldedCorner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 anchorCtr="0"/>
          <a:lstStyle/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#include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>
                <a:solidFill>
                  <a:srgbClr val="A31515"/>
                </a:solidFill>
                <a:latin typeface="Arial"/>
              </a:rPr>
              <a:t>&lt;</a:t>
            </a:r>
            <a:r>
              <a:rPr lang="en-GB" sz="400" kern="0" dirty="0" err="1">
                <a:solidFill>
                  <a:srgbClr val="A31515"/>
                </a:solidFill>
                <a:latin typeface="Arial"/>
              </a:rPr>
              <a:t>iostream</a:t>
            </a:r>
            <a:r>
              <a:rPr lang="en-GB" sz="400" kern="0" dirty="0">
                <a:solidFill>
                  <a:srgbClr val="A31515"/>
                </a:solidFill>
                <a:latin typeface="Arial"/>
              </a:rPr>
              <a:t>&gt;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#include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>
                <a:solidFill>
                  <a:srgbClr val="A31515"/>
                </a:solidFill>
                <a:latin typeface="Arial"/>
              </a:rPr>
              <a:t>&lt;algorithm&gt;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srgbClr val="A31515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using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namespace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std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#define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N          1024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#define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RADIUS     3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#define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BLOCK_SIZE 16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__global__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void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stencil_1d(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*in,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*out) {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__shared__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temp[BLOCK_SIZE + 2 * RADIUS];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gindex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=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threadIdx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.x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blockIdx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.x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blockDim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.x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lindex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=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threadIdx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.x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RADIUS;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Read input elements into shared memory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temp[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lindex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] = in[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gindex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];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if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threadIdx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.x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&lt; RADIUS) {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	temp[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lindex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- RADIUS] = in[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gindex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- RADIUS];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	temp[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lindex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BLOCK_SIZE] = in[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gindex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BLOCK_SIZE];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}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Synchronize (ensure all the data is available)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__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syncthreads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Apply the stencil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result = 0;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for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offset = -RADIUS ; offset &lt;= RADIUS ; offset++)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	result += temp[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lindex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offset];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Store the result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out[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gindex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] = result;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}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srgbClr val="0000FF"/>
                </a:solidFill>
                <a:latin typeface="Arial"/>
              </a:rPr>
              <a:t>void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fill_ints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*x,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n) {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fill_n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(x, n, 1);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}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main(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void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 {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*in, *out;              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host copies of a, b, c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d_in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, *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d_out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;          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device copies of a, b, c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size = (N + 2*RADIUS) * 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sizeof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</a:t>
            </a:r>
            <a:r>
              <a:rPr lang="en-GB" sz="400" kern="0" dirty="0" err="1">
                <a:solidFill>
                  <a:srgbClr val="008000"/>
                </a:solidFill>
                <a:latin typeface="Arial"/>
              </a:rPr>
              <a:t>Alloc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 space for host copies and setup values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in  = 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*)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malloc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(size);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fill_ints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(in,  N + 2*RADIUS);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out = (</a:t>
            </a:r>
            <a:r>
              <a:rPr lang="en-GB" sz="400" kern="0" dirty="0" err="1">
                <a:solidFill>
                  <a:srgbClr val="0000FF"/>
                </a:solidFill>
                <a:latin typeface="Arial"/>
              </a:rPr>
              <a:t>int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*)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malloc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(size);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fill_ints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(out, N + 2*RADIUS);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</a:t>
            </a:r>
            <a:r>
              <a:rPr lang="en-GB" sz="400" kern="0" dirty="0" err="1">
                <a:solidFill>
                  <a:srgbClr val="008000"/>
                </a:solidFill>
                <a:latin typeface="Arial"/>
              </a:rPr>
              <a:t>Alloc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 space for device copies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cudaMalloc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((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void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**)&amp;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d_in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,  size);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cudaMalloc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((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void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**)&amp;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d_out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, size);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Copy to device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cudaMemcpy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d_in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,  in,  size,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cudaMemcpyHostToDevice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cudaMemcpy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d_out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, out, size,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cudaMemcpyHostToDevice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Launch stencil_1d() kernel on GPU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stencil_1d&lt;&lt;&lt;N/BLOCK_SIZE,BLOCK_SIZE&gt;&gt;&gt;(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d_in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RADIUS,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d_out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+ RADIUS);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Copy result back to host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cudaMemcpy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(out,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d_out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, size,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cudaMemcpyDeviceToHost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prstClr val="black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8000"/>
                </a:solidFill>
                <a:latin typeface="Arial"/>
              </a:rPr>
              <a:t>// </a:t>
            </a:r>
            <a:r>
              <a:rPr lang="en-GB" sz="400" kern="0" dirty="0" err="1">
                <a:solidFill>
                  <a:srgbClr val="008000"/>
                </a:solidFill>
                <a:latin typeface="Arial"/>
              </a:rPr>
              <a:t>Cleanup</a:t>
            </a:r>
            <a:endParaRPr lang="en-GB" sz="400" kern="0" dirty="0">
              <a:solidFill>
                <a:srgbClr val="008000"/>
              </a:solidFill>
              <a:latin typeface="Arial"/>
            </a:endParaRP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free(in); free(out);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cudaFree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d_in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); 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cudaFree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(</a:t>
            </a:r>
            <a:r>
              <a:rPr lang="en-GB" sz="400" kern="0" dirty="0" err="1">
                <a:solidFill>
                  <a:prstClr val="black"/>
                </a:solidFill>
                <a:latin typeface="Arial"/>
              </a:rPr>
              <a:t>d_out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);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	</a:t>
            </a:r>
            <a:r>
              <a:rPr lang="en-GB" sz="400" kern="0" dirty="0">
                <a:solidFill>
                  <a:srgbClr val="0000FF"/>
                </a:solidFill>
                <a:latin typeface="Arial"/>
              </a:rPr>
              <a:t>return</a:t>
            </a:r>
            <a:r>
              <a:rPr lang="en-GB" sz="400" kern="0" dirty="0">
                <a:solidFill>
                  <a:prstClr val="black"/>
                </a:solidFill>
                <a:latin typeface="Arial"/>
              </a:rPr>
              <a:t> 0;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r>
              <a:rPr lang="en-GB" sz="400" kern="0" dirty="0">
                <a:solidFill>
                  <a:prstClr val="black"/>
                </a:solidFill>
                <a:latin typeface="Arial"/>
              </a:rPr>
              <a:t>}</a:t>
            </a:r>
          </a:p>
          <a:p>
            <a:pPr>
              <a:tabLst>
                <a:tab pos="180000" algn="l"/>
                <a:tab pos="360000" algn="l"/>
                <a:tab pos="540000" algn="l"/>
                <a:tab pos="720000" algn="l"/>
              </a:tabLst>
              <a:defRPr/>
            </a:pPr>
            <a:endParaRPr lang="en-GB" sz="4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ight Brace 100"/>
          <p:cNvSpPr/>
          <p:nvPr/>
        </p:nvSpPr>
        <p:spPr>
          <a:xfrm>
            <a:off x="4510451" y="4089074"/>
            <a:ext cx="75008" cy="1100122"/>
          </a:xfrm>
          <a:prstGeom prst="rightBrac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ight Brace 101"/>
          <p:cNvSpPr/>
          <p:nvPr/>
        </p:nvSpPr>
        <p:spPr>
          <a:xfrm>
            <a:off x="4522525" y="5489229"/>
            <a:ext cx="62935" cy="450051"/>
          </a:xfrm>
          <a:prstGeom prst="rightBrac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ight Brace 102"/>
          <p:cNvSpPr/>
          <p:nvPr/>
        </p:nvSpPr>
        <p:spPr>
          <a:xfrm>
            <a:off x="4510451" y="5189196"/>
            <a:ext cx="75008" cy="300032"/>
          </a:xfrm>
          <a:prstGeom prst="rightBrac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03"/>
          <p:cNvSpPr txBox="1"/>
          <p:nvPr/>
        </p:nvSpPr>
        <p:spPr bwMode="auto">
          <a:xfrm>
            <a:off x="4652690" y="4416851"/>
            <a:ext cx="13099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GB" dirty="0">
                <a:latin typeface="Trebuchet MS" pitchFamily="34" charset="0"/>
              </a:rPr>
              <a:t>serial code</a:t>
            </a:r>
          </a:p>
        </p:txBody>
      </p:sp>
      <p:sp>
        <p:nvSpPr>
          <p:cNvPr id="105" name="TextBox 104"/>
          <p:cNvSpPr txBox="1"/>
          <p:nvPr/>
        </p:nvSpPr>
        <p:spPr bwMode="auto">
          <a:xfrm>
            <a:off x="4652691" y="5116928"/>
            <a:ext cx="1535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GB" dirty="0">
                <a:latin typeface="Trebuchet MS" pitchFamily="34" charset="0"/>
              </a:rPr>
              <a:t>parallel code</a:t>
            </a:r>
          </a:p>
        </p:txBody>
      </p:sp>
      <p:sp>
        <p:nvSpPr>
          <p:cNvPr id="106" name="TextBox 105"/>
          <p:cNvSpPr txBox="1"/>
          <p:nvPr/>
        </p:nvSpPr>
        <p:spPr bwMode="auto">
          <a:xfrm>
            <a:off x="4652690" y="5491970"/>
            <a:ext cx="13099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GB" dirty="0">
                <a:latin typeface="Trebuchet MS" pitchFamily="34" charset="0"/>
              </a:rPr>
              <a:t>serial code</a:t>
            </a:r>
          </a:p>
        </p:txBody>
      </p:sp>
      <p:sp>
        <p:nvSpPr>
          <p:cNvPr id="107" name="Right Brace 106"/>
          <p:cNvSpPr/>
          <p:nvPr/>
        </p:nvSpPr>
        <p:spPr>
          <a:xfrm>
            <a:off x="4510451" y="2161119"/>
            <a:ext cx="75008" cy="1627920"/>
          </a:xfrm>
          <a:prstGeom prst="rightBrac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107"/>
          <p:cNvSpPr txBox="1"/>
          <p:nvPr/>
        </p:nvSpPr>
        <p:spPr bwMode="auto">
          <a:xfrm>
            <a:off x="4652690" y="2769895"/>
            <a:ext cx="12554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GB" dirty="0">
                <a:latin typeface="Trebuchet MS" pitchFamily="34" charset="0"/>
              </a:rPr>
              <a:t>parallel </a:t>
            </a:r>
            <a:r>
              <a:rPr lang="en-GB" dirty="0" err="1">
                <a:latin typeface="Trebuchet MS" pitchFamily="34" charset="0"/>
              </a:rPr>
              <a:t>fn</a:t>
            </a:r>
            <a:endParaRPr lang="en-GB" dirty="0">
              <a:latin typeface="Trebuchet MS" pitchFamily="34" charset="0"/>
            </a:endParaRPr>
          </a:p>
        </p:txBody>
      </p:sp>
      <p:pic>
        <p:nvPicPr>
          <p:cNvPr id="109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03329" y="1538790"/>
            <a:ext cx="1107723" cy="1107824"/>
          </a:xfrm>
          <a:prstGeom prst="rect">
            <a:avLst/>
          </a:prstGeom>
          <a:noFill/>
        </p:spPr>
      </p:pic>
      <p:sp>
        <p:nvSpPr>
          <p:cNvPr id="110" name="Freeform 109"/>
          <p:cNvSpPr/>
          <p:nvPr/>
        </p:nvSpPr>
        <p:spPr>
          <a:xfrm>
            <a:off x="8236081" y="1692224"/>
            <a:ext cx="92812" cy="800956"/>
          </a:xfrm>
          <a:custGeom>
            <a:avLst/>
            <a:gdLst>
              <a:gd name="connsiteX0" fmla="*/ 2 w 733595"/>
              <a:gd name="connsiteY0" fmla="*/ 0 h 4064000"/>
              <a:gd name="connsiteX1" fmla="*/ 719668 w 733595"/>
              <a:gd name="connsiteY1" fmla="*/ 736600 h 4064000"/>
              <a:gd name="connsiteX2" fmla="*/ 2 w 733595"/>
              <a:gd name="connsiteY2" fmla="*/ 1456266 h 4064000"/>
              <a:gd name="connsiteX3" fmla="*/ 728135 w 733595"/>
              <a:gd name="connsiteY3" fmla="*/ 2175933 h 4064000"/>
              <a:gd name="connsiteX4" fmla="*/ 16935 w 733595"/>
              <a:gd name="connsiteY4" fmla="*/ 2895600 h 4064000"/>
              <a:gd name="connsiteX5" fmla="*/ 728135 w 733595"/>
              <a:gd name="connsiteY5" fmla="*/ 3615266 h 4064000"/>
              <a:gd name="connsiteX6" fmla="*/ 287868 w 733595"/>
              <a:gd name="connsiteY6" fmla="*/ 4064000 h 4064000"/>
              <a:gd name="connsiteX0" fmla="*/ 278841 w 733595"/>
              <a:gd name="connsiteY0" fmla="*/ 0 h 3840926"/>
              <a:gd name="connsiteX1" fmla="*/ 719668 w 733595"/>
              <a:gd name="connsiteY1" fmla="*/ 513526 h 3840926"/>
              <a:gd name="connsiteX2" fmla="*/ 2 w 733595"/>
              <a:gd name="connsiteY2" fmla="*/ 1233192 h 3840926"/>
              <a:gd name="connsiteX3" fmla="*/ 728135 w 733595"/>
              <a:gd name="connsiteY3" fmla="*/ 1952859 h 3840926"/>
              <a:gd name="connsiteX4" fmla="*/ 16935 w 733595"/>
              <a:gd name="connsiteY4" fmla="*/ 2672526 h 3840926"/>
              <a:gd name="connsiteX5" fmla="*/ 728135 w 733595"/>
              <a:gd name="connsiteY5" fmla="*/ 3392192 h 3840926"/>
              <a:gd name="connsiteX6" fmla="*/ 287868 w 733595"/>
              <a:gd name="connsiteY6" fmla="*/ 3840926 h 384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3595" h="3840926">
                <a:moveTo>
                  <a:pt x="278841" y="0"/>
                </a:moveTo>
                <a:cubicBezTo>
                  <a:pt x="638674" y="246944"/>
                  <a:pt x="766141" y="307994"/>
                  <a:pt x="719668" y="513526"/>
                </a:cubicBezTo>
                <a:cubicBezTo>
                  <a:pt x="673195" y="719058"/>
                  <a:pt x="-1409" y="993303"/>
                  <a:pt x="2" y="1233192"/>
                </a:cubicBezTo>
                <a:cubicBezTo>
                  <a:pt x="1413" y="1473081"/>
                  <a:pt x="725313" y="1712970"/>
                  <a:pt x="728135" y="1952859"/>
                </a:cubicBezTo>
                <a:cubicBezTo>
                  <a:pt x="730957" y="2192748"/>
                  <a:pt x="16935" y="2432637"/>
                  <a:pt x="16935" y="2672526"/>
                </a:cubicBezTo>
                <a:cubicBezTo>
                  <a:pt x="16935" y="2912415"/>
                  <a:pt x="682980" y="3197459"/>
                  <a:pt x="728135" y="3392192"/>
                </a:cubicBezTo>
                <a:cubicBezTo>
                  <a:pt x="773291" y="3586925"/>
                  <a:pt x="530579" y="3713925"/>
                  <a:pt x="287868" y="3840926"/>
                </a:cubicBezTo>
              </a:path>
            </a:pathLst>
          </a:cu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  <a:tailEnd type="triangle" w="lg" len="me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1" name="Group 110"/>
          <p:cNvGrpSpPr/>
          <p:nvPr/>
        </p:nvGrpSpPr>
        <p:grpSpPr>
          <a:xfrm>
            <a:off x="7556450" y="2988083"/>
            <a:ext cx="1217937" cy="800956"/>
            <a:chOff x="7881458" y="2545259"/>
            <a:chExt cx="1461524" cy="720860"/>
          </a:xfrm>
        </p:grpSpPr>
        <p:sp>
          <p:nvSpPr>
            <p:cNvPr id="112" name="Freeform 111"/>
            <p:cNvSpPr/>
            <p:nvPr/>
          </p:nvSpPr>
          <p:spPr>
            <a:xfrm>
              <a:off x="7881458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7933387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7985316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8037245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8141103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8244961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8348819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8504606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8660393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8089174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8193032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8296890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8400748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8556535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8712322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8816180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8920038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9023896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8452677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8608464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8764251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8868109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8971967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9075825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9127754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9179683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9231608" y="2545259"/>
              <a:ext cx="111374" cy="720860"/>
            </a:xfrm>
            <a:custGeom>
              <a:avLst/>
              <a:gdLst>
                <a:gd name="connsiteX0" fmla="*/ 2 w 733595"/>
                <a:gd name="connsiteY0" fmla="*/ 0 h 4064000"/>
                <a:gd name="connsiteX1" fmla="*/ 719668 w 733595"/>
                <a:gd name="connsiteY1" fmla="*/ 736600 h 4064000"/>
                <a:gd name="connsiteX2" fmla="*/ 2 w 733595"/>
                <a:gd name="connsiteY2" fmla="*/ 1456266 h 4064000"/>
                <a:gd name="connsiteX3" fmla="*/ 728135 w 733595"/>
                <a:gd name="connsiteY3" fmla="*/ 2175933 h 4064000"/>
                <a:gd name="connsiteX4" fmla="*/ 16935 w 733595"/>
                <a:gd name="connsiteY4" fmla="*/ 2895600 h 4064000"/>
                <a:gd name="connsiteX5" fmla="*/ 728135 w 733595"/>
                <a:gd name="connsiteY5" fmla="*/ 3615266 h 4064000"/>
                <a:gd name="connsiteX6" fmla="*/ 287868 w 733595"/>
                <a:gd name="connsiteY6" fmla="*/ 4064000 h 4064000"/>
                <a:gd name="connsiteX0" fmla="*/ 278841 w 733595"/>
                <a:gd name="connsiteY0" fmla="*/ 0 h 3840926"/>
                <a:gd name="connsiteX1" fmla="*/ 719668 w 733595"/>
                <a:gd name="connsiteY1" fmla="*/ 513526 h 3840926"/>
                <a:gd name="connsiteX2" fmla="*/ 2 w 733595"/>
                <a:gd name="connsiteY2" fmla="*/ 1233192 h 3840926"/>
                <a:gd name="connsiteX3" fmla="*/ 728135 w 733595"/>
                <a:gd name="connsiteY3" fmla="*/ 1952859 h 3840926"/>
                <a:gd name="connsiteX4" fmla="*/ 16935 w 733595"/>
                <a:gd name="connsiteY4" fmla="*/ 2672526 h 3840926"/>
                <a:gd name="connsiteX5" fmla="*/ 728135 w 733595"/>
                <a:gd name="connsiteY5" fmla="*/ 3392192 h 3840926"/>
                <a:gd name="connsiteX6" fmla="*/ 287868 w 733595"/>
                <a:gd name="connsiteY6" fmla="*/ 3840926 h 384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3595" h="3840926">
                  <a:moveTo>
                    <a:pt x="278841" y="0"/>
                  </a:moveTo>
                  <a:cubicBezTo>
                    <a:pt x="638674" y="246944"/>
                    <a:pt x="766141" y="307994"/>
                    <a:pt x="719668" y="513526"/>
                  </a:cubicBezTo>
                  <a:cubicBezTo>
                    <a:pt x="673195" y="719058"/>
                    <a:pt x="-1409" y="993303"/>
                    <a:pt x="2" y="1233192"/>
                  </a:cubicBezTo>
                  <a:cubicBezTo>
                    <a:pt x="1413" y="1473081"/>
                    <a:pt x="725313" y="1712970"/>
                    <a:pt x="728135" y="1952859"/>
                  </a:cubicBezTo>
                  <a:cubicBezTo>
                    <a:pt x="730957" y="2192748"/>
                    <a:pt x="16935" y="2432637"/>
                    <a:pt x="16935" y="2672526"/>
                  </a:cubicBezTo>
                  <a:cubicBezTo>
                    <a:pt x="16935" y="2912415"/>
                    <a:pt x="682980" y="3197459"/>
                    <a:pt x="728135" y="3392192"/>
                  </a:cubicBezTo>
                  <a:cubicBezTo>
                    <a:pt x="773291" y="3586925"/>
                    <a:pt x="530579" y="3713925"/>
                    <a:pt x="287868" y="3840926"/>
                  </a:cubicBezTo>
                </a:path>
              </a:pathLst>
            </a:cu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  <a:tailEnd type="triangle" w="sm" len="sm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39" name="Picture 2" descr="\\JASON-PC\Users\Jason\Documents\CUDA by Example\Tesla_c1060_3qt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78383" y="2923864"/>
            <a:ext cx="957612" cy="864404"/>
          </a:xfrm>
          <a:prstGeom prst="rect">
            <a:avLst/>
          </a:prstGeom>
          <a:noFill/>
        </p:spPr>
      </p:pic>
      <p:pic>
        <p:nvPicPr>
          <p:cNvPr id="140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03329" y="4481416"/>
            <a:ext cx="1107723" cy="1107824"/>
          </a:xfrm>
          <a:prstGeom prst="rect">
            <a:avLst/>
          </a:prstGeom>
          <a:noFill/>
        </p:spPr>
      </p:pic>
      <p:sp>
        <p:nvSpPr>
          <p:cNvPr id="141" name="Freeform 140"/>
          <p:cNvSpPr/>
          <p:nvPr/>
        </p:nvSpPr>
        <p:spPr>
          <a:xfrm>
            <a:off x="8236081" y="4634850"/>
            <a:ext cx="92812" cy="800956"/>
          </a:xfrm>
          <a:custGeom>
            <a:avLst/>
            <a:gdLst>
              <a:gd name="connsiteX0" fmla="*/ 2 w 733595"/>
              <a:gd name="connsiteY0" fmla="*/ 0 h 4064000"/>
              <a:gd name="connsiteX1" fmla="*/ 719668 w 733595"/>
              <a:gd name="connsiteY1" fmla="*/ 736600 h 4064000"/>
              <a:gd name="connsiteX2" fmla="*/ 2 w 733595"/>
              <a:gd name="connsiteY2" fmla="*/ 1456266 h 4064000"/>
              <a:gd name="connsiteX3" fmla="*/ 728135 w 733595"/>
              <a:gd name="connsiteY3" fmla="*/ 2175933 h 4064000"/>
              <a:gd name="connsiteX4" fmla="*/ 16935 w 733595"/>
              <a:gd name="connsiteY4" fmla="*/ 2895600 h 4064000"/>
              <a:gd name="connsiteX5" fmla="*/ 728135 w 733595"/>
              <a:gd name="connsiteY5" fmla="*/ 3615266 h 4064000"/>
              <a:gd name="connsiteX6" fmla="*/ 287868 w 733595"/>
              <a:gd name="connsiteY6" fmla="*/ 4064000 h 4064000"/>
              <a:gd name="connsiteX0" fmla="*/ 278841 w 733595"/>
              <a:gd name="connsiteY0" fmla="*/ 0 h 3840926"/>
              <a:gd name="connsiteX1" fmla="*/ 719668 w 733595"/>
              <a:gd name="connsiteY1" fmla="*/ 513526 h 3840926"/>
              <a:gd name="connsiteX2" fmla="*/ 2 w 733595"/>
              <a:gd name="connsiteY2" fmla="*/ 1233192 h 3840926"/>
              <a:gd name="connsiteX3" fmla="*/ 728135 w 733595"/>
              <a:gd name="connsiteY3" fmla="*/ 1952859 h 3840926"/>
              <a:gd name="connsiteX4" fmla="*/ 16935 w 733595"/>
              <a:gd name="connsiteY4" fmla="*/ 2672526 h 3840926"/>
              <a:gd name="connsiteX5" fmla="*/ 728135 w 733595"/>
              <a:gd name="connsiteY5" fmla="*/ 3392192 h 3840926"/>
              <a:gd name="connsiteX6" fmla="*/ 287868 w 733595"/>
              <a:gd name="connsiteY6" fmla="*/ 3840926 h 384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3595" h="3840926">
                <a:moveTo>
                  <a:pt x="278841" y="0"/>
                </a:moveTo>
                <a:cubicBezTo>
                  <a:pt x="638674" y="246944"/>
                  <a:pt x="766141" y="307994"/>
                  <a:pt x="719668" y="513526"/>
                </a:cubicBezTo>
                <a:cubicBezTo>
                  <a:pt x="673195" y="719058"/>
                  <a:pt x="-1409" y="993303"/>
                  <a:pt x="2" y="1233192"/>
                </a:cubicBezTo>
                <a:cubicBezTo>
                  <a:pt x="1413" y="1473081"/>
                  <a:pt x="725313" y="1712970"/>
                  <a:pt x="728135" y="1952859"/>
                </a:cubicBezTo>
                <a:cubicBezTo>
                  <a:pt x="730957" y="2192748"/>
                  <a:pt x="16935" y="2432637"/>
                  <a:pt x="16935" y="2672526"/>
                </a:cubicBezTo>
                <a:cubicBezTo>
                  <a:pt x="16935" y="2912415"/>
                  <a:pt x="682980" y="3197459"/>
                  <a:pt x="728135" y="3392192"/>
                </a:cubicBezTo>
                <a:cubicBezTo>
                  <a:pt x="773291" y="3586925"/>
                  <a:pt x="530579" y="3713925"/>
                  <a:pt x="287868" y="3840926"/>
                </a:cubicBezTo>
              </a:path>
            </a:pathLst>
          </a:cu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  <a:tailEnd type="triangle" w="lg" len="me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2" name="Straight Arrow Connector 141"/>
          <p:cNvCxnSpPr/>
          <p:nvPr/>
        </p:nvCxnSpPr>
        <p:spPr>
          <a:xfrm flipV="1">
            <a:off x="5823097" y="2238869"/>
            <a:ext cx="2129083" cy="2177982"/>
          </a:xfrm>
          <a:prstGeom prst="straightConnector1">
            <a:avLst/>
          </a:prstGeom>
          <a:noFill/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43" name="Straight Arrow Connector 142"/>
          <p:cNvCxnSpPr/>
          <p:nvPr/>
        </p:nvCxnSpPr>
        <p:spPr>
          <a:xfrm flipV="1">
            <a:off x="6096000" y="3788268"/>
            <a:ext cx="1414784" cy="1400928"/>
          </a:xfrm>
          <a:prstGeom prst="straightConnector1">
            <a:avLst/>
          </a:prstGeom>
          <a:noFill/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44" name="Straight Arrow Connector 143"/>
          <p:cNvCxnSpPr/>
          <p:nvPr/>
        </p:nvCxnSpPr>
        <p:spPr>
          <a:xfrm flipV="1">
            <a:off x="5962664" y="5116930"/>
            <a:ext cx="2026526" cy="559707"/>
          </a:xfrm>
          <a:prstGeom prst="straightConnector1">
            <a:avLst/>
          </a:prstGeom>
          <a:noFill/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35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/>
      <p:bldP spid="105" grpId="0"/>
      <p:bldP spid="106" grpId="0"/>
      <p:bldP spid="107" grpId="0" animBg="1"/>
      <p:bldP spid="108" grpId="0"/>
      <p:bldP spid="110" grpId="0" animBg="1"/>
      <p:bldP spid="1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1988316" y="4143381"/>
            <a:ext cx="4107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Copy input data from CPU memory to GPU memory</a:t>
            </a:r>
          </a:p>
        </p:txBody>
      </p:sp>
      <p:pic>
        <p:nvPicPr>
          <p:cNvPr id="133123" name="Picture 3" descr="\\europa\USB_Storage\Parallel programming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334135" y="1133745"/>
            <a:ext cx="4169664" cy="5120640"/>
          </a:xfrm>
          <a:prstGeom prst="rect">
            <a:avLst/>
          </a:prstGeom>
          <a:noFill/>
        </p:spPr>
      </p:pic>
      <p:pic>
        <p:nvPicPr>
          <p:cNvPr id="133124" name="Picture 4" descr="\\europa\USB_Storage\Parallel programming (CPU)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2360585" y="1493785"/>
            <a:ext cx="2642616" cy="2039112"/>
          </a:xfrm>
          <a:prstGeom prst="rect">
            <a:avLst/>
          </a:prstGeom>
          <a:noFill/>
        </p:spPr>
      </p:pic>
      <p:sp>
        <p:nvSpPr>
          <p:cNvPr id="124" name="Left-Right Arrow 123"/>
          <p:cNvSpPr/>
          <p:nvPr/>
        </p:nvSpPr>
        <p:spPr>
          <a:xfrm>
            <a:off x="4786304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2" name="Bent Arrow 131"/>
          <p:cNvSpPr/>
          <p:nvPr/>
        </p:nvSpPr>
        <p:spPr>
          <a:xfrm rot="5400000">
            <a:off x="4726529" y="2278193"/>
            <a:ext cx="2949997" cy="3631432"/>
          </a:xfrm>
          <a:prstGeom prst="bentArrow">
            <a:avLst>
              <a:gd name="adj1" fmla="val 14333"/>
              <a:gd name="adj2" fmla="val 13740"/>
              <a:gd name="adj3" fmla="val 20259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\\europa\USB_Storage\Parallel programming (CPU)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360585" y="1493785"/>
            <a:ext cx="2642616" cy="2039112"/>
          </a:xfrm>
          <a:prstGeom prst="rect">
            <a:avLst/>
          </a:prstGeom>
          <a:noFill/>
        </p:spPr>
      </p:pic>
      <p:pic>
        <p:nvPicPr>
          <p:cNvPr id="15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6334135" y="1133745"/>
            <a:ext cx="4169664" cy="512064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1988316" y="4143382"/>
            <a:ext cx="4107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Copy input data from CPU memory to GPU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GPU program and execute,</a:t>
            </a:r>
            <a:br>
              <a:rPr lang="en-US" dirty="0"/>
            </a:br>
            <a:r>
              <a:rPr lang="en-US" dirty="0"/>
              <a:t>caching data on chip for performance</a:t>
            </a:r>
          </a:p>
        </p:txBody>
      </p:sp>
      <p:sp>
        <p:nvSpPr>
          <p:cNvPr id="134" name="Bent Arrow 133"/>
          <p:cNvSpPr/>
          <p:nvPr/>
        </p:nvSpPr>
        <p:spPr>
          <a:xfrm rot="5400000" flipH="1">
            <a:off x="5793163" y="152706"/>
            <a:ext cx="427080" cy="3155178"/>
          </a:xfrm>
          <a:prstGeom prst="bentArrow">
            <a:avLst>
              <a:gd name="adj1" fmla="val 40608"/>
              <a:gd name="adj2" fmla="val 45062"/>
              <a:gd name="adj3" fmla="val 36853"/>
              <a:gd name="adj4" fmla="val 3979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5" name="Up-Down Arrow 134"/>
          <p:cNvSpPr/>
          <p:nvPr/>
        </p:nvSpPr>
        <p:spPr>
          <a:xfrm>
            <a:off x="6750849" y="4059071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6" name="Up-Down Arrow 135"/>
          <p:cNvSpPr/>
          <p:nvPr/>
        </p:nvSpPr>
        <p:spPr>
          <a:xfrm>
            <a:off x="7720456" y="4059071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7" name="Up-Down Arrow 136"/>
          <p:cNvSpPr/>
          <p:nvPr/>
        </p:nvSpPr>
        <p:spPr>
          <a:xfrm>
            <a:off x="9156341" y="4059071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  <p:sp>
        <p:nvSpPr>
          <p:cNvPr id="16" name="Left-Right Arrow 15"/>
          <p:cNvSpPr/>
          <p:nvPr/>
        </p:nvSpPr>
        <p:spPr>
          <a:xfrm>
            <a:off x="4786304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98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  <p:bldP spid="136" grpId="0" animBg="1"/>
      <p:bldP spid="1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\\europa\USB_Storage\Parallel programming (CPU)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360585" y="1493785"/>
            <a:ext cx="2642616" cy="2039112"/>
          </a:xfrm>
          <a:prstGeom prst="rect">
            <a:avLst/>
          </a:prstGeom>
          <a:noFill/>
        </p:spPr>
      </p:pic>
      <p:pic>
        <p:nvPicPr>
          <p:cNvPr id="10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6334135" y="1133745"/>
            <a:ext cx="4169664" cy="512064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1988316" y="4143380"/>
            <a:ext cx="4107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Copy input data from CPU memory to GPU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GPU program and execute,</a:t>
            </a:r>
            <a:br>
              <a:rPr lang="en-US" dirty="0"/>
            </a:br>
            <a:r>
              <a:rPr lang="en-US" dirty="0"/>
              <a:t>caching data on chip for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Copy results from GPU memory to CPU memory</a:t>
            </a:r>
            <a:endParaRPr lang="en-GB" dirty="0"/>
          </a:p>
        </p:txBody>
      </p:sp>
      <p:sp>
        <p:nvSpPr>
          <p:cNvPr id="138" name="Bent Arrow 137"/>
          <p:cNvSpPr/>
          <p:nvPr/>
        </p:nvSpPr>
        <p:spPr>
          <a:xfrm rot="10800000" flipV="1">
            <a:off x="4080297" y="2571767"/>
            <a:ext cx="3950919" cy="2927462"/>
          </a:xfrm>
          <a:prstGeom prst="bentArrow">
            <a:avLst>
              <a:gd name="adj1" fmla="val 14333"/>
              <a:gd name="adj2" fmla="val 13740"/>
              <a:gd name="adj3" fmla="val 20259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  <p:sp>
        <p:nvSpPr>
          <p:cNvPr id="11" name="Left-Right Arrow 10"/>
          <p:cNvSpPr/>
          <p:nvPr/>
        </p:nvSpPr>
        <p:spPr>
          <a:xfrm>
            <a:off x="4786304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13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1981733" y="1599850"/>
            <a:ext cx="5854463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2000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("Hello World!\n");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20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endParaRPr lang="en-GB" dirty="0"/>
          </a:p>
          <a:p>
            <a:r>
              <a:rPr lang="en-GB" dirty="0"/>
              <a:t>Standard C that runs on the host</a:t>
            </a:r>
          </a:p>
          <a:p>
            <a:endParaRPr lang="en-GB" dirty="0"/>
          </a:p>
          <a:p>
            <a:r>
              <a:rPr lang="en-GB" dirty="0"/>
              <a:t>NVIDIA compiler (</a:t>
            </a:r>
            <a:r>
              <a:rPr lang="en-GB" dirty="0" err="1"/>
              <a:t>nvcc</a:t>
            </a:r>
            <a:r>
              <a:rPr lang="en-GB" dirty="0"/>
              <a:t>) can be used to compile programs with no </a:t>
            </a:r>
            <a:r>
              <a:rPr lang="en-GB" i="1" dirty="0"/>
              <a:t>device</a:t>
            </a:r>
            <a:r>
              <a:rPr lang="en-GB" dirty="0"/>
              <a:t> code</a:t>
            </a:r>
          </a:p>
        </p:txBody>
      </p:sp>
      <p:sp>
        <p:nvSpPr>
          <p:cNvPr id="13" name="Content Placeholder 9"/>
          <p:cNvSpPr txBox="1">
            <a:spLocks/>
          </p:cNvSpPr>
          <p:nvPr/>
        </p:nvSpPr>
        <p:spPr bwMode="auto">
          <a:xfrm>
            <a:off x="7896200" y="1599739"/>
            <a:ext cx="2455250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cs typeface="Courier New" pitchFamily="49" charset="0"/>
              </a:rPr>
              <a:t>Output:</a:t>
            </a:r>
          </a:p>
          <a:p>
            <a:pPr marL="0" indent="0">
              <a:spcBef>
                <a:spcPct val="0"/>
              </a:spcBef>
              <a:buSzTx/>
              <a:buNone/>
            </a:pP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nvcc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hello_world.cu</a:t>
            </a: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a.out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Hello World!</a:t>
            </a: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4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 with Device Code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81733" y="1599850"/>
            <a:ext cx="8368771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kern="0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20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  <a:defRPr/>
            </a:pP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  <a:defRPr/>
            </a:pPr>
            <a:endParaRPr lang="en-GB" sz="20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20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20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  <a:defRPr/>
            </a:pP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kern="0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&lt;&lt;&lt;1,1&gt;&gt;&gt;();</a:t>
            </a:r>
          </a:p>
          <a:p>
            <a:pPr marL="0" indent="0">
              <a:buNone/>
              <a:defRPr/>
            </a:pP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kern="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("Hello World!\n");</a:t>
            </a:r>
          </a:p>
          <a:p>
            <a:pPr marL="0" indent="0">
              <a:buNone/>
              <a:defRPr/>
            </a:pPr>
            <a:r>
              <a:rPr lang="en-GB" sz="20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  <a:defRPr/>
            </a:pPr>
            <a:r>
              <a:rPr lang="en-GB" sz="20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  <a:defRPr/>
            </a:pPr>
            <a:endParaRPr lang="en-GB" sz="1600" kern="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GB" kern="0" dirty="0">
                <a:latin typeface="Trebuchet MS" pitchFamily="34" charset="0"/>
              </a:rPr>
              <a:t>Two new syntactic elements…</a:t>
            </a:r>
          </a:p>
          <a:p>
            <a:pPr marL="0" indent="0">
              <a:buNone/>
              <a:defRPr/>
            </a:pPr>
            <a:endParaRPr lang="en-GB" sz="1600" kern="0" dirty="0">
              <a:latin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4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 with Device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__global__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CUDA C/C++ keyword </a:t>
            </a:r>
            <a:r>
              <a:rPr lang="en-GB" sz="20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__global__ </a:t>
            </a:r>
            <a:r>
              <a:rPr lang="en-GB" dirty="0"/>
              <a:t>indicates a function that:</a:t>
            </a:r>
          </a:p>
          <a:p>
            <a:pPr lvl="1"/>
            <a:r>
              <a:rPr lang="en-GB" dirty="0"/>
              <a:t>Runs on the device</a:t>
            </a:r>
          </a:p>
          <a:p>
            <a:pPr lvl="1"/>
            <a:r>
              <a:rPr lang="en-GB" dirty="0"/>
              <a:t>Is called from host code</a:t>
            </a:r>
          </a:p>
          <a:p>
            <a:pPr lvl="1"/>
            <a:endParaRPr lang="en-GB" dirty="0"/>
          </a:p>
          <a:p>
            <a:r>
              <a:rPr lang="en-GB" dirty="0" err="1">
                <a:latin typeface="Courier New" pitchFamily="49" charset="0"/>
                <a:cs typeface="Courier New" pitchFamily="49" charset="0"/>
              </a:rPr>
              <a:t>nvcc</a:t>
            </a:r>
            <a:r>
              <a:rPr lang="en-GB" dirty="0"/>
              <a:t> separates source code into host and device components</a:t>
            </a:r>
          </a:p>
          <a:p>
            <a:pPr lvl="1"/>
            <a:r>
              <a:rPr lang="en-GB" dirty="0"/>
              <a:t>Device functions (e.g.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dirty="0"/>
              <a:t>) processed by NVIDIA compiler</a:t>
            </a:r>
          </a:p>
          <a:p>
            <a:pPr lvl="1"/>
            <a:r>
              <a:rPr lang="en-GB" dirty="0"/>
              <a:t>Host functions (e.g.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GB" dirty="0"/>
              <a:t>) processed by standard host compiler</a:t>
            </a:r>
          </a:p>
          <a:p>
            <a:pPr lvl="2"/>
            <a:r>
              <a:rPr lang="en-GB" b="1" dirty="0" err="1">
                <a:latin typeface="Courier New" pitchFamily="49" charset="0"/>
                <a:cs typeface="Courier New" pitchFamily="49" charset="0"/>
              </a:rPr>
              <a:t>gcc</a:t>
            </a:r>
            <a:r>
              <a:rPr lang="en-GB" b="1" dirty="0"/>
              <a:t>,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cl.exe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18829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 with Device </a:t>
            </a:r>
            <a:r>
              <a:rPr lang="en-GB" dirty="0" err="1"/>
              <a:t>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&lt;&lt;&lt;1,1&gt;&gt;&gt;();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Triple angle brackets mark a call from </a:t>
            </a:r>
            <a:r>
              <a:rPr lang="en-GB" i="1" dirty="0"/>
              <a:t>host</a:t>
            </a:r>
            <a:r>
              <a:rPr lang="en-GB" dirty="0"/>
              <a:t> code to </a:t>
            </a:r>
            <a:r>
              <a:rPr lang="en-GB" i="1" dirty="0"/>
              <a:t>device</a:t>
            </a:r>
            <a:r>
              <a:rPr lang="en-GB" dirty="0"/>
              <a:t> code</a:t>
            </a:r>
          </a:p>
          <a:p>
            <a:pPr lvl="1"/>
            <a:r>
              <a:rPr lang="en-GB" dirty="0"/>
              <a:t>Also called a “kernel launch”</a:t>
            </a:r>
          </a:p>
          <a:p>
            <a:pPr lvl="1"/>
            <a:r>
              <a:rPr lang="en-GB" dirty="0"/>
              <a:t>We’ll return to the parameters (1,1) in a moment</a:t>
            </a:r>
          </a:p>
          <a:p>
            <a:pPr lvl="1"/>
            <a:endParaRPr lang="en-GB" dirty="0"/>
          </a:p>
          <a:p>
            <a:r>
              <a:rPr lang="en-GB" dirty="0"/>
              <a:t>That’s all that is required to execute a function on the GPU!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24298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Hello World! with Device Code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981733" y="1599850"/>
            <a:ext cx="5854463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200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&lt;&lt;&lt;1,1&gt;&gt;&gt;();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("Hello World!\n");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>
              <a:buFont typeface="Arial" pitchFamily="34" charset="0"/>
              <a:buChar char="•"/>
            </a:pPr>
            <a:r>
              <a:rPr lang="en-GB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dirty="0"/>
              <a:t> does nothing, somewhat anticlimactic!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9" name="Content Placeholder 3"/>
          <p:cNvSpPr txBox="1">
            <a:spLocks/>
          </p:cNvSpPr>
          <p:nvPr/>
        </p:nvSpPr>
        <p:spPr bwMode="auto">
          <a:xfrm>
            <a:off x="7896200" y="1599739"/>
            <a:ext cx="2455250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endParaRPr lang="en-GB" sz="1800" dirty="0"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cs typeface="Courier New" pitchFamily="49" charset="0"/>
              </a:rPr>
              <a:t>Output:</a:t>
            </a:r>
          </a:p>
          <a:p>
            <a:pPr marL="0" indent="0">
              <a:spcBef>
                <a:spcPct val="0"/>
              </a:spcBef>
              <a:buSzTx/>
              <a:buNone/>
            </a:pP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nvcc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hello.cu</a:t>
            </a: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a.out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Hello World!</a:t>
            </a:r>
          </a:p>
          <a:p>
            <a:pPr marL="0" indent="0">
              <a:spcBef>
                <a:spcPct val="0"/>
              </a:spcBef>
              <a:buSzTx/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13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Parallel Programming in CUDA C/C++</a:t>
            </a:r>
          </a:p>
        </p:txBody>
      </p:sp>
      <p:sp>
        <p:nvSpPr>
          <p:cNvPr id="93" name="Content Placeholder 2"/>
          <p:cNvSpPr txBox="1">
            <a:spLocks/>
          </p:cNvSpPr>
          <p:nvPr/>
        </p:nvSpPr>
        <p:spPr bwMode="auto">
          <a:xfrm>
            <a:off x="1981733" y="1599850"/>
            <a:ext cx="5854463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>
              <a:buFont typeface="Arial" pitchFamily="34" charset="0"/>
              <a:buChar char="•"/>
              <a:defRPr/>
            </a:pPr>
            <a:r>
              <a:rPr lang="en-GB" kern="0" dirty="0">
                <a:latin typeface="Trebuchet MS" pitchFamily="34" charset="0"/>
              </a:rPr>
              <a:t>But wait… GPU computing is about massive parallelism!</a:t>
            </a:r>
          </a:p>
          <a:p>
            <a:pPr>
              <a:defRPr/>
            </a:pPr>
            <a:endParaRPr lang="en-GB" kern="0" dirty="0">
              <a:latin typeface="Trebuchet MS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GB" kern="0" dirty="0">
                <a:latin typeface="Trebuchet MS" pitchFamily="34" charset="0"/>
              </a:rPr>
              <a:t>We need a more interesting example…</a:t>
            </a:r>
          </a:p>
          <a:p>
            <a:pPr>
              <a:buFont typeface="Arial" pitchFamily="34" charset="0"/>
              <a:buChar char="•"/>
              <a:defRPr/>
            </a:pPr>
            <a:endParaRPr lang="en-GB" kern="0" dirty="0">
              <a:latin typeface="Trebuchet MS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GB" kern="0" dirty="0">
                <a:latin typeface="Trebuchet MS" pitchFamily="34" charset="0"/>
              </a:rPr>
              <a:t>We’ll start by adding two integers and build up to vector addition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06224" y="2504682"/>
            <a:ext cx="330037" cy="3200356"/>
          </a:xfrm>
          <a:prstGeom prst="roundRect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algn="ctr">
              <a:defRPr/>
            </a:pPr>
            <a:endParaRPr lang="en-GB" kern="0">
              <a:solidFill>
                <a:srgbClr val="808080"/>
              </a:solidFill>
              <a:latin typeface="Arial"/>
            </a:endParaRPr>
          </a:p>
        </p:txBody>
      </p:sp>
      <p:cxnSp>
        <p:nvCxnSpPr>
          <p:cNvPr id="95" name="Straight Connector 94"/>
          <p:cNvCxnSpPr/>
          <p:nvPr/>
        </p:nvCxnSpPr>
        <p:spPr>
          <a:xfrm>
            <a:off x="8106224" y="3304771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6" name="Straight Connector 95"/>
          <p:cNvCxnSpPr/>
          <p:nvPr/>
        </p:nvCxnSpPr>
        <p:spPr>
          <a:xfrm>
            <a:off x="8106224" y="2904726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7" name="Straight Connector 96"/>
          <p:cNvCxnSpPr/>
          <p:nvPr/>
        </p:nvCxnSpPr>
        <p:spPr>
          <a:xfrm>
            <a:off x="8106224" y="370481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8" name="Straight Connector 97"/>
          <p:cNvCxnSpPr/>
          <p:nvPr/>
        </p:nvCxnSpPr>
        <p:spPr>
          <a:xfrm>
            <a:off x="8106224" y="4109076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9" name="Straight Connector 98"/>
          <p:cNvCxnSpPr/>
          <p:nvPr/>
        </p:nvCxnSpPr>
        <p:spPr>
          <a:xfrm>
            <a:off x="8106224" y="450490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0" name="Straight Connector 99"/>
          <p:cNvCxnSpPr/>
          <p:nvPr/>
        </p:nvCxnSpPr>
        <p:spPr>
          <a:xfrm>
            <a:off x="8106224" y="4904948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1" name="Straight Connector 100"/>
          <p:cNvCxnSpPr/>
          <p:nvPr/>
        </p:nvCxnSpPr>
        <p:spPr>
          <a:xfrm>
            <a:off x="8106224" y="5309209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02" name="Rounded Rectangle 101"/>
          <p:cNvSpPr/>
          <p:nvPr/>
        </p:nvSpPr>
        <p:spPr>
          <a:xfrm>
            <a:off x="8826304" y="2513115"/>
            <a:ext cx="330037" cy="3200356"/>
          </a:xfrm>
          <a:prstGeom prst="roundRect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algn="ctr">
              <a:defRPr/>
            </a:pPr>
            <a:endParaRPr lang="en-GB" kern="0">
              <a:solidFill>
                <a:srgbClr val="808080"/>
              </a:solidFill>
              <a:latin typeface="Arial"/>
            </a:endParaRPr>
          </a:p>
        </p:txBody>
      </p:sp>
      <p:cxnSp>
        <p:nvCxnSpPr>
          <p:cNvPr id="103" name="Straight Connector 102"/>
          <p:cNvCxnSpPr/>
          <p:nvPr/>
        </p:nvCxnSpPr>
        <p:spPr>
          <a:xfrm>
            <a:off x="8826304" y="331320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4" name="Straight Connector 103"/>
          <p:cNvCxnSpPr/>
          <p:nvPr/>
        </p:nvCxnSpPr>
        <p:spPr>
          <a:xfrm>
            <a:off x="8826304" y="2913159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5" name="Straight Connector 104"/>
          <p:cNvCxnSpPr/>
          <p:nvPr/>
        </p:nvCxnSpPr>
        <p:spPr>
          <a:xfrm>
            <a:off x="8826304" y="3713248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6" name="Straight Connector 105"/>
          <p:cNvCxnSpPr/>
          <p:nvPr/>
        </p:nvCxnSpPr>
        <p:spPr>
          <a:xfrm>
            <a:off x="8826304" y="4117509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7" name="Straight Connector 106"/>
          <p:cNvCxnSpPr/>
          <p:nvPr/>
        </p:nvCxnSpPr>
        <p:spPr>
          <a:xfrm>
            <a:off x="8826304" y="4513338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8" name="Straight Connector 107"/>
          <p:cNvCxnSpPr/>
          <p:nvPr/>
        </p:nvCxnSpPr>
        <p:spPr>
          <a:xfrm>
            <a:off x="8826304" y="4913381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5" name="Straight Connector 134"/>
          <p:cNvCxnSpPr/>
          <p:nvPr/>
        </p:nvCxnSpPr>
        <p:spPr>
          <a:xfrm>
            <a:off x="8826304" y="5317642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36" name="Rounded Rectangle 135"/>
          <p:cNvSpPr/>
          <p:nvPr/>
        </p:nvSpPr>
        <p:spPr>
          <a:xfrm>
            <a:off x="9876422" y="2508898"/>
            <a:ext cx="330037" cy="3200356"/>
          </a:xfrm>
          <a:prstGeom prst="roundRect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algn="ctr">
              <a:defRPr/>
            </a:pPr>
            <a:endParaRPr lang="en-GB" kern="0">
              <a:solidFill>
                <a:srgbClr val="808080"/>
              </a:solidFill>
              <a:latin typeface="Arial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9876422" y="3308987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8" name="Straight Connector 137"/>
          <p:cNvCxnSpPr/>
          <p:nvPr/>
        </p:nvCxnSpPr>
        <p:spPr>
          <a:xfrm>
            <a:off x="9876422" y="2908942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9" name="Straight Connector 138"/>
          <p:cNvCxnSpPr/>
          <p:nvPr/>
        </p:nvCxnSpPr>
        <p:spPr>
          <a:xfrm>
            <a:off x="9876422" y="3709031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0" name="Straight Connector 139"/>
          <p:cNvCxnSpPr/>
          <p:nvPr/>
        </p:nvCxnSpPr>
        <p:spPr>
          <a:xfrm>
            <a:off x="9876422" y="4113292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1" name="Straight Connector 140"/>
          <p:cNvCxnSpPr/>
          <p:nvPr/>
        </p:nvCxnSpPr>
        <p:spPr>
          <a:xfrm>
            <a:off x="9876422" y="4509120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2" name="Straight Connector 141"/>
          <p:cNvCxnSpPr/>
          <p:nvPr/>
        </p:nvCxnSpPr>
        <p:spPr>
          <a:xfrm>
            <a:off x="9876422" y="490916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3" name="Straight Connector 142"/>
          <p:cNvCxnSpPr/>
          <p:nvPr/>
        </p:nvCxnSpPr>
        <p:spPr>
          <a:xfrm>
            <a:off x="9876422" y="5313426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44" name="Plus 143"/>
          <p:cNvSpPr/>
          <p:nvPr/>
        </p:nvSpPr>
        <p:spPr>
          <a:xfrm>
            <a:off x="8489124" y="3904838"/>
            <a:ext cx="300033" cy="400044"/>
          </a:xfrm>
          <a:prstGeom prst="mathPlus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algn="ctr">
              <a:defRPr/>
            </a:pPr>
            <a:endParaRPr lang="en-GB" kern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145" name="Equal 144"/>
          <p:cNvSpPr/>
          <p:nvPr/>
        </p:nvSpPr>
        <p:spPr>
          <a:xfrm>
            <a:off x="9355883" y="3876889"/>
            <a:ext cx="381000" cy="508000"/>
          </a:xfrm>
          <a:prstGeom prst="mathEqual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45"/>
          <p:cNvSpPr txBox="1"/>
          <p:nvPr/>
        </p:nvSpPr>
        <p:spPr bwMode="auto">
          <a:xfrm>
            <a:off x="8142868" y="5745386"/>
            <a:ext cx="3080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Trebuchet MS" pitchFamily="34" charset="0"/>
              </a:defRPr>
            </a:lvl1pPr>
          </a:lstStyle>
          <a:p>
            <a:r>
              <a:rPr lang="en-GB" dirty="0"/>
              <a:t>a</a:t>
            </a:r>
          </a:p>
        </p:txBody>
      </p:sp>
      <p:sp>
        <p:nvSpPr>
          <p:cNvPr id="147" name="TextBox 146"/>
          <p:cNvSpPr txBox="1"/>
          <p:nvPr/>
        </p:nvSpPr>
        <p:spPr bwMode="auto">
          <a:xfrm>
            <a:off x="8862948" y="5745386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Trebuchet MS" pitchFamily="34" charset="0"/>
              </a:defRPr>
            </a:lvl1pPr>
          </a:lstStyle>
          <a:p>
            <a:r>
              <a:rPr lang="en-GB" dirty="0"/>
              <a:t>b</a:t>
            </a:r>
          </a:p>
        </p:txBody>
      </p:sp>
      <p:sp>
        <p:nvSpPr>
          <p:cNvPr id="148" name="TextBox 147"/>
          <p:cNvSpPr txBox="1"/>
          <p:nvPr/>
        </p:nvSpPr>
        <p:spPr bwMode="auto">
          <a:xfrm>
            <a:off x="9913065" y="5745386"/>
            <a:ext cx="3032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latin typeface="Trebuchet MS" pitchFamily="34" charset="0"/>
              </a:rPr>
              <a:t>c</a:t>
            </a:r>
            <a:endParaRPr lang="en-GB" sz="3400" b="1" kern="0" dirty="0">
              <a:latin typeface="Trebuchet MS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18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A simple kernel to add two integers</a:t>
            </a:r>
          </a:p>
          <a:p>
            <a:pPr marL="0" indent="0">
              <a:buNone/>
            </a:pP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*c = *a + *b;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As before </a:t>
            </a: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is a CUDA C/C++ keyword meaning</a:t>
            </a:r>
          </a:p>
          <a:p>
            <a:pPr lvl="1"/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 </a:t>
            </a:r>
            <a:r>
              <a:rPr lang="en-GB" dirty="0"/>
              <a:t>will execute on the device</a:t>
            </a:r>
          </a:p>
          <a:p>
            <a:pPr lvl="1"/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 </a:t>
            </a:r>
            <a:r>
              <a:rPr lang="en-GB" dirty="0"/>
              <a:t>will be called from the host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8607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Note that we use pointers for the variables</a:t>
            </a:r>
          </a:p>
          <a:p>
            <a:pPr marL="0" indent="0">
              <a:buNone/>
            </a:pP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*a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*b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*c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*c = *a + *b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 </a:t>
            </a:r>
            <a:r>
              <a:rPr lang="en-GB" dirty="0"/>
              <a:t>runs on the device, so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GB" dirty="0"/>
              <a:t>,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GB" dirty="0"/>
              <a:t> and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GB" dirty="0"/>
              <a:t> must point to device memory</a:t>
            </a:r>
          </a:p>
          <a:p>
            <a:pPr lvl="0"/>
            <a:endParaRPr lang="en-GB" sz="2000" b="1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We need to allocate memory on the GPU</a:t>
            </a: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47020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Memory 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600215"/>
            <a:ext cx="8730970" cy="4525963"/>
          </a:xfrm>
        </p:spPr>
        <p:txBody>
          <a:bodyPr>
            <a:normAutofit/>
          </a:bodyPr>
          <a:lstStyle/>
          <a:p>
            <a:r>
              <a:rPr lang="en-GB" dirty="0"/>
              <a:t>Host and device memory are separate entities</a:t>
            </a:r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Device</a:t>
            </a:r>
            <a:r>
              <a:rPr lang="en-GB" i="1" dirty="0">
                <a:solidFill>
                  <a:schemeClr val="accent4"/>
                </a:solidFill>
              </a:rPr>
              <a:t> </a:t>
            </a:r>
            <a:r>
              <a:rPr lang="en-GB" dirty="0"/>
              <a:t>pointers point to GPU memory</a:t>
            </a:r>
          </a:p>
          <a:p>
            <a:pPr marL="1088938" lvl="2" indent="0">
              <a:buNone/>
            </a:pPr>
            <a:r>
              <a:rPr lang="en-GB" dirty="0"/>
              <a:t>May be passed to/from host code</a:t>
            </a:r>
          </a:p>
          <a:p>
            <a:pPr marL="1088938" lvl="2" indent="0">
              <a:buNone/>
            </a:pPr>
            <a:r>
              <a:rPr lang="en-GB" dirty="0"/>
              <a:t>May </a:t>
            </a:r>
            <a:r>
              <a:rPr lang="en-GB" i="1" dirty="0"/>
              <a:t>not </a:t>
            </a:r>
            <a:r>
              <a:rPr lang="en-GB" dirty="0"/>
              <a:t>be dereferenced in host code</a:t>
            </a:r>
            <a:endParaRPr lang="en-GB" i="1" dirty="0"/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Host </a:t>
            </a:r>
            <a:r>
              <a:rPr lang="en-GB" dirty="0"/>
              <a:t>pointers point to CPU memory</a:t>
            </a:r>
          </a:p>
          <a:p>
            <a:pPr marL="1088938" lvl="2" indent="0">
              <a:buNone/>
            </a:pPr>
            <a:r>
              <a:rPr lang="en-GB" dirty="0"/>
              <a:t>May be passed to/from device code</a:t>
            </a:r>
          </a:p>
          <a:p>
            <a:pPr marL="1088938" lvl="2" indent="0">
              <a:buNone/>
            </a:pPr>
            <a:r>
              <a:rPr lang="en-GB" dirty="0"/>
              <a:t>May </a:t>
            </a:r>
            <a:r>
              <a:rPr lang="en-GB" i="1" dirty="0"/>
              <a:t>not </a:t>
            </a:r>
            <a:r>
              <a:rPr lang="en-GB" dirty="0"/>
              <a:t>be dereferenced in device code</a:t>
            </a: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Simple CUDA API for handling device memory</a:t>
            </a:r>
          </a:p>
          <a:p>
            <a:pPr lvl="1"/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GB" dirty="0"/>
              <a:t>,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cudaFree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GB" dirty="0"/>
              <a:t>,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cudaMemcpy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en-GB" dirty="0"/>
          </a:p>
          <a:p>
            <a:pPr lvl="1"/>
            <a:r>
              <a:rPr lang="en-GB" dirty="0"/>
              <a:t>Similar to the C equivalents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GB" dirty="0"/>
              <a:t>, 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free()</a:t>
            </a:r>
            <a:r>
              <a:rPr lang="en-GB" dirty="0"/>
              <a:t>,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memcpy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en-GB" dirty="0"/>
          </a:p>
          <a:p>
            <a:pPr marL="1088938" lvl="2" indent="0">
              <a:buNone/>
            </a:pPr>
            <a:endParaRPr lang="en-GB" dirty="0"/>
          </a:p>
        </p:txBody>
      </p:sp>
      <p:pic>
        <p:nvPicPr>
          <p:cNvPr id="6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401146" y="3174000"/>
            <a:ext cx="1215135" cy="911351"/>
          </a:xfrm>
          <a:prstGeom prst="rect">
            <a:avLst/>
          </a:prstGeom>
          <a:noFill/>
        </p:spPr>
      </p:pic>
      <p:pic>
        <p:nvPicPr>
          <p:cNvPr id="10" name="Picture 2" descr="\\JASON-PC\Users\Jason\Documents\CUDA by Example\Tesla_c1060_3qtr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7536161" y="2144928"/>
            <a:ext cx="1233177" cy="834022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73436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add()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Returning to our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kernel</a:t>
            </a:r>
          </a:p>
          <a:p>
            <a:pPr marL="0" indent="0">
              <a:buNone/>
            </a:pP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*c = *a + *b;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Let’s take a look at main()…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532855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2" y="1600215"/>
            <a:ext cx="9072499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a, b, c;	            </a:t>
            </a: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host copies of a, b, c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;	     </a:t>
            </a: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device copies of a, b, c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size = 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GB" sz="1700" b="1" i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Allocate space for device copies of a, b, c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</a:pPr>
            <a:endParaRPr lang="en-GB" sz="17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Setup input values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a = 2;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b = 7;</a:t>
            </a:r>
          </a:p>
          <a:p>
            <a:pPr marL="0" indent="0">
              <a:buNone/>
            </a:pPr>
            <a:endParaRPr lang="en-GB" sz="17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25038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215"/>
            <a:ext cx="9144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&amp;a, size,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&amp;b, size,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sz="17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Launch add() kernel on GPU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add&lt;&lt;&lt;1,1&gt;&gt;&gt;(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sz="17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Copy result back to host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(&amp;c,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sz="1700" b="1" i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</a:t>
            </a:r>
            <a:r>
              <a:rPr lang="en-GB" sz="1700" b="1" i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700" b="1" i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8460199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2246313" y="4406901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kern="0">
                <a:latin typeface="Trebuchet MS" pitchFamily="34" charset="0"/>
              </a:rPr>
              <a:t>Running in Parallel</a:t>
            </a:r>
            <a:endParaRPr lang="en-GB" kern="0" dirty="0">
              <a:latin typeface="Trebuchet MS" pitchFamily="34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7923157" y="1512906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7926203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5900978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8263740" y="1296401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9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auto">
          <a:xfrm>
            <a:off x="8263740" y="1737803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8263740" y="2179206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8263740" y="2620608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8263740" y="3062010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8263740" y="3503412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sz="1400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8263740" y="3944814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8263740" y="4386217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8263740" y="4827621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5825971" y="1231696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2400" b="1" kern="0" dirty="0">
                <a:solidFill>
                  <a:srgbClr val="8AAD00">
                    <a:lumMod val="50000"/>
                  </a:srgbClr>
                </a:solidFill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7924980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7926203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7924979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7926203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7926203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7926203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7926203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7926203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12720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Moving to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GPU computing is about massive parallelism</a:t>
            </a:r>
          </a:p>
          <a:p>
            <a:pPr lvl="1"/>
            <a:r>
              <a:rPr lang="en-GB" dirty="0"/>
              <a:t>So how do we run code in parallel on the device?</a:t>
            </a: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add&lt;&lt;&lt; 1, 1 &gt;&gt;&gt;();</a:t>
            </a:r>
          </a:p>
          <a:p>
            <a:pPr marL="0" indent="0">
              <a:buNone/>
            </a:pPr>
            <a:endParaRPr lang="en-GB" sz="2000" b="1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add&lt;&lt;&lt;</a:t>
            </a:r>
            <a:r>
              <a:rPr lang="en-GB" sz="2000" b="1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, 1 &gt;&gt;&gt;();</a:t>
            </a:r>
          </a:p>
          <a:p>
            <a:pPr lvl="0"/>
            <a:endParaRPr lang="en-GB" sz="3200" b="1" dirty="0"/>
          </a:p>
          <a:p>
            <a:pPr lvl="0"/>
            <a:r>
              <a:rPr lang="en-GB" dirty="0"/>
              <a:t>Instead of executing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once, execute N times in parallel</a:t>
            </a:r>
          </a:p>
          <a:p>
            <a:pPr marL="0" indent="0">
              <a:buNone/>
            </a:pPr>
            <a:endParaRPr lang="en-GB" sz="1600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0" name="Down Arrow 69"/>
          <p:cNvSpPr/>
          <p:nvPr/>
        </p:nvSpPr>
        <p:spPr>
          <a:xfrm>
            <a:off x="5015880" y="3609020"/>
            <a:ext cx="61784" cy="366126"/>
          </a:xfrm>
          <a:prstGeom prst="downArrow">
            <a:avLst/>
          </a:prstGeom>
          <a:ln>
            <a:solidFill>
              <a:srgbClr val="92D050"/>
            </a:solidFill>
          </a:ln>
        </p:spPr>
        <p:style>
          <a:lnRef idx="1">
            <a:schemeClr val="accent4"/>
          </a:lnRef>
          <a:fillRef idx="1001">
            <a:schemeClr val="lt2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5070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 on the Device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3006" y="1599848"/>
            <a:ext cx="8963495" cy="47254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GB" dirty="0"/>
              <a:t>With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running in parallel we can do vector addition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Terminology: each parallel invocation of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is referred to as a </a:t>
            </a:r>
            <a:r>
              <a:rPr lang="en-GB" dirty="0">
                <a:solidFill>
                  <a:schemeClr val="accent6"/>
                </a:solidFill>
              </a:rPr>
              <a:t>block</a:t>
            </a:r>
          </a:p>
          <a:p>
            <a:pPr lvl="1"/>
            <a:r>
              <a:rPr lang="en-GB" dirty="0"/>
              <a:t>The set of blocks is referred to as a </a:t>
            </a:r>
            <a:r>
              <a:rPr lang="en-GB" dirty="0">
                <a:solidFill>
                  <a:schemeClr val="accent6"/>
                </a:solidFill>
              </a:rPr>
              <a:t>grid</a:t>
            </a:r>
          </a:p>
          <a:p>
            <a:pPr lvl="1"/>
            <a:r>
              <a:rPr lang="en-GB" dirty="0"/>
              <a:t>Each invocation can refer to its block index using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GB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GB" sz="2000" dirty="0">
              <a:solidFill>
                <a:schemeClr val="accent4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c[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By using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dirty="0"/>
              <a:t> to index into the array, each block handles a different index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90819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 on the Device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500" y="1600215"/>
            <a:ext cx="9001000" cy="4525963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c[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On the device, each block can execute in parallel: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2323080" y="4892530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c[0]  = a[0] + b[0];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3303" y="4892530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c[1]  = a[1] + b[1];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8503" y="4869160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c[2]  = a[2] + b[2];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8726" y="4869160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c[3]  = a[3] + b[3];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33072" y="4499832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Block 0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243295" y="4499832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Block 1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6258494" y="4469784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Block 2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8268716" y="4469784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Block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15159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Vector 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add()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Returning to our parallelized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kernel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16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16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16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1600" b="1" dirty="0">
                <a:latin typeface="Courier New" pitchFamily="49" charset="0"/>
                <a:cs typeface="Courier New" pitchFamily="49" charset="0"/>
              </a:rPr>
              <a:t>		c[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en-GB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Let’s take a look at main()…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099606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Vector 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0" y="1207767"/>
            <a:ext cx="9144000" cy="514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#define N 512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main(void) {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*a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*b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*c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;	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host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device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size =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 *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  <a:endParaRPr lang="en-GB" sz="1600" b="1" i="1" kern="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GB" sz="1600" b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device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endParaRPr lang="en-GB" sz="16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host copies of a, b, c and setup input values</a:t>
            </a:r>
            <a:endParaRPr lang="en-GB" sz="1600" b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	a = (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(size); 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random_ints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(a, N);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	b = (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(size); 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random_ints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(b, N);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	c = (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(size);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6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Vector 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0" y="1437793"/>
            <a:ext cx="9144000" cy="5096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a,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b,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Launch add() kernel on GPU with N blocks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add&lt;&lt;&lt;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,1&gt;&gt;&gt;(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i="1" kern="0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result back to host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(c,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i="1" kern="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600" b="1" i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      free(a); free(b); free(c);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79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Difference between </a:t>
            </a:r>
            <a:r>
              <a:rPr lang="en-GB" i="1" dirty="0"/>
              <a:t>host </a:t>
            </a:r>
            <a:r>
              <a:rPr lang="en-GB" dirty="0"/>
              <a:t>and </a:t>
            </a:r>
            <a:r>
              <a:rPr lang="en-GB" i="1" dirty="0"/>
              <a:t>device</a:t>
            </a:r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Host</a:t>
            </a:r>
            <a:r>
              <a:rPr lang="en-GB" i="1" dirty="0"/>
              <a:t>	</a:t>
            </a:r>
            <a:r>
              <a:rPr lang="en-GB" dirty="0"/>
              <a:t>CPU</a:t>
            </a:r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Device</a:t>
            </a:r>
            <a:r>
              <a:rPr lang="en-GB" i="1" dirty="0"/>
              <a:t>	</a:t>
            </a:r>
            <a:r>
              <a:rPr lang="en-GB" dirty="0"/>
              <a:t>GPU</a:t>
            </a:r>
            <a:endParaRPr lang="en-GB" i="1" dirty="0"/>
          </a:p>
          <a:p>
            <a:endParaRPr lang="en-GB" dirty="0"/>
          </a:p>
          <a:p>
            <a:r>
              <a:rPr lang="en-GB" dirty="0"/>
              <a:t>Using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__global__</a:t>
            </a:r>
            <a:r>
              <a:rPr lang="en-GB" sz="20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to declare a function as device code</a:t>
            </a:r>
          </a:p>
          <a:p>
            <a:pPr lvl="1"/>
            <a:r>
              <a:rPr lang="en-GB" dirty="0"/>
              <a:t>Executes on the device</a:t>
            </a:r>
          </a:p>
          <a:p>
            <a:pPr lvl="1"/>
            <a:r>
              <a:rPr lang="en-GB" dirty="0"/>
              <a:t>Called from the host</a:t>
            </a:r>
          </a:p>
          <a:p>
            <a:endParaRPr lang="en-GB" dirty="0"/>
          </a:p>
          <a:p>
            <a:r>
              <a:rPr lang="en-GB" dirty="0"/>
              <a:t>Passing parameters from host code to a device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653685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device memory management</a:t>
            </a:r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Launching parallel kernels</a:t>
            </a:r>
          </a:p>
          <a:p>
            <a:pPr lvl="1"/>
            <a:r>
              <a:rPr lang="en-GB" dirty="0"/>
              <a:t>Launch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copies of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N,1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&gt;&gt;&gt;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4"/>
                </a:solidFill>
              </a:rPr>
              <a:t> </a:t>
            </a:r>
            <a:r>
              <a:rPr lang="en-GB" dirty="0"/>
              <a:t>to access block index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331062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device memory management</a:t>
            </a:r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Launching parallel kernels</a:t>
            </a:r>
          </a:p>
          <a:p>
            <a:pPr lvl="1"/>
            <a:r>
              <a:rPr lang="en-GB" dirty="0"/>
              <a:t>Launch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copies of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N,1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&gt;&gt;&gt;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4"/>
                </a:solidFill>
              </a:rPr>
              <a:t> </a:t>
            </a:r>
            <a:r>
              <a:rPr lang="en-GB" dirty="0"/>
              <a:t>to access block index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314884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2246313" y="4406901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kern="0" dirty="0">
                <a:latin typeface="Trebuchet MS" pitchFamily="34" charset="0"/>
              </a:rPr>
              <a:t>Introducing Threads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7923157" y="1512906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7926203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5900978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8263740" y="129640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9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8263740" y="1737803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auto">
          <a:xfrm>
            <a:off x="8263740" y="2179206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8263740" y="2620608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8263740" y="3062010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8263740" y="3503412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sz="1400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8263740" y="3944814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8263740" y="4386217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8263740" y="482762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5825971" y="1231696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2400" b="1" kern="0" dirty="0">
                <a:solidFill>
                  <a:srgbClr val="8AAD00">
                    <a:lumMod val="50000"/>
                  </a:srgbClr>
                </a:solidFill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7924980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7926203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7924979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7926203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7926203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7926203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7926203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7926203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596609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CUDA Threads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83292" y="1599848"/>
            <a:ext cx="8884708" cy="2308930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Terminology: a block can be split into parallel </a:t>
            </a:r>
            <a:r>
              <a:rPr lang="en-GB" dirty="0">
                <a:solidFill>
                  <a:schemeClr val="accent6"/>
                </a:solidFill>
              </a:rPr>
              <a:t>threads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dirty="0"/>
              <a:t>Let’s change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to use parallel </a:t>
            </a:r>
            <a:r>
              <a:rPr lang="en-GB" i="1" dirty="0"/>
              <a:t>threads</a:t>
            </a:r>
            <a:r>
              <a:rPr lang="en-GB" dirty="0"/>
              <a:t> instead of parallel </a:t>
            </a:r>
            <a:r>
              <a:rPr lang="en-GB" i="1" dirty="0"/>
              <a:t>blocks</a:t>
            </a:r>
            <a:endParaRPr lang="en-GB" sz="20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783292" y="4007557"/>
            <a:ext cx="8884708" cy="2308931"/>
          </a:xfrm>
        </p:spPr>
        <p:txBody>
          <a:bodyPr>
            <a:normAutofit lnSpcReduction="10000"/>
          </a:bodyPr>
          <a:lstStyle/>
          <a:p>
            <a:pPr marL="571454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0"/>
            <a:r>
              <a:rPr lang="en-GB" dirty="0"/>
              <a:t>We use 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dirty="0"/>
              <a:t> instead of 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GB" sz="2000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  <a:p>
            <a:pPr lvl="0"/>
            <a:r>
              <a:rPr lang="en-GB" dirty="0"/>
              <a:t>Need to make one change in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GB" dirty="0"/>
              <a:t>…</a:t>
            </a:r>
          </a:p>
        </p:txBody>
      </p:sp>
      <p:sp>
        <p:nvSpPr>
          <p:cNvPr id="8" name="threadIdx"/>
          <p:cNvSpPr txBox="1"/>
          <p:nvPr/>
        </p:nvSpPr>
        <p:spPr bwMode="auto">
          <a:xfrm>
            <a:off x="2225571" y="3713875"/>
            <a:ext cx="8325924" cy="103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 rtlCol="0">
            <a:spAutoFit/>
          </a:bodyPr>
          <a:lstStyle/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*a,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*b,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 *c) {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    c[</a:t>
            </a:r>
            <a:r>
              <a:rPr lang="en-GB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9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Vector Addition Using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0" y="1337783"/>
            <a:ext cx="9144000" cy="519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#define N 512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main(void) {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*a, *b, *c;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host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device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size = N *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  <a:endParaRPr lang="en-GB" sz="1600" b="1" i="1" kern="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device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host copies of a, b, c and setup input values</a:t>
            </a:r>
            <a:endParaRPr lang="en-GB" sz="1600" b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a = 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(size);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random_ints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(a, N);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b = 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(size);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random_ints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(b, N);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c = 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(size);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500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Vector Addition Using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8" name="Threads"/>
          <p:cNvSpPr txBox="1">
            <a:spLocks/>
          </p:cNvSpPr>
          <p:nvPr/>
        </p:nvSpPr>
        <p:spPr bwMode="auto">
          <a:xfrm>
            <a:off x="1524000" y="1387853"/>
            <a:ext cx="9144000" cy="5146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87" indent="-342887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64" indent="-342887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545" indent="-28256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754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64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82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004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186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367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600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a,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b,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Launch add() kernel on GPU with N </a:t>
            </a:r>
            <a:r>
              <a:rPr lang="en-GB" sz="1600" b="1" i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threads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add&lt;&lt;&lt;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1,N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&gt;&gt;&gt;(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result back to host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(c,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i="1" kern="0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600" b="1" i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free(a); free(b); free(c);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46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1730515" y="4406901"/>
            <a:ext cx="5940660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kern="0" dirty="0">
                <a:latin typeface="Arial"/>
              </a:rPr>
              <a:t>Combining Threads</a:t>
            </a:r>
            <a:br>
              <a:rPr lang="en-GB" kern="0" dirty="0">
                <a:latin typeface="Arial"/>
              </a:rPr>
            </a:br>
            <a:r>
              <a:rPr lang="en-GB" kern="0" dirty="0">
                <a:latin typeface="Arial"/>
              </a:rPr>
              <a:t>And Blocks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7968162" y="1512906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7971208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5945983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8308745" y="129640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9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8308745" y="1737803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8308745" y="2179206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auto">
          <a:xfrm>
            <a:off x="8308745" y="2620608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8308745" y="3062010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8308745" y="3503412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sz="1400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8308745" y="3944814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8308745" y="4386217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8308745" y="482762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5870976" y="1231696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2400" b="1" kern="0" dirty="0">
                <a:solidFill>
                  <a:srgbClr val="8AAD00">
                    <a:lumMod val="50000"/>
                  </a:srgbClr>
                </a:solidFill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7969985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7971208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7969984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7971208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7971208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7971208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7971208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7971208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693279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Combining Blocks and Threads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We’ve seen parallel vector addition using:</a:t>
            </a:r>
          </a:p>
          <a:p>
            <a:pPr lvl="1"/>
            <a:r>
              <a:rPr lang="en-US"/>
              <a:t>Many blocks with one thread each</a:t>
            </a:r>
          </a:p>
          <a:p>
            <a:pPr lvl="1"/>
            <a:r>
              <a:rPr lang="en-US"/>
              <a:t>One block with many threads</a:t>
            </a:r>
          </a:p>
          <a:p>
            <a:endParaRPr lang="en-US"/>
          </a:p>
          <a:p>
            <a:r>
              <a:rPr lang="en-US"/>
              <a:t>Let’s adapt vector addition to use both blocks and threads</a:t>
            </a:r>
          </a:p>
          <a:p>
            <a:endParaRPr lang="en-US"/>
          </a:p>
          <a:p>
            <a:r>
              <a:rPr lang="en-US"/>
              <a:t>Why? We’ll come to that…</a:t>
            </a:r>
          </a:p>
          <a:p>
            <a:endParaRPr lang="en-US"/>
          </a:p>
          <a:p>
            <a:r>
              <a:rPr lang="en-US"/>
              <a:t>First let’s discuss data indexing…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73231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Vector (numbered)"/>
          <p:cNvGrpSpPr/>
          <p:nvPr/>
        </p:nvGrpSpPr>
        <p:grpSpPr>
          <a:xfrm>
            <a:off x="2765631" y="3686284"/>
            <a:ext cx="7200800" cy="480058"/>
            <a:chOff x="1165920" y="2969084"/>
            <a:chExt cx="8640960" cy="432052"/>
          </a:xfrm>
        </p:grpSpPr>
        <p:sp>
          <p:nvSpPr>
            <p:cNvPr id="456" name="Round Same Side Corner Rectangle 455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0</a:t>
              </a: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1</a:t>
              </a:r>
            </a:p>
          </p:txBody>
        </p:sp>
        <p:sp>
          <p:nvSpPr>
            <p:cNvPr id="458" name="Round Same Side Corner Rectangle 457"/>
            <p:cNvSpPr/>
            <p:nvPr/>
          </p:nvSpPr>
          <p:spPr>
            <a:xfrm rot="5400000" flipH="1">
              <a:off x="9455841" y="3050094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2</a:t>
              </a:r>
            </a:p>
          </p:txBody>
        </p:sp>
        <p:sp>
          <p:nvSpPr>
            <p:cNvPr id="460" name="Rectangle 459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3</a:t>
              </a:r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4</a:t>
              </a:r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5</a:t>
              </a: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6</a:t>
              </a:r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FF9933"/>
                  </a:solidFill>
                  <a:latin typeface="Arial"/>
                </a:rPr>
                <a:t>7</a:t>
              </a:r>
            </a:p>
          </p:txBody>
        </p:sp>
        <p:sp>
          <p:nvSpPr>
            <p:cNvPr id="465" name="Rectangle 464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0</a:t>
              </a:r>
            </a:p>
          </p:txBody>
        </p:sp>
        <p:sp>
          <p:nvSpPr>
            <p:cNvPr id="466" name="Rectangle 465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1</a:t>
              </a:r>
            </a:p>
          </p:txBody>
        </p:sp>
        <p:sp>
          <p:nvSpPr>
            <p:cNvPr id="467" name="Rectangle 466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2</a:t>
              </a:r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3</a:t>
              </a: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4</a:t>
              </a:r>
            </a:p>
          </p:txBody>
        </p:sp>
        <p:sp>
          <p:nvSpPr>
            <p:cNvPr id="470" name="Rectangle 469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5</a:t>
              </a:r>
            </a:p>
          </p:txBody>
        </p:sp>
        <p:sp>
          <p:nvSpPr>
            <p:cNvPr id="471" name="Rectangle 470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6</a:t>
              </a:r>
            </a:p>
          </p:txBody>
        </p:sp>
        <p:sp>
          <p:nvSpPr>
            <p:cNvPr id="472" name="Rectangle 471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7</a:t>
              </a:r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7030A0"/>
                  </a:solidFill>
                  <a:latin typeface="Arial"/>
                </a:rPr>
                <a:t>0</a:t>
              </a:r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7030A0"/>
                  </a:solidFill>
                  <a:latin typeface="Arial"/>
                </a:rPr>
                <a:t>1</a:t>
              </a:r>
            </a:p>
          </p:txBody>
        </p:sp>
        <p:sp>
          <p:nvSpPr>
            <p:cNvPr id="475" name="Rectangle 474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7030A0"/>
                  </a:solidFill>
                  <a:latin typeface="Arial"/>
                </a:rPr>
                <a:t>2</a:t>
              </a:r>
            </a:p>
          </p:txBody>
        </p:sp>
        <p:sp>
          <p:nvSpPr>
            <p:cNvPr id="476" name="Rectangle 475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7030A0"/>
                  </a:solidFill>
                  <a:latin typeface="Arial"/>
                </a:rPr>
                <a:t>3</a:t>
              </a:r>
            </a:p>
          </p:txBody>
        </p:sp>
        <p:sp>
          <p:nvSpPr>
            <p:cNvPr id="477" name="Rectangle 476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7030A0"/>
                  </a:solidFill>
                  <a:latin typeface="Arial"/>
                </a:rPr>
                <a:t>4</a:t>
              </a:r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7030A0"/>
                  </a:solidFill>
                  <a:latin typeface="Arial"/>
                </a:rPr>
                <a:t>5</a:t>
              </a:r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7030A0"/>
                  </a:solidFill>
                  <a:latin typeface="Arial"/>
                </a:rPr>
                <a:t>6</a:t>
              </a:r>
            </a:p>
          </p:txBody>
        </p:sp>
        <p:sp>
          <p:nvSpPr>
            <p:cNvPr id="480" name="Rectangle 479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7030A0"/>
                  </a:solidFill>
                  <a:latin typeface="Arial"/>
                </a:rPr>
                <a:t>7</a:t>
              </a:r>
            </a:p>
          </p:txBody>
        </p:sp>
        <p:sp>
          <p:nvSpPr>
            <p:cNvPr id="481" name="Rectangle 480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0</a:t>
              </a:r>
            </a:p>
          </p:txBody>
        </p:sp>
        <p:sp>
          <p:nvSpPr>
            <p:cNvPr id="482" name="Rectangle 481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kern="0">
                  <a:solidFill>
                    <a:srgbClr val="C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485" name="Rectangle 484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486" name="Rectangle 485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kern="0">
                  <a:solidFill>
                    <a:srgbClr val="C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487" name="Rectangle 486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kern="0">
                  <a:solidFill>
                    <a:srgbClr val="C00000"/>
                  </a:solidFill>
                  <a:latin typeface="Arial"/>
                </a:rPr>
                <a:t>6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Indexing Arrays with Blocks and Threads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090556" y="4878917"/>
            <a:ext cx="8368771" cy="1437570"/>
          </a:xfrm>
        </p:spPr>
        <p:txBody>
          <a:bodyPr>
            <a:normAutofit/>
          </a:bodyPr>
          <a:lstStyle/>
          <a:p>
            <a:r>
              <a:rPr lang="en-GB" dirty="0"/>
              <a:t>With M threads/block a unique index for each thread is given by: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 M;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35561" y="1885155"/>
            <a:ext cx="8442431" cy="2308930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No longer as simple as using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and</a:t>
            </a:r>
            <a:r>
              <a:rPr lang="en-GB" b="1" dirty="0"/>
              <a:t>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endParaRPr lang="en-GB" b="1" dirty="0">
              <a:solidFill>
                <a:schemeClr val="accent6"/>
              </a:solidFill>
            </a:endParaRPr>
          </a:p>
          <a:p>
            <a:pPr lvl="1"/>
            <a:r>
              <a:rPr lang="en-GB" dirty="0"/>
              <a:t>Consider indexing an array with one element per thread (8 threads/block)</a:t>
            </a:r>
          </a:p>
        </p:txBody>
      </p:sp>
      <p:grpSp>
        <p:nvGrpSpPr>
          <p:cNvPr id="488" name="threadIdx"/>
          <p:cNvGrpSpPr/>
          <p:nvPr/>
        </p:nvGrpSpPr>
        <p:grpSpPr>
          <a:xfrm>
            <a:off x="2765633" y="3310110"/>
            <a:ext cx="7200798" cy="345642"/>
            <a:chOff x="1165923" y="2495514"/>
            <a:chExt cx="8640958" cy="311078"/>
          </a:xfrm>
        </p:grpSpPr>
        <p:sp>
          <p:nvSpPr>
            <p:cNvPr id="489" name="TextBox 488"/>
            <p:cNvSpPr txBox="1"/>
            <p:nvPr/>
          </p:nvSpPr>
          <p:spPr bwMode="auto">
            <a:xfrm>
              <a:off x="1165923" y="2501893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600" b="1" kern="0" dirty="0" err="1">
                  <a:solidFill>
                    <a:srgbClr val="FF9933"/>
                  </a:solidFill>
                  <a:latin typeface="Courier New" pitchFamily="49" charset="0"/>
                  <a:cs typeface="Courier New" pitchFamily="49" charset="0"/>
                </a:rPr>
                <a:t>threadIdx.x</a:t>
              </a:r>
              <a:endPara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90" name="TextBox 489"/>
            <p:cNvSpPr txBox="1"/>
            <p:nvPr/>
          </p:nvSpPr>
          <p:spPr bwMode="auto">
            <a:xfrm>
              <a:off x="3326159" y="2495514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600" b="1" kern="0" dirty="0" err="1">
                  <a:solidFill>
                    <a:srgbClr val="ADE2E2">
                      <a:lumMod val="75000"/>
                    </a:srgbClr>
                  </a:solidFill>
                  <a:latin typeface="Courier New" pitchFamily="49" charset="0"/>
                  <a:cs typeface="Courier New" pitchFamily="49" charset="0"/>
                </a:rPr>
                <a:t>threadIdx.x</a:t>
              </a:r>
              <a:endParaRPr lang="en-GB" sz="1600" b="1" kern="0" dirty="0">
                <a:solidFill>
                  <a:srgbClr val="ADE2E2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91" name="TextBox 490"/>
            <p:cNvSpPr txBox="1"/>
            <p:nvPr/>
          </p:nvSpPr>
          <p:spPr bwMode="auto">
            <a:xfrm>
              <a:off x="5486400" y="2501893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600" b="1" kern="0" dirty="0" err="1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threadIdx.x</a:t>
              </a:r>
              <a:endParaRPr lang="en-GB" sz="1600" b="1" kern="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92" name="TextBox 491"/>
            <p:cNvSpPr txBox="1"/>
            <p:nvPr/>
          </p:nvSpPr>
          <p:spPr bwMode="auto">
            <a:xfrm>
              <a:off x="7646642" y="2495514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600" b="1" kern="0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threadIdx.x</a:t>
              </a:r>
              <a:endParaRPr lang="en-GB" sz="16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93" name="Braces"/>
          <p:cNvGrpSpPr/>
          <p:nvPr/>
        </p:nvGrpSpPr>
        <p:grpSpPr>
          <a:xfrm>
            <a:off x="2765632" y="4186929"/>
            <a:ext cx="7200803" cy="225023"/>
            <a:chOff x="1165920" y="3284647"/>
            <a:chExt cx="8640964" cy="202521"/>
          </a:xfrm>
        </p:grpSpPr>
        <p:sp>
          <p:nvSpPr>
            <p:cNvPr id="494" name="Left Brace 493"/>
            <p:cNvSpPr/>
            <p:nvPr/>
          </p:nvSpPr>
          <p:spPr>
            <a:xfrm rot="16200000">
              <a:off x="2144779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FF993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5" name="Left Brace 494"/>
            <p:cNvSpPr/>
            <p:nvPr/>
          </p:nvSpPr>
          <p:spPr>
            <a:xfrm rot="16200000">
              <a:off x="4305019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ADE2E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6" name="Left Brace 495"/>
            <p:cNvSpPr/>
            <p:nvPr/>
          </p:nvSpPr>
          <p:spPr>
            <a:xfrm rot="16200000">
              <a:off x="6465262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7" name="Left Brace 496"/>
            <p:cNvSpPr/>
            <p:nvPr/>
          </p:nvSpPr>
          <p:spPr>
            <a:xfrm rot="16200000">
              <a:off x="8625503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8" name="blockIdx"/>
          <p:cNvGrpSpPr/>
          <p:nvPr/>
        </p:nvGrpSpPr>
        <p:grpSpPr>
          <a:xfrm>
            <a:off x="2765630" y="4516377"/>
            <a:ext cx="7200798" cy="307779"/>
            <a:chOff x="1165919" y="3581153"/>
            <a:chExt cx="8640957" cy="277001"/>
          </a:xfrm>
        </p:grpSpPr>
        <p:sp>
          <p:nvSpPr>
            <p:cNvPr id="499" name="TextBox 498"/>
            <p:cNvSpPr txBox="1"/>
            <p:nvPr/>
          </p:nvSpPr>
          <p:spPr bwMode="auto">
            <a:xfrm>
              <a:off x="1165919" y="3581155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400" b="1" kern="0" dirty="0" err="1">
                  <a:solidFill>
                    <a:srgbClr val="FF9933"/>
                  </a:solidFill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lang="en-GB" sz="1400" b="1" kern="0" dirty="0">
                  <a:solidFill>
                    <a:srgbClr val="FF9933"/>
                  </a:solidFill>
                  <a:latin typeface="Courier New" pitchFamily="49" charset="0"/>
                  <a:cs typeface="Courier New" pitchFamily="49" charset="0"/>
                </a:rPr>
                <a:t> = 0</a:t>
              </a:r>
            </a:p>
          </p:txBody>
        </p:sp>
        <p:sp>
          <p:nvSpPr>
            <p:cNvPr id="500" name="TextBox 499"/>
            <p:cNvSpPr txBox="1"/>
            <p:nvPr/>
          </p:nvSpPr>
          <p:spPr bwMode="auto">
            <a:xfrm>
              <a:off x="3326162" y="3581155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400" b="1" kern="0" dirty="0" err="1">
                  <a:solidFill>
                    <a:srgbClr val="ADE2E2">
                      <a:lumMod val="75000"/>
                    </a:srgbClr>
                  </a:solidFill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lang="en-GB" sz="1400" b="1" kern="0" dirty="0">
                  <a:solidFill>
                    <a:srgbClr val="ADE2E2">
                      <a:lumMod val="75000"/>
                    </a:srgbClr>
                  </a:solidFill>
                  <a:latin typeface="Courier New" pitchFamily="49" charset="0"/>
                  <a:cs typeface="Courier New" pitchFamily="49" charset="0"/>
                </a:rPr>
                <a:t> = 1</a:t>
              </a:r>
            </a:p>
          </p:txBody>
        </p:sp>
        <p:sp>
          <p:nvSpPr>
            <p:cNvPr id="501" name="TextBox 500"/>
            <p:cNvSpPr txBox="1"/>
            <p:nvPr/>
          </p:nvSpPr>
          <p:spPr bwMode="auto">
            <a:xfrm>
              <a:off x="5486398" y="3581154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400" b="1" kern="0" dirty="0" err="1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lang="en-GB" sz="1400" b="1" kern="0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 = 2</a:t>
              </a:r>
            </a:p>
          </p:txBody>
        </p:sp>
        <p:sp>
          <p:nvSpPr>
            <p:cNvPr id="502" name="TextBox 501"/>
            <p:cNvSpPr txBox="1"/>
            <p:nvPr/>
          </p:nvSpPr>
          <p:spPr bwMode="auto">
            <a:xfrm>
              <a:off x="7646637" y="3581153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 eaLnBrk="0" hangingPunct="0">
                <a:defRPr/>
              </a:pPr>
              <a:r>
                <a:rPr lang="en-GB" sz="1400" b="1" kern="0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lang="en-GB" sz="1400" b="1" kern="0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 = 3</a:t>
              </a: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 Arrays: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Which thread will operate on the red element?</a:t>
            </a:r>
          </a:p>
          <a:p>
            <a:pPr lvl="0"/>
            <a:endParaRPr lang="en-GB" dirty="0"/>
          </a:p>
        </p:txBody>
      </p:sp>
      <p:sp>
        <p:nvSpPr>
          <p:cNvPr id="314" name="Content Placeholder 3"/>
          <p:cNvSpPr txBox="1">
            <a:spLocks/>
          </p:cNvSpPr>
          <p:nvPr/>
        </p:nvSpPr>
        <p:spPr bwMode="auto">
          <a:xfrm>
            <a:off x="1910536" y="5411460"/>
            <a:ext cx="8368771" cy="143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kern="0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 * M;</a:t>
            </a:r>
          </a:p>
          <a:p>
            <a:pPr marL="0" indent="0">
              <a:buNone/>
              <a:defRPr/>
            </a:pP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	          =      5      +     2      * 8;</a:t>
            </a:r>
          </a:p>
          <a:p>
            <a:pPr marL="0" indent="0">
              <a:buNone/>
              <a:defRPr/>
            </a:pPr>
            <a:r>
              <a:rPr lang="en-GB" sz="2000" b="1" kern="0" dirty="0">
                <a:latin typeface="Courier New" pitchFamily="49" charset="0"/>
                <a:cs typeface="Courier New" pitchFamily="49" charset="0"/>
              </a:rPr>
              <a:t>	          = 21;</a:t>
            </a:r>
          </a:p>
          <a:p>
            <a:pPr marL="0" indent="0">
              <a:buNone/>
              <a:defRPr/>
            </a:pPr>
            <a:endParaRPr lang="en-GB" kern="0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15" name="Vector (numbered)"/>
          <p:cNvGrpSpPr/>
          <p:nvPr/>
        </p:nvGrpSpPr>
        <p:grpSpPr>
          <a:xfrm>
            <a:off x="2495601" y="4045868"/>
            <a:ext cx="7200800" cy="480058"/>
            <a:chOff x="1165920" y="2969084"/>
            <a:chExt cx="8640960" cy="432052"/>
          </a:xfrm>
        </p:grpSpPr>
        <p:sp>
          <p:nvSpPr>
            <p:cNvPr id="316" name="Round Same Side Corner Rectangle 315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0</a:t>
              </a:r>
            </a:p>
          </p:txBody>
        </p:sp>
        <p:sp>
          <p:nvSpPr>
            <p:cNvPr id="317" name="Rectangle 316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1</a:t>
              </a:r>
            </a:p>
          </p:txBody>
        </p:sp>
        <p:sp>
          <p:nvSpPr>
            <p:cNvPr id="318" name="Round Same Side Corner Rectangle 317"/>
            <p:cNvSpPr/>
            <p:nvPr/>
          </p:nvSpPr>
          <p:spPr>
            <a:xfrm rot="5400000" flipH="1">
              <a:off x="9455841" y="3050094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2</a:t>
              </a:r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3</a:t>
              </a:r>
            </a:p>
          </p:txBody>
        </p:sp>
        <p:sp>
          <p:nvSpPr>
            <p:cNvPr id="321" name="Rectangle 320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4</a:t>
              </a:r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5</a:t>
              </a:r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6</a:t>
              </a:r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9933"/>
                  </a:solidFill>
                  <a:latin typeface="Arial"/>
                </a:rPr>
                <a:t>7</a:t>
              </a:r>
            </a:p>
          </p:txBody>
        </p:sp>
        <p:sp>
          <p:nvSpPr>
            <p:cNvPr id="325" name="Rectangle 324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0</a:t>
              </a:r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1</a:t>
              </a:r>
            </a:p>
          </p:txBody>
        </p:sp>
        <p:sp>
          <p:nvSpPr>
            <p:cNvPr id="327" name="Rectangle 326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2</a:t>
              </a:r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3</a:t>
              </a:r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4</a:t>
              </a:r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5</a:t>
              </a:r>
            </a:p>
          </p:txBody>
        </p:sp>
        <p:sp>
          <p:nvSpPr>
            <p:cNvPr id="331" name="Rectangle 330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6</a:t>
              </a:r>
            </a:p>
          </p:txBody>
        </p:sp>
        <p:sp>
          <p:nvSpPr>
            <p:cNvPr id="332" name="Rectangle 331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ADE2E2">
                      <a:lumMod val="75000"/>
                    </a:srgbClr>
                  </a:solidFill>
                  <a:latin typeface="Arial"/>
                </a:rPr>
                <a:t>7</a:t>
              </a:r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7030A0"/>
                  </a:solidFill>
                  <a:latin typeface="Arial"/>
                </a:rPr>
                <a:t>0</a:t>
              </a:r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>
                  <a:solidFill>
                    <a:srgbClr val="7030A0"/>
                  </a:solidFill>
                  <a:latin typeface="Arial"/>
                </a:rPr>
                <a:t>1</a:t>
              </a:r>
            </a:p>
          </p:txBody>
        </p:sp>
        <p:sp>
          <p:nvSpPr>
            <p:cNvPr id="335" name="Rectangle 334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>
                  <a:solidFill>
                    <a:srgbClr val="7030A0"/>
                  </a:solidFill>
                  <a:latin typeface="Arial"/>
                </a:rPr>
                <a:t>2</a:t>
              </a:r>
            </a:p>
          </p:txBody>
        </p:sp>
        <p:sp>
          <p:nvSpPr>
            <p:cNvPr id="336" name="Rectangle 335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7030A0"/>
                  </a:solidFill>
                  <a:latin typeface="Arial"/>
                </a:rPr>
                <a:t>3</a:t>
              </a:r>
            </a:p>
          </p:txBody>
        </p:sp>
        <p:sp>
          <p:nvSpPr>
            <p:cNvPr id="337" name="Rectangle 336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>
                  <a:solidFill>
                    <a:srgbClr val="7030A0"/>
                  </a:solidFill>
                  <a:latin typeface="Arial"/>
                </a:rPr>
                <a:t>4</a:t>
              </a:r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FFFFFF"/>
                  </a:solidFill>
                  <a:latin typeface="Arial"/>
                </a:rPr>
                <a:t>5</a:t>
              </a:r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>
                  <a:solidFill>
                    <a:srgbClr val="7030A0"/>
                  </a:solidFill>
                  <a:latin typeface="Arial"/>
                </a:rPr>
                <a:t>6</a:t>
              </a:r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>
                  <a:solidFill>
                    <a:srgbClr val="7030A0"/>
                  </a:solidFill>
                  <a:latin typeface="Arial"/>
                </a:rPr>
                <a:t>7</a:t>
              </a:r>
            </a:p>
          </p:txBody>
        </p:sp>
        <p:sp>
          <p:nvSpPr>
            <p:cNvPr id="341" name="Rectangle 340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0</a:t>
              </a: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6</a:t>
              </a:r>
            </a:p>
          </p:txBody>
        </p:sp>
      </p:grpSp>
      <p:sp>
        <p:nvSpPr>
          <p:cNvPr id="348" name="TextBox 347"/>
          <p:cNvSpPr txBox="1"/>
          <p:nvPr/>
        </p:nvSpPr>
        <p:spPr bwMode="auto">
          <a:xfrm>
            <a:off x="6546051" y="3475489"/>
            <a:ext cx="2497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GB" sz="16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5</a:t>
            </a:r>
          </a:p>
        </p:txBody>
      </p:sp>
      <p:sp>
        <p:nvSpPr>
          <p:cNvPr id="349" name="Left Brace 348"/>
          <p:cNvSpPr/>
          <p:nvPr/>
        </p:nvSpPr>
        <p:spPr>
          <a:xfrm rot="16200000">
            <a:off x="6883592" y="3758924"/>
            <a:ext cx="225023" cy="1800200"/>
          </a:xfrm>
          <a:prstGeom prst="leftBrace">
            <a:avLst>
              <a:gd name="adj1" fmla="val 39890"/>
              <a:gd name="adj2" fmla="val 50000"/>
            </a:avLst>
          </a:prstGeom>
          <a:noFill/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Box 349"/>
          <p:cNvSpPr txBox="1"/>
          <p:nvPr/>
        </p:nvSpPr>
        <p:spPr bwMode="auto">
          <a:xfrm>
            <a:off x="5870977" y="4717884"/>
            <a:ext cx="2250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GB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2</a:t>
            </a:r>
          </a:p>
        </p:txBody>
      </p:sp>
      <p:grpSp>
        <p:nvGrpSpPr>
          <p:cNvPr id="351" name="Vector (unnumbered)"/>
          <p:cNvGrpSpPr/>
          <p:nvPr/>
        </p:nvGrpSpPr>
        <p:grpSpPr>
          <a:xfrm>
            <a:off x="2495601" y="2659591"/>
            <a:ext cx="7245805" cy="480058"/>
            <a:chOff x="1165920" y="2969084"/>
            <a:chExt cx="8694966" cy="432052"/>
          </a:xfrm>
        </p:grpSpPr>
        <p:sp>
          <p:nvSpPr>
            <p:cNvPr id="352" name="Round Same Side Corner Rectangle 351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54" name="Round Same Side Corner Rectangle 353"/>
            <p:cNvSpPr/>
            <p:nvPr/>
          </p:nvSpPr>
          <p:spPr>
            <a:xfrm rot="5400000" flipH="1">
              <a:off x="9482844" y="3023091"/>
              <a:ext cx="432048" cy="324036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55" name="Rectangle 354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56" name="Rectangle 355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60" name="Rectangle 359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9933"/>
                </a:solidFill>
                <a:latin typeface="Arial"/>
              </a:endParaRPr>
            </a:p>
          </p:txBody>
        </p:sp>
        <p:sp>
          <p:nvSpPr>
            <p:cNvPr id="361" name="Rectangle 360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2" name="Rectangle 361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5" name="Rectangle 364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ADE2E2">
                    <a:lumMod val="75000"/>
                  </a:srgbClr>
                </a:solidFill>
                <a:latin typeface="Arial"/>
              </a:endParaRPr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0" name="Rectangle 369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7030A0"/>
                </a:solidFill>
                <a:latin typeface="Arial"/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GB" sz="1400" kern="0" dirty="0">
                <a:solidFill>
                  <a:srgbClr val="FFFF00"/>
                </a:solidFill>
                <a:latin typeface="Arial"/>
              </a:endParaRPr>
            </a:p>
          </p:txBody>
        </p:sp>
      </p:grpSp>
      <p:grpSp>
        <p:nvGrpSpPr>
          <p:cNvPr id="384" name="Vector (numbered)"/>
          <p:cNvGrpSpPr/>
          <p:nvPr/>
        </p:nvGrpSpPr>
        <p:grpSpPr>
          <a:xfrm>
            <a:off x="2495601" y="2659591"/>
            <a:ext cx="7245805" cy="480058"/>
            <a:chOff x="1165920" y="2969084"/>
            <a:chExt cx="8694965" cy="432052"/>
          </a:xfrm>
        </p:grpSpPr>
        <p:sp>
          <p:nvSpPr>
            <p:cNvPr id="385" name="Round Same Side Corner Rectangle 384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0</a:t>
              </a:r>
            </a:p>
          </p:txBody>
        </p:sp>
        <p:sp>
          <p:nvSpPr>
            <p:cNvPr id="386" name="Rectangle 385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</a:t>
              </a:r>
            </a:p>
          </p:txBody>
        </p:sp>
        <p:sp>
          <p:nvSpPr>
            <p:cNvPr id="387" name="Round Same Side Corner Rectangle 386"/>
            <p:cNvSpPr/>
            <p:nvPr/>
          </p:nvSpPr>
          <p:spPr>
            <a:xfrm rot="5400000" flipH="1">
              <a:off x="9482845" y="3023092"/>
              <a:ext cx="432048" cy="324032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31</a:t>
              </a:r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</a:t>
              </a:r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3</a:t>
              </a:r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4</a:t>
              </a:r>
            </a:p>
          </p:txBody>
        </p:sp>
        <p:sp>
          <p:nvSpPr>
            <p:cNvPr id="391" name="Rectangle 390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5</a:t>
              </a:r>
            </a:p>
          </p:txBody>
        </p:sp>
        <p:sp>
          <p:nvSpPr>
            <p:cNvPr id="392" name="Rectangle 391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6</a:t>
              </a:r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7</a:t>
              </a:r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8</a:t>
              </a:r>
            </a:p>
          </p:txBody>
        </p:sp>
        <p:sp>
          <p:nvSpPr>
            <p:cNvPr id="395" name="Rectangle 394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9</a:t>
              </a:r>
            </a:p>
          </p:txBody>
        </p:sp>
        <p:sp>
          <p:nvSpPr>
            <p:cNvPr id="396" name="Rectangle 395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10</a:t>
              </a:r>
            </a:p>
          </p:txBody>
        </p:sp>
        <p:sp>
          <p:nvSpPr>
            <p:cNvPr id="397" name="Rectangle 396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11</a:t>
              </a:r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12</a:t>
              </a:r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13</a:t>
              </a:r>
            </a:p>
          </p:txBody>
        </p:sp>
        <p:sp>
          <p:nvSpPr>
            <p:cNvPr id="400" name="Rectangle 399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14</a:t>
              </a:r>
            </a:p>
          </p:txBody>
        </p:sp>
        <p:sp>
          <p:nvSpPr>
            <p:cNvPr id="401" name="Rectangle 400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15</a:t>
              </a: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16</a:t>
              </a: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17</a:t>
              </a:r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18</a:t>
              </a:r>
            </a:p>
          </p:txBody>
        </p:sp>
        <p:sp>
          <p:nvSpPr>
            <p:cNvPr id="405" name="Rectangle 404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19</a:t>
              </a:r>
            </a:p>
          </p:txBody>
        </p:sp>
        <p:sp>
          <p:nvSpPr>
            <p:cNvPr id="406" name="Rectangle 405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20</a:t>
              </a:r>
            </a:p>
          </p:txBody>
        </p:sp>
        <p:sp>
          <p:nvSpPr>
            <p:cNvPr id="407" name="Rectangle 406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solidFill>
                    <a:schemeClr val="bg1"/>
                  </a:solidFill>
                  <a:latin typeface="Arial"/>
                </a:rPr>
                <a:t>21</a:t>
              </a: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22</a:t>
              </a:r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23</a:t>
              </a:r>
            </a:p>
          </p:txBody>
        </p:sp>
        <p:sp>
          <p:nvSpPr>
            <p:cNvPr id="410" name="Rectangle 409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24</a:t>
              </a:r>
            </a:p>
          </p:txBody>
        </p:sp>
        <p:sp>
          <p:nvSpPr>
            <p:cNvPr id="411" name="Rectangle 410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25</a:t>
              </a:r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26</a:t>
              </a:r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27</a:t>
              </a:r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28</a:t>
              </a:r>
            </a:p>
          </p:txBody>
        </p:sp>
        <p:sp>
          <p:nvSpPr>
            <p:cNvPr id="415" name="Rectangle 414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29</a:t>
              </a:r>
            </a:p>
          </p:txBody>
        </p:sp>
        <p:sp>
          <p:nvSpPr>
            <p:cNvPr id="416" name="Rectangle 415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algn="ctr">
                <a:defRPr/>
              </a:pPr>
              <a:r>
                <a:rPr lang="en-GB" sz="1050" kern="0" dirty="0">
                  <a:latin typeface="Arial"/>
                </a:rPr>
                <a:t>30</a:t>
              </a:r>
            </a:p>
          </p:txBody>
        </p:sp>
      </p:grpSp>
      <p:cxnSp>
        <p:nvCxnSpPr>
          <p:cNvPr id="417" name="Straight Arrow Connector 416"/>
          <p:cNvCxnSpPr/>
          <p:nvPr/>
        </p:nvCxnSpPr>
        <p:spPr>
          <a:xfrm flipH="1">
            <a:off x="7333639" y="3830672"/>
            <a:ext cx="225025" cy="337151"/>
          </a:xfrm>
          <a:prstGeom prst="straightConnector1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418" name="Left Brace 417"/>
          <p:cNvSpPr/>
          <p:nvPr/>
        </p:nvSpPr>
        <p:spPr>
          <a:xfrm rot="5400000" flipV="1">
            <a:off x="3286165" y="3033257"/>
            <a:ext cx="225023" cy="1800200"/>
          </a:xfrm>
          <a:prstGeom prst="leftBrace">
            <a:avLst>
              <a:gd name="adj1" fmla="val 39890"/>
              <a:gd name="adj2" fmla="val 50000"/>
            </a:avLst>
          </a:prstGeom>
          <a:noFill/>
          <a:ln w="9525" cap="flat" cmpd="sng" algn="ctr">
            <a:solidFill>
              <a:srgbClr val="FF9933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418"/>
          <p:cNvSpPr txBox="1"/>
          <p:nvPr/>
        </p:nvSpPr>
        <p:spPr bwMode="auto">
          <a:xfrm>
            <a:off x="2495601" y="3509688"/>
            <a:ext cx="18001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en-GB" sz="14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M =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70489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" grpId="0"/>
      <p:bldP spid="349" grpId="0" animBg="1"/>
      <p:bldP spid="350" grpId="0"/>
      <p:bldP spid="418" grpId="0" animBg="1"/>
      <p:bldP spid="4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Vector Addition with Blocks and Threads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911616" y="4007557"/>
            <a:ext cx="8368771" cy="2308931"/>
          </a:xfrm>
        </p:spPr>
        <p:txBody>
          <a:bodyPr>
            <a:normAutofit/>
          </a:bodyPr>
          <a:lstStyle/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What changes need to be made in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11616" y="1599848"/>
            <a:ext cx="8368771" cy="2308930"/>
          </a:xfrm>
        </p:spPr>
        <p:txBody>
          <a:bodyPr>
            <a:normAutofit fontScale="92500"/>
          </a:bodyPr>
          <a:lstStyle/>
          <a:p>
            <a:pPr lvl="0"/>
            <a:r>
              <a:rPr lang="en-GB" dirty="0"/>
              <a:t>Use the built-in variable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for threads per block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GB" sz="160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GB" dirty="0"/>
              <a:t>Combined version of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to use parallel threads </a:t>
            </a:r>
            <a:r>
              <a:rPr lang="en-GB" i="1" dirty="0"/>
              <a:t>and</a:t>
            </a:r>
            <a:r>
              <a:rPr lang="en-GB" dirty="0"/>
              <a:t> parallel blocks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add"/>
          <p:cNvSpPr txBox="1"/>
          <p:nvPr/>
        </p:nvSpPr>
        <p:spPr bwMode="auto">
          <a:xfrm>
            <a:off x="2585610" y="3991129"/>
            <a:ext cx="7965884" cy="1366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 rtlCol="0">
            <a:spAutoFit/>
          </a:bodyPr>
          <a:lstStyle/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*b,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 *c) {</a:t>
            </a:r>
          </a:p>
          <a:p>
            <a:pPr>
              <a:spcBef>
                <a:spcPct val="20000"/>
              </a:spcBef>
              <a:buSzPct val="100000"/>
            </a:pPr>
            <a:r>
              <a:rPr lang="en-GB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GB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    c[index] = a[index] + b[index];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5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274638"/>
            <a:ext cx="8685965" cy="1143000"/>
          </a:xfrm>
        </p:spPr>
        <p:txBody>
          <a:bodyPr>
            <a:normAutofit/>
          </a:bodyPr>
          <a:lstStyle/>
          <a:p>
            <a:r>
              <a:rPr lang="en-GB" dirty="0"/>
              <a:t>Addition with Blocks and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0" y="1342782"/>
            <a:ext cx="9144000" cy="514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#define N (2048*2048)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  #define THREADS_PER_BLOCK 512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main(void) {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*a, *b, *c;	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host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device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size = N *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  <a:endParaRPr lang="en-GB" sz="1600" b="1" i="1" kern="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device copies of a, b, c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defRPr/>
            </a:pPr>
            <a:endParaRPr lang="en-GB" sz="16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host copies of a, b, c and setup input values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a = 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(size);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random_ints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(a, N);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b = 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(size);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random_ints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(b, N);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c = 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*)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(size);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31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515" y="274638"/>
            <a:ext cx="8775975" cy="1143000"/>
          </a:xfrm>
        </p:spPr>
        <p:txBody>
          <a:bodyPr>
            <a:normAutofit/>
          </a:bodyPr>
          <a:lstStyle/>
          <a:p>
            <a:r>
              <a:rPr lang="en-GB" dirty="0"/>
              <a:t>Addition with Blocks and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0" y="1532804"/>
            <a:ext cx="9144000" cy="5046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a,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b,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Launch add() kernel on GPU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add&lt;&lt;&lt;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N/THREADS_PER_BLOCK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GB" sz="16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THREADS_PER_BLOCK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&gt;&gt;&gt;(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i="1" kern="0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Copy result back to host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(c,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, size,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en-GB" sz="1600" b="1" i="1" kern="0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600" b="1" i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free(a); free(b); free(c);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kern="0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None/>
              <a:defRPr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104985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Arbitrary Vector Sizes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299231" y="4007557"/>
            <a:ext cx="8368771" cy="2308931"/>
          </a:xfrm>
        </p:spPr>
        <p:txBody>
          <a:bodyPr>
            <a:normAutofit/>
          </a:bodyPr>
          <a:lstStyle/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Update the kernel launch:</a:t>
            </a:r>
          </a:p>
          <a:p>
            <a:pPr marL="0" indent="0">
              <a:buNone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add&lt;&lt;&lt;</a:t>
            </a:r>
            <a:r>
              <a:rPr lang="en-GB" sz="18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(N + M-1) / M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,M&gt;&gt;&gt;(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GB" sz="18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99231" y="1599848"/>
            <a:ext cx="8368771" cy="2308930"/>
          </a:xfrm>
        </p:spPr>
        <p:txBody>
          <a:bodyPr/>
          <a:lstStyle/>
          <a:p>
            <a:pPr lvl="0"/>
            <a:r>
              <a:rPr lang="en-GB" dirty="0"/>
              <a:t>Typical problems are not friendly multiples of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endParaRPr lang="en-GB" sz="1800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GB" dirty="0"/>
              <a:t>Avoid accessing beyond the end of the arrays: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add"/>
          <p:cNvSpPr txBox="1"/>
          <p:nvPr/>
        </p:nvSpPr>
        <p:spPr bwMode="auto">
          <a:xfrm>
            <a:off x="2743573" y="3446831"/>
            <a:ext cx="7140348" cy="1557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 rtlCol="0">
            <a:spAutoFit/>
          </a:bodyPr>
          <a:lstStyle/>
          <a:p>
            <a:pPr lvl="0">
              <a:spcBef>
                <a:spcPct val="20000"/>
              </a:spcBef>
              <a:buSzPct val="100000"/>
            </a:pP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*a,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*b,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*c,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n) {</a:t>
            </a:r>
          </a:p>
          <a:p>
            <a:pPr>
              <a:spcBef>
                <a:spcPct val="20000"/>
              </a:spcBef>
              <a:buSzPct val="100000"/>
            </a:pPr>
            <a:r>
              <a:rPr lang="en-GB" sz="16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16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ct val="20000"/>
              </a:spcBef>
              <a:buSzPct val="100000"/>
            </a:pP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   if (index &lt; n)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c[index] = a[index] + b[index];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3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Bother with Threads?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Threads seem unnecessary</a:t>
            </a:r>
          </a:p>
          <a:p>
            <a:pPr lvl="1"/>
            <a:r>
              <a:rPr lang="en-GB"/>
              <a:t>They add a level of complexity</a:t>
            </a:r>
          </a:p>
          <a:p>
            <a:pPr lvl="1"/>
            <a:r>
              <a:rPr lang="en-GB"/>
              <a:t>What do we gain?</a:t>
            </a:r>
          </a:p>
          <a:p>
            <a:endParaRPr lang="en-GB"/>
          </a:p>
          <a:p>
            <a:r>
              <a:rPr lang="en-GB"/>
              <a:t>Unlike parallel blocks, threads have mechanisms to:</a:t>
            </a:r>
          </a:p>
          <a:p>
            <a:pPr lvl="1"/>
            <a:r>
              <a:rPr lang="en-GB"/>
              <a:t>Communicate</a:t>
            </a:r>
          </a:p>
          <a:p>
            <a:pPr lvl="1"/>
            <a:r>
              <a:rPr lang="en-GB"/>
              <a:t>Synchronize</a:t>
            </a:r>
          </a:p>
          <a:p>
            <a:endParaRPr lang="en-GB"/>
          </a:p>
          <a:p>
            <a:r>
              <a:rPr lang="en-GB"/>
              <a:t>To look closer, we need a new example…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58236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732" y="275168"/>
            <a:ext cx="7670271" cy="649741"/>
          </a:xfrm>
        </p:spPr>
        <p:txBody>
          <a:bodyPr>
            <a:normAutofit fontScale="90000"/>
          </a:bodyPr>
          <a:lstStyle/>
          <a:p>
            <a:r>
              <a:rPr lang="en-GB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Launching parallel kernels</a:t>
            </a:r>
          </a:p>
          <a:p>
            <a:pPr lvl="1"/>
            <a:r>
              <a:rPr lang="en-GB" dirty="0"/>
              <a:t>Launch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copies of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add&lt;&lt;&lt;N/M,M&gt;&gt;&gt;(…);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6"/>
                </a:solidFill>
              </a:rPr>
              <a:t> </a:t>
            </a:r>
            <a:r>
              <a:rPr lang="en-GB" dirty="0"/>
              <a:t>to access block index</a:t>
            </a: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dirty="0">
                <a:solidFill>
                  <a:schemeClr val="accent2"/>
                </a:solidFill>
              </a:rPr>
              <a:t> </a:t>
            </a:r>
            <a:r>
              <a:rPr lang="en-GB" dirty="0"/>
              <a:t>to access thread index within block</a:t>
            </a:r>
          </a:p>
          <a:p>
            <a:endParaRPr lang="en-GB" dirty="0"/>
          </a:p>
          <a:p>
            <a:r>
              <a:rPr lang="en-GB" dirty="0"/>
              <a:t>Allocate elements to threads:</a:t>
            </a:r>
          </a:p>
          <a:p>
            <a:pPr marL="0" indent="0">
              <a:buNone/>
            </a:pPr>
            <a:endParaRPr lang="en-GB" sz="1600" dirty="0">
              <a:solidFill>
                <a:srgbClr val="8AAD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2000" b="1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880074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2246313" y="4406901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kern="0" dirty="0">
                <a:latin typeface="Trebuchet MS" pitchFamily="34" charset="0"/>
              </a:rPr>
              <a:t>Cooperating Threads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7968162" y="1512906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7971208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5945983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8308745" y="129640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9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8308745" y="1737803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8308745" y="2179206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8308745" y="2620608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auto">
          <a:xfrm>
            <a:off x="8308745" y="3062010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auto">
          <a:xfrm>
            <a:off x="8308745" y="3503412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sz="1400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8308745" y="3944814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8308745" y="4386217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8308745" y="482762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5870976" y="1231696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2400" b="1" kern="0" dirty="0">
                <a:solidFill>
                  <a:srgbClr val="8AAD00">
                    <a:lumMod val="50000"/>
                  </a:srgbClr>
                </a:solidFill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7969985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7971208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7969984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7971208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7971208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7971208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7971208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7971208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198143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1D Stencil</a:t>
            </a:r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>
          <a:xfrm>
            <a:off x="1981200" y="1600200"/>
            <a:ext cx="8229600" cy="3532188"/>
          </a:xfrm>
        </p:spPr>
        <p:txBody>
          <a:bodyPr/>
          <a:lstStyle/>
          <a:p>
            <a:r>
              <a:rPr lang="en-GB"/>
              <a:t>Consider applying a 1D stencil to a 1D array of elements</a:t>
            </a:r>
          </a:p>
          <a:p>
            <a:pPr lvl="1"/>
            <a:r>
              <a:rPr lang="en-GB"/>
              <a:t>Each output element is the sum of input elements within a radius</a:t>
            </a:r>
          </a:p>
          <a:p>
            <a:endParaRPr lang="en-GB"/>
          </a:p>
          <a:p>
            <a:r>
              <a:rPr lang="en-GB"/>
              <a:t>If radius is 3, then each output element is the sum of 7 input elements: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  <p:sp>
        <p:nvSpPr>
          <p:cNvPr id="96" name="Cube 95"/>
          <p:cNvSpPr>
            <a:spLocks noChangeAspect="1"/>
          </p:cNvSpPr>
          <p:nvPr/>
        </p:nvSpPr>
        <p:spPr>
          <a:xfrm>
            <a:off x="4849814" y="5181600"/>
            <a:ext cx="274637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Cube 96"/>
          <p:cNvSpPr>
            <a:spLocks noChangeAspect="1"/>
          </p:cNvSpPr>
          <p:nvPr/>
        </p:nvSpPr>
        <p:spPr>
          <a:xfrm>
            <a:off x="5126039" y="5181600"/>
            <a:ext cx="274637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Cube 97"/>
          <p:cNvSpPr>
            <a:spLocks noChangeAspect="1"/>
          </p:cNvSpPr>
          <p:nvPr/>
        </p:nvSpPr>
        <p:spPr>
          <a:xfrm>
            <a:off x="5402264" y="5181600"/>
            <a:ext cx="274637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Cube 98"/>
          <p:cNvSpPr>
            <a:spLocks noChangeAspect="1"/>
          </p:cNvSpPr>
          <p:nvPr/>
        </p:nvSpPr>
        <p:spPr>
          <a:xfrm>
            <a:off x="5676901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ube 99"/>
          <p:cNvSpPr>
            <a:spLocks noChangeAspect="1"/>
          </p:cNvSpPr>
          <p:nvPr/>
        </p:nvSpPr>
        <p:spPr>
          <a:xfrm>
            <a:off x="5953126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Cube 100"/>
          <p:cNvSpPr>
            <a:spLocks noChangeAspect="1"/>
          </p:cNvSpPr>
          <p:nvPr/>
        </p:nvSpPr>
        <p:spPr>
          <a:xfrm>
            <a:off x="6229351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Cube 101"/>
          <p:cNvSpPr>
            <a:spLocks noChangeAspect="1"/>
          </p:cNvSpPr>
          <p:nvPr/>
        </p:nvSpPr>
        <p:spPr>
          <a:xfrm>
            <a:off x="6505576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Left Brace 102"/>
          <p:cNvSpPr/>
          <p:nvPr/>
        </p:nvSpPr>
        <p:spPr>
          <a:xfrm rot="16200000">
            <a:off x="5145089" y="5291139"/>
            <a:ext cx="225425" cy="815975"/>
          </a:xfrm>
          <a:prstGeom prst="leftBrace">
            <a:avLst>
              <a:gd name="adj1" fmla="val 39687"/>
              <a:gd name="adj2" fmla="val 50000"/>
            </a:avLst>
          </a:prstGeom>
          <a:noFill/>
          <a:ln w="2857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Left Brace 103"/>
          <p:cNvSpPr/>
          <p:nvPr/>
        </p:nvSpPr>
        <p:spPr>
          <a:xfrm rot="16200000">
            <a:off x="6245226" y="5291139"/>
            <a:ext cx="225425" cy="815975"/>
          </a:xfrm>
          <a:prstGeom prst="leftBrace">
            <a:avLst>
              <a:gd name="adj1" fmla="val 39687"/>
              <a:gd name="adj2" fmla="val 50000"/>
            </a:avLst>
          </a:prstGeom>
          <a:noFill/>
          <a:ln w="2857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04"/>
          <p:cNvSpPr txBox="1"/>
          <p:nvPr/>
        </p:nvSpPr>
        <p:spPr bwMode="auto">
          <a:xfrm>
            <a:off x="4838701" y="5862639"/>
            <a:ext cx="82867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radius</a:t>
            </a:r>
          </a:p>
        </p:txBody>
      </p:sp>
      <p:sp>
        <p:nvSpPr>
          <p:cNvPr id="106" name="TextBox 105"/>
          <p:cNvSpPr txBox="1"/>
          <p:nvPr/>
        </p:nvSpPr>
        <p:spPr bwMode="auto">
          <a:xfrm>
            <a:off x="5943601" y="5862639"/>
            <a:ext cx="82867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radius</a:t>
            </a:r>
          </a:p>
        </p:txBody>
      </p:sp>
    </p:spTree>
    <p:extLst>
      <p:ext uri="{BB962C8B-B14F-4D97-AF65-F5344CB8AC3E}">
        <p14:creationId xmlns:p14="http://schemas.microsoft.com/office/powerpoint/2010/main" val="17397287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/>
      <p:bldP spid="10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Implementing Within a Block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Each thread processes one output element</a:t>
            </a:r>
          </a:p>
          <a:p>
            <a:pPr lvl="1"/>
            <a:r>
              <a:rPr lang="en-GB"/>
              <a:t>blockDim.x elements per block</a:t>
            </a:r>
          </a:p>
          <a:p>
            <a:endParaRPr lang="en-GB"/>
          </a:p>
          <a:p>
            <a:r>
              <a:rPr lang="en-GB"/>
              <a:t>Input elements are read several times</a:t>
            </a:r>
          </a:p>
          <a:p>
            <a:pPr lvl="1"/>
            <a:r>
              <a:rPr lang="en-GB"/>
              <a:t>With radius 3, each input element is read seven times</a:t>
            </a:r>
          </a:p>
        </p:txBody>
      </p:sp>
      <p:grpSp>
        <p:nvGrpSpPr>
          <p:cNvPr id="11268" name="Input"/>
          <p:cNvGrpSpPr>
            <a:grpSpLocks/>
          </p:cNvGrpSpPr>
          <p:nvPr/>
        </p:nvGrpSpPr>
        <p:grpSpPr bwMode="auto">
          <a:xfrm>
            <a:off x="3695700" y="4724400"/>
            <a:ext cx="4865688" cy="274638"/>
            <a:chOff x="2606080" y="4211221"/>
            <a:chExt cx="5838474" cy="315040"/>
          </a:xfrm>
        </p:grpSpPr>
        <p:sp>
          <p:nvSpPr>
            <p:cNvPr id="146" name="Cube 145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33CCCC">
                    <a:shade val="51000"/>
                    <a:satMod val="130000"/>
                  </a:srgbClr>
                </a:gs>
                <a:gs pos="80000">
                  <a:srgbClr val="33CCCC">
                    <a:shade val="93000"/>
                    <a:satMod val="130000"/>
                  </a:srgbClr>
                </a:gs>
                <a:gs pos="100000">
                  <a:srgbClr val="33CCCC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3CCCC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Cube 146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Cube 147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Cube 148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Cube 149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Cube 150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Cube 151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Cube 152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Cube 153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Cube 154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Cube 155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Cube 156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Cube 157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Cube 158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Cube 159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Cube 160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69" name="Output"/>
          <p:cNvGrpSpPr>
            <a:grpSpLocks/>
          </p:cNvGrpSpPr>
          <p:nvPr/>
        </p:nvGrpSpPr>
        <p:grpSpPr bwMode="auto">
          <a:xfrm>
            <a:off x="3695700" y="5478464"/>
            <a:ext cx="4865688" cy="274637"/>
            <a:chOff x="2606080" y="4211221"/>
            <a:chExt cx="5838474" cy="315040"/>
          </a:xfrm>
        </p:grpSpPr>
        <p:sp>
          <p:nvSpPr>
            <p:cNvPr id="163" name="Cube 162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" name="Cube 163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Cube 164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Cube 165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Cube 166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Cube 167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Cube 168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Cube 169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Cube 170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Cube 171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Cube 172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Cube 173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Cube 174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Cube 175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Cube 176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Cube 177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9" name="Cube 178"/>
          <p:cNvSpPr/>
          <p:nvPr/>
        </p:nvSpPr>
        <p:spPr>
          <a:xfrm>
            <a:off x="4613276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Cube 179"/>
          <p:cNvSpPr/>
          <p:nvPr/>
        </p:nvSpPr>
        <p:spPr>
          <a:xfrm>
            <a:off x="4919664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Cube 180"/>
          <p:cNvSpPr/>
          <p:nvPr/>
        </p:nvSpPr>
        <p:spPr>
          <a:xfrm>
            <a:off x="5226050" y="5478464"/>
            <a:ext cx="274638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Cube 181"/>
          <p:cNvSpPr/>
          <p:nvPr/>
        </p:nvSpPr>
        <p:spPr>
          <a:xfrm>
            <a:off x="5530851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Cube 182"/>
          <p:cNvSpPr/>
          <p:nvPr/>
        </p:nvSpPr>
        <p:spPr>
          <a:xfrm>
            <a:off x="5837239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Cube 183"/>
          <p:cNvSpPr/>
          <p:nvPr/>
        </p:nvSpPr>
        <p:spPr>
          <a:xfrm>
            <a:off x="6143626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Cube 184"/>
          <p:cNvSpPr/>
          <p:nvPr/>
        </p:nvSpPr>
        <p:spPr>
          <a:xfrm>
            <a:off x="6450014" y="5478464"/>
            <a:ext cx="274637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Cube 185"/>
          <p:cNvSpPr/>
          <p:nvPr/>
        </p:nvSpPr>
        <p:spPr>
          <a:xfrm>
            <a:off x="6754814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Cube 186"/>
          <p:cNvSpPr/>
          <p:nvPr/>
        </p:nvSpPr>
        <p:spPr>
          <a:xfrm>
            <a:off x="7061201" y="54784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Cube 187"/>
          <p:cNvSpPr/>
          <p:nvPr/>
        </p:nvSpPr>
        <p:spPr>
          <a:xfrm>
            <a:off x="3695701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Cube 188"/>
          <p:cNvSpPr/>
          <p:nvPr/>
        </p:nvSpPr>
        <p:spPr>
          <a:xfrm>
            <a:off x="4002089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Cube 189"/>
          <p:cNvSpPr/>
          <p:nvPr/>
        </p:nvSpPr>
        <p:spPr>
          <a:xfrm>
            <a:off x="4306889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Cube 190"/>
          <p:cNvSpPr/>
          <p:nvPr/>
        </p:nvSpPr>
        <p:spPr>
          <a:xfrm>
            <a:off x="4613276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Cube 191"/>
          <p:cNvSpPr/>
          <p:nvPr/>
        </p:nvSpPr>
        <p:spPr>
          <a:xfrm>
            <a:off x="4919664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Cube 192"/>
          <p:cNvSpPr/>
          <p:nvPr/>
        </p:nvSpPr>
        <p:spPr>
          <a:xfrm>
            <a:off x="5226050" y="4724400"/>
            <a:ext cx="274638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Cube 193"/>
          <p:cNvSpPr/>
          <p:nvPr/>
        </p:nvSpPr>
        <p:spPr>
          <a:xfrm>
            <a:off x="5530851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Cube 194"/>
          <p:cNvSpPr/>
          <p:nvPr/>
        </p:nvSpPr>
        <p:spPr>
          <a:xfrm>
            <a:off x="5837239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Cube 195"/>
          <p:cNvSpPr/>
          <p:nvPr/>
        </p:nvSpPr>
        <p:spPr>
          <a:xfrm>
            <a:off x="6143626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Cube 196"/>
          <p:cNvSpPr/>
          <p:nvPr/>
        </p:nvSpPr>
        <p:spPr>
          <a:xfrm>
            <a:off x="6450014" y="4724400"/>
            <a:ext cx="274637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Cube 197"/>
          <p:cNvSpPr/>
          <p:nvPr/>
        </p:nvSpPr>
        <p:spPr>
          <a:xfrm>
            <a:off x="6754814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Cube 198"/>
          <p:cNvSpPr/>
          <p:nvPr/>
        </p:nvSpPr>
        <p:spPr>
          <a:xfrm>
            <a:off x="7061201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Cube 199"/>
          <p:cNvSpPr/>
          <p:nvPr/>
        </p:nvSpPr>
        <p:spPr>
          <a:xfrm>
            <a:off x="7367589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Cube 200"/>
          <p:cNvSpPr/>
          <p:nvPr/>
        </p:nvSpPr>
        <p:spPr>
          <a:xfrm>
            <a:off x="7673975" y="4724400"/>
            <a:ext cx="274638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Cube 201"/>
          <p:cNvSpPr/>
          <p:nvPr/>
        </p:nvSpPr>
        <p:spPr>
          <a:xfrm>
            <a:off x="7978776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8831300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79" grpId="1" animBg="1"/>
      <p:bldP spid="180" grpId="0" animBg="1"/>
      <p:bldP spid="180" grpId="1" animBg="1"/>
      <p:bldP spid="181" grpId="0" animBg="1"/>
      <p:bldP spid="181" grpId="1" animBg="1"/>
      <p:bldP spid="182" grpId="0" animBg="1"/>
      <p:bldP spid="182" grpId="1" animBg="1"/>
      <p:bldP spid="183" grpId="0" animBg="1"/>
      <p:bldP spid="183" grpId="1" animBg="1"/>
      <p:bldP spid="184" grpId="0" animBg="1"/>
      <p:bldP spid="184" grpId="1" animBg="1"/>
      <p:bldP spid="185" grpId="0" animBg="1"/>
      <p:bldP spid="185" grpId="1" animBg="1"/>
      <p:bldP spid="186" grpId="0" animBg="1"/>
      <p:bldP spid="186" grpId="1" animBg="1"/>
      <p:bldP spid="187" grpId="0" animBg="1"/>
      <p:bldP spid="188" grpId="0" animBg="1"/>
      <p:bldP spid="188" grpId="1" animBg="1"/>
      <p:bldP spid="189" grpId="0" animBg="1"/>
      <p:bldP spid="189" grpId="1" animBg="1"/>
      <p:bldP spid="190" grpId="0" animBg="1"/>
      <p:bldP spid="190" grpId="1" animBg="1"/>
      <p:bldP spid="191" grpId="0" animBg="1"/>
      <p:bldP spid="191" grpId="1" animBg="1"/>
      <p:bldP spid="192" grpId="0" animBg="1"/>
      <p:bldP spid="192" grpId="1" animBg="1"/>
      <p:bldP spid="193" grpId="0" animBg="1"/>
      <p:bldP spid="193" grpId="1" animBg="1"/>
      <p:bldP spid="194" grpId="0" animBg="1"/>
      <p:bldP spid="194" grpId="1" animBg="1"/>
      <p:bldP spid="195" grpId="0" animBg="1"/>
      <p:bldP spid="195" grpId="1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Sharing Data Between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dirty="0"/>
              <a:t>Terminology: within a block, threads share data via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shared memory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Extremely fast on-chip memory, user-managed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Declare using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__shared__</a:t>
            </a:r>
            <a:r>
              <a:rPr lang="en-GB" dirty="0"/>
              <a:t>, allocated per block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Data is not visible to threads in other blocks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491461657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1143000"/>
          </a:xfrm>
        </p:spPr>
        <p:txBody>
          <a:bodyPr/>
          <a:lstStyle/>
          <a:p>
            <a:r>
              <a:rPr lang="en-GB"/>
              <a:t>Implementing With Shared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566863"/>
            <a:ext cx="8585200" cy="51308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GB" dirty="0"/>
              <a:t>Cache data in shared memory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GB" dirty="0"/>
              <a:t>Read (</a:t>
            </a:r>
            <a:r>
              <a:rPr lang="en-GB" dirty="0" err="1"/>
              <a:t>blockDim.x</a:t>
            </a:r>
            <a:r>
              <a:rPr lang="en-GB" dirty="0"/>
              <a:t> + 2 * radius) input elements from global memory to shared memory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GB" dirty="0"/>
              <a:t>Compute </a:t>
            </a:r>
            <a:r>
              <a:rPr lang="en-GB" dirty="0" err="1"/>
              <a:t>blockDim.x</a:t>
            </a:r>
            <a:r>
              <a:rPr lang="en-GB" dirty="0"/>
              <a:t> output elements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GB" dirty="0"/>
              <a:t>Write </a:t>
            </a:r>
            <a:r>
              <a:rPr lang="en-GB" dirty="0" err="1"/>
              <a:t>blockDim.x</a:t>
            </a:r>
            <a:r>
              <a:rPr lang="en-GB" dirty="0"/>
              <a:t> output elements to global memory</a:t>
            </a:r>
          </a:p>
          <a:p>
            <a:pPr lvl="1">
              <a:buFont typeface="Arial" pitchFamily="34" charset="0"/>
              <a:buChar char="–"/>
              <a:defRPr/>
            </a:pPr>
            <a:endParaRPr lang="en-GB" dirty="0"/>
          </a:p>
          <a:p>
            <a:pPr lvl="1">
              <a:buFont typeface="Arial" pitchFamily="34" charset="0"/>
              <a:buChar char="–"/>
              <a:defRPr/>
            </a:pPr>
            <a:r>
              <a:rPr lang="en-GB" dirty="0"/>
              <a:t>Each block needs a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halo </a:t>
            </a:r>
            <a:r>
              <a:rPr lang="en-GB" dirty="0"/>
              <a:t>of radius elements at each boundary</a:t>
            </a:r>
          </a:p>
        </p:txBody>
      </p:sp>
      <p:grpSp>
        <p:nvGrpSpPr>
          <p:cNvPr id="13316" name="Output"/>
          <p:cNvGrpSpPr>
            <a:grpSpLocks/>
          </p:cNvGrpSpPr>
          <p:nvPr/>
        </p:nvGrpSpPr>
        <p:grpSpPr bwMode="auto">
          <a:xfrm>
            <a:off x="3695700" y="5678489"/>
            <a:ext cx="4865688" cy="274637"/>
            <a:chOff x="2606080" y="4211221"/>
            <a:chExt cx="5838474" cy="315040"/>
          </a:xfrm>
        </p:grpSpPr>
        <p:sp>
          <p:nvSpPr>
            <p:cNvPr id="99" name="Cube 98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Cube 99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Cube 100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Cube 101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Cube 102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" name="Cube 103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Cube 124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Cube 125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Cube 133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Cube 134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Cube 135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Cube 136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Cube 137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Cube 138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Cube 139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Cube 140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17" name="Input"/>
          <p:cNvGrpSpPr>
            <a:grpSpLocks/>
          </p:cNvGrpSpPr>
          <p:nvPr/>
        </p:nvGrpSpPr>
        <p:grpSpPr bwMode="auto">
          <a:xfrm>
            <a:off x="3695700" y="4729164"/>
            <a:ext cx="4865688" cy="274637"/>
            <a:chOff x="2606080" y="4211221"/>
            <a:chExt cx="5838474" cy="315040"/>
          </a:xfrm>
        </p:grpSpPr>
        <p:sp>
          <p:nvSpPr>
            <p:cNvPr id="143" name="Cube 142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Cube 143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Cube 144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Cube 145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Cube 146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Cube 147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Cube 148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Cube 149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Cube 150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Cube 151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Cube 152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Cube 153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Cube 154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Cube 155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Cube 156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Cube 157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9" name="Cube 158"/>
          <p:cNvSpPr/>
          <p:nvPr/>
        </p:nvSpPr>
        <p:spPr>
          <a:xfrm>
            <a:off x="8586789" y="47291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Cube 159"/>
          <p:cNvSpPr/>
          <p:nvPr/>
        </p:nvSpPr>
        <p:spPr>
          <a:xfrm>
            <a:off x="8893176" y="47291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Cube 160"/>
          <p:cNvSpPr/>
          <p:nvPr/>
        </p:nvSpPr>
        <p:spPr>
          <a:xfrm>
            <a:off x="9199564" y="4729164"/>
            <a:ext cx="274637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be 161"/>
          <p:cNvSpPr/>
          <p:nvPr/>
        </p:nvSpPr>
        <p:spPr>
          <a:xfrm>
            <a:off x="2784475" y="4729164"/>
            <a:ext cx="274638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Cube 162"/>
          <p:cNvSpPr/>
          <p:nvPr/>
        </p:nvSpPr>
        <p:spPr>
          <a:xfrm>
            <a:off x="3089276" y="47291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Cube 163"/>
          <p:cNvSpPr/>
          <p:nvPr/>
        </p:nvSpPr>
        <p:spPr>
          <a:xfrm>
            <a:off x="3395664" y="4729164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Down Arrow 164"/>
          <p:cNvSpPr/>
          <p:nvPr/>
        </p:nvSpPr>
        <p:spPr>
          <a:xfrm>
            <a:off x="5908676" y="5278439"/>
            <a:ext cx="449263" cy="250825"/>
          </a:xfrm>
          <a:prstGeom prst="downArrow">
            <a:avLst/>
          </a:prstGeom>
          <a:gradFill rotWithShape="1">
            <a:gsLst>
              <a:gs pos="0">
                <a:schemeClr val="tx1">
                  <a:lumMod val="50000"/>
                  <a:lumOff val="50000"/>
                </a:schemeClr>
              </a:gs>
              <a:gs pos="3500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kern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166" name="Left Brace 165"/>
          <p:cNvSpPr/>
          <p:nvPr/>
        </p:nvSpPr>
        <p:spPr>
          <a:xfrm rot="16200000">
            <a:off x="5978526" y="3795713"/>
            <a:ext cx="300037" cy="4865688"/>
          </a:xfrm>
          <a:prstGeom prst="leftBrace">
            <a:avLst>
              <a:gd name="adj1" fmla="val 5536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en-GB" kern="0">
              <a:latin typeface="Arial"/>
            </a:endParaRPr>
          </a:p>
        </p:txBody>
      </p:sp>
      <p:sp>
        <p:nvSpPr>
          <p:cNvPr id="167" name="Left Brace 166"/>
          <p:cNvSpPr/>
          <p:nvPr/>
        </p:nvSpPr>
        <p:spPr>
          <a:xfrm rot="16200000">
            <a:off x="3152776" y="4810126"/>
            <a:ext cx="150813" cy="887413"/>
          </a:xfrm>
          <a:prstGeom prst="leftBrace">
            <a:avLst>
              <a:gd name="adj1" fmla="val 33417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en-GB" kern="0">
              <a:latin typeface="Arial"/>
            </a:endParaRPr>
          </a:p>
        </p:txBody>
      </p:sp>
      <p:sp>
        <p:nvSpPr>
          <p:cNvPr id="168" name="Left Brace 167"/>
          <p:cNvSpPr/>
          <p:nvPr/>
        </p:nvSpPr>
        <p:spPr>
          <a:xfrm rot="16200000">
            <a:off x="8951913" y="4810126"/>
            <a:ext cx="150813" cy="887412"/>
          </a:xfrm>
          <a:prstGeom prst="leftBrace">
            <a:avLst>
              <a:gd name="adj1" fmla="val 33417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en-GB" kern="0">
              <a:latin typeface="Arial"/>
            </a:endParaRPr>
          </a:p>
        </p:txBody>
      </p:sp>
      <p:sp>
        <p:nvSpPr>
          <p:cNvPr id="13328" name="TextBox 168"/>
          <p:cNvSpPr txBox="1">
            <a:spLocks noChangeArrowheads="1"/>
          </p:cNvSpPr>
          <p:nvPr/>
        </p:nvSpPr>
        <p:spPr bwMode="auto">
          <a:xfrm>
            <a:off x="4772025" y="6378576"/>
            <a:ext cx="2705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1600"/>
              <a:t>blockDim.x output elements</a:t>
            </a:r>
          </a:p>
        </p:txBody>
      </p:sp>
      <p:sp>
        <p:nvSpPr>
          <p:cNvPr id="170" name="TextBox 169"/>
          <p:cNvSpPr txBox="1"/>
          <p:nvPr/>
        </p:nvSpPr>
        <p:spPr bwMode="auto">
          <a:xfrm>
            <a:off x="2633663" y="5303839"/>
            <a:ext cx="11874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GB" sz="1600" kern="0" dirty="0">
                <a:latin typeface="Arial"/>
              </a:rPr>
              <a:t>halo on left</a:t>
            </a:r>
          </a:p>
        </p:txBody>
      </p:sp>
      <p:sp>
        <p:nvSpPr>
          <p:cNvPr id="171" name="TextBox 170"/>
          <p:cNvSpPr txBox="1">
            <a:spLocks noChangeArrowheads="1"/>
          </p:cNvSpPr>
          <p:nvPr/>
        </p:nvSpPr>
        <p:spPr bwMode="auto">
          <a:xfrm>
            <a:off x="8372476" y="5297489"/>
            <a:ext cx="1312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1600"/>
              <a:t>halo on right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5419152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7" grpId="0" animBg="1"/>
      <p:bldP spid="168" grpId="0" animBg="1"/>
      <p:bldP spid="170" grpId="0"/>
      <p:bldP spid="17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ontent Placeholder 2"/>
          <p:cNvSpPr txBox="1">
            <a:spLocks/>
          </p:cNvSpPr>
          <p:nvPr/>
        </p:nvSpPr>
        <p:spPr bwMode="auto">
          <a:xfrm>
            <a:off x="1600200" y="1674814"/>
            <a:ext cx="6546850" cy="472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5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stencil_1d(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*in,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*out) {</a:t>
            </a:r>
          </a:p>
          <a:p>
            <a:pPr marL="0" indent="0">
              <a:buNone/>
              <a:defRPr/>
            </a:pPr>
            <a:r>
              <a:rPr lang="en-GB" sz="15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__shared__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temp[BLOCK_SIZE + 2 * RADIUS];</a:t>
            </a:r>
          </a:p>
          <a:p>
            <a:pPr marL="0" indent="0">
              <a:buNone/>
              <a:defRPr/>
            </a:pPr>
            <a:r>
              <a:rPr lang="en-GB" sz="15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en-GB" sz="15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RADIUS;</a:t>
            </a:r>
          </a:p>
          <a:p>
            <a:pPr marL="0" indent="0">
              <a:buNone/>
              <a:defRPr/>
            </a:pPr>
            <a:endParaRPr lang="en-GB" sz="15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5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Read input elements into shared memory</a:t>
            </a:r>
          </a:p>
          <a:p>
            <a:pPr marL="0" indent="0">
              <a:buNone/>
              <a:defRPr/>
            </a:pPr>
            <a:r>
              <a:rPr lang="en-GB" sz="15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temp[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] = in[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&lt; RADIUS) {</a:t>
            </a:r>
          </a:p>
          <a:p>
            <a:pPr marL="0" indent="0"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- RADIUS] = in[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- RADIUS];</a:t>
            </a:r>
          </a:p>
          <a:p>
            <a:pPr marL="0" indent="0"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BLOCK_SIZE] = </a:t>
            </a:r>
          </a:p>
          <a:p>
            <a:pPr marL="0" indent="0"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    in[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BLOCK_SIZE];</a:t>
            </a:r>
          </a:p>
          <a:p>
            <a:pPr marL="0" indent="0"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grpSp>
        <p:nvGrpSpPr>
          <p:cNvPr id="328" name="Group 327"/>
          <p:cNvGrpSpPr/>
          <p:nvPr/>
        </p:nvGrpSpPr>
        <p:grpSpPr>
          <a:xfrm>
            <a:off x="7764536" y="2028845"/>
            <a:ext cx="2801728" cy="137160"/>
            <a:chOff x="7168058" y="1735951"/>
            <a:chExt cx="3789141" cy="180020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329" name="Cube 328"/>
            <p:cNvSpPr/>
            <p:nvPr/>
          </p:nvSpPr>
          <p:spPr>
            <a:xfrm>
              <a:off x="7168058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0" name="Cube 329"/>
            <p:cNvSpPr/>
            <p:nvPr/>
          </p:nvSpPr>
          <p:spPr>
            <a:xfrm>
              <a:off x="7340705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1" name="Cube 330"/>
            <p:cNvSpPr/>
            <p:nvPr/>
          </p:nvSpPr>
          <p:spPr>
            <a:xfrm>
              <a:off x="7513352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2" name="Cube 331"/>
            <p:cNvSpPr/>
            <p:nvPr/>
          </p:nvSpPr>
          <p:spPr>
            <a:xfrm>
              <a:off x="7685999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Cube 332"/>
            <p:cNvSpPr/>
            <p:nvPr/>
          </p:nvSpPr>
          <p:spPr>
            <a:xfrm>
              <a:off x="7858646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4" name="Cube 333"/>
            <p:cNvSpPr/>
            <p:nvPr/>
          </p:nvSpPr>
          <p:spPr>
            <a:xfrm>
              <a:off x="8031293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5" name="Cube 334"/>
            <p:cNvSpPr/>
            <p:nvPr/>
          </p:nvSpPr>
          <p:spPr>
            <a:xfrm>
              <a:off x="8203940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6" name="Cube 335"/>
            <p:cNvSpPr/>
            <p:nvPr/>
          </p:nvSpPr>
          <p:spPr>
            <a:xfrm>
              <a:off x="8376587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Cube 336"/>
            <p:cNvSpPr/>
            <p:nvPr/>
          </p:nvSpPr>
          <p:spPr>
            <a:xfrm>
              <a:off x="8549234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8" name="Cube 337"/>
            <p:cNvSpPr/>
            <p:nvPr/>
          </p:nvSpPr>
          <p:spPr>
            <a:xfrm>
              <a:off x="8721881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Cube 338"/>
            <p:cNvSpPr/>
            <p:nvPr/>
          </p:nvSpPr>
          <p:spPr>
            <a:xfrm>
              <a:off x="8894528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0" name="Cube 339"/>
            <p:cNvSpPr/>
            <p:nvPr/>
          </p:nvSpPr>
          <p:spPr>
            <a:xfrm>
              <a:off x="9067175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1" name="Cube 340"/>
            <p:cNvSpPr/>
            <p:nvPr/>
          </p:nvSpPr>
          <p:spPr>
            <a:xfrm>
              <a:off x="9239822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2" name="Cube 341"/>
            <p:cNvSpPr/>
            <p:nvPr/>
          </p:nvSpPr>
          <p:spPr>
            <a:xfrm>
              <a:off x="9412469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3" name="Cube 342"/>
            <p:cNvSpPr/>
            <p:nvPr/>
          </p:nvSpPr>
          <p:spPr>
            <a:xfrm>
              <a:off x="9585116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4" name="Cube 343"/>
            <p:cNvSpPr/>
            <p:nvPr/>
          </p:nvSpPr>
          <p:spPr>
            <a:xfrm>
              <a:off x="9757763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5" name="Cube 344"/>
            <p:cNvSpPr/>
            <p:nvPr/>
          </p:nvSpPr>
          <p:spPr>
            <a:xfrm>
              <a:off x="9930410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6" name="Cube 345"/>
            <p:cNvSpPr/>
            <p:nvPr/>
          </p:nvSpPr>
          <p:spPr>
            <a:xfrm>
              <a:off x="10103057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7" name="Cube 346"/>
            <p:cNvSpPr/>
            <p:nvPr/>
          </p:nvSpPr>
          <p:spPr>
            <a:xfrm>
              <a:off x="10275704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8" name="Cube 347"/>
            <p:cNvSpPr/>
            <p:nvPr/>
          </p:nvSpPr>
          <p:spPr>
            <a:xfrm>
              <a:off x="10448351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9" name="Cube 348"/>
            <p:cNvSpPr/>
            <p:nvPr/>
          </p:nvSpPr>
          <p:spPr>
            <a:xfrm>
              <a:off x="10620998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0" name="Cube 349"/>
            <p:cNvSpPr/>
            <p:nvPr/>
          </p:nvSpPr>
          <p:spPr>
            <a:xfrm>
              <a:off x="10793651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1" name="Group 350"/>
          <p:cNvGrpSpPr>
            <a:grpSpLocks/>
          </p:cNvGrpSpPr>
          <p:nvPr/>
        </p:nvGrpSpPr>
        <p:grpSpPr bwMode="auto">
          <a:xfrm>
            <a:off x="7764464" y="3444876"/>
            <a:ext cx="2801937" cy="136525"/>
            <a:chOff x="7168058" y="1735951"/>
            <a:chExt cx="3789141" cy="180020"/>
          </a:xfrm>
        </p:grpSpPr>
        <p:sp>
          <p:nvSpPr>
            <p:cNvPr id="352" name="Cube 351"/>
            <p:cNvSpPr/>
            <p:nvPr/>
          </p:nvSpPr>
          <p:spPr>
            <a:xfrm>
              <a:off x="7168058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3" name="Cube 352"/>
            <p:cNvSpPr/>
            <p:nvPr/>
          </p:nvSpPr>
          <p:spPr>
            <a:xfrm>
              <a:off x="7339804" y="1735951"/>
              <a:ext cx="16530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4" name="Cube 353"/>
            <p:cNvSpPr/>
            <p:nvPr/>
          </p:nvSpPr>
          <p:spPr>
            <a:xfrm>
              <a:off x="7513696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5" name="Cube 354"/>
            <p:cNvSpPr/>
            <p:nvPr/>
          </p:nvSpPr>
          <p:spPr>
            <a:xfrm>
              <a:off x="7685442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6" name="Cube 355"/>
            <p:cNvSpPr/>
            <p:nvPr/>
          </p:nvSpPr>
          <p:spPr>
            <a:xfrm>
              <a:off x="785933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Cube 356"/>
            <p:cNvSpPr/>
            <p:nvPr/>
          </p:nvSpPr>
          <p:spPr>
            <a:xfrm>
              <a:off x="803108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8" name="Cube 357"/>
            <p:cNvSpPr/>
            <p:nvPr/>
          </p:nvSpPr>
          <p:spPr>
            <a:xfrm>
              <a:off x="820497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9" name="Cube 358"/>
            <p:cNvSpPr/>
            <p:nvPr/>
          </p:nvSpPr>
          <p:spPr>
            <a:xfrm>
              <a:off x="83767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0" name="Cube 359"/>
            <p:cNvSpPr/>
            <p:nvPr/>
          </p:nvSpPr>
          <p:spPr>
            <a:xfrm>
              <a:off x="8548464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1" name="Cube 360"/>
            <p:cNvSpPr/>
            <p:nvPr/>
          </p:nvSpPr>
          <p:spPr>
            <a:xfrm>
              <a:off x="87223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2" name="Cube 361"/>
            <p:cNvSpPr/>
            <p:nvPr/>
          </p:nvSpPr>
          <p:spPr>
            <a:xfrm>
              <a:off x="88941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3" name="Cube 362"/>
            <p:cNvSpPr/>
            <p:nvPr/>
          </p:nvSpPr>
          <p:spPr>
            <a:xfrm>
              <a:off x="906799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4" name="Cube 363"/>
            <p:cNvSpPr/>
            <p:nvPr/>
          </p:nvSpPr>
          <p:spPr>
            <a:xfrm>
              <a:off x="923974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5" name="Cube 364"/>
            <p:cNvSpPr/>
            <p:nvPr/>
          </p:nvSpPr>
          <p:spPr>
            <a:xfrm>
              <a:off x="9411487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6" name="Cube 365"/>
            <p:cNvSpPr/>
            <p:nvPr/>
          </p:nvSpPr>
          <p:spPr>
            <a:xfrm>
              <a:off x="958538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7" name="Cube 366"/>
            <p:cNvSpPr/>
            <p:nvPr/>
          </p:nvSpPr>
          <p:spPr>
            <a:xfrm>
              <a:off x="975712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8" name="Cube 367"/>
            <p:cNvSpPr/>
            <p:nvPr/>
          </p:nvSpPr>
          <p:spPr>
            <a:xfrm>
              <a:off x="99310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9" name="Cube 368"/>
            <p:cNvSpPr/>
            <p:nvPr/>
          </p:nvSpPr>
          <p:spPr>
            <a:xfrm>
              <a:off x="10102764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0" name="Cube 369"/>
            <p:cNvSpPr/>
            <p:nvPr/>
          </p:nvSpPr>
          <p:spPr>
            <a:xfrm>
              <a:off x="102766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1" name="Cube 370"/>
            <p:cNvSpPr/>
            <p:nvPr/>
          </p:nvSpPr>
          <p:spPr>
            <a:xfrm>
              <a:off x="10448403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2" name="Cube 371"/>
            <p:cNvSpPr/>
            <p:nvPr/>
          </p:nvSpPr>
          <p:spPr>
            <a:xfrm>
              <a:off x="10620149" y="1735951"/>
              <a:ext cx="16530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3" name="Cube 372"/>
            <p:cNvSpPr/>
            <p:nvPr/>
          </p:nvSpPr>
          <p:spPr>
            <a:xfrm>
              <a:off x="10794040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4" name="Group 373"/>
          <p:cNvGrpSpPr>
            <a:grpSpLocks/>
          </p:cNvGrpSpPr>
          <p:nvPr/>
        </p:nvGrpSpPr>
        <p:grpSpPr bwMode="auto">
          <a:xfrm>
            <a:off x="7764464" y="3962401"/>
            <a:ext cx="2801937" cy="136525"/>
            <a:chOff x="7168058" y="1735951"/>
            <a:chExt cx="3789141" cy="180020"/>
          </a:xfrm>
        </p:grpSpPr>
        <p:sp>
          <p:nvSpPr>
            <p:cNvPr id="375" name="Cube 374"/>
            <p:cNvSpPr/>
            <p:nvPr/>
          </p:nvSpPr>
          <p:spPr>
            <a:xfrm>
              <a:off x="716805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6" name="Cube 375"/>
            <p:cNvSpPr/>
            <p:nvPr/>
          </p:nvSpPr>
          <p:spPr>
            <a:xfrm>
              <a:off x="7339804" y="1735951"/>
              <a:ext cx="165305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7" name="Cube 376"/>
            <p:cNvSpPr/>
            <p:nvPr/>
          </p:nvSpPr>
          <p:spPr>
            <a:xfrm>
              <a:off x="751369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8" name="Cube 377"/>
            <p:cNvSpPr/>
            <p:nvPr/>
          </p:nvSpPr>
          <p:spPr>
            <a:xfrm>
              <a:off x="7685442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9" name="Cube 378"/>
            <p:cNvSpPr/>
            <p:nvPr/>
          </p:nvSpPr>
          <p:spPr>
            <a:xfrm>
              <a:off x="785933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0" name="Cube 379"/>
            <p:cNvSpPr/>
            <p:nvPr/>
          </p:nvSpPr>
          <p:spPr>
            <a:xfrm>
              <a:off x="803108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1" name="Cube 380"/>
            <p:cNvSpPr/>
            <p:nvPr/>
          </p:nvSpPr>
          <p:spPr>
            <a:xfrm>
              <a:off x="820497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2" name="Cube 381"/>
            <p:cNvSpPr/>
            <p:nvPr/>
          </p:nvSpPr>
          <p:spPr>
            <a:xfrm>
              <a:off x="83767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3" name="Cube 382"/>
            <p:cNvSpPr/>
            <p:nvPr/>
          </p:nvSpPr>
          <p:spPr>
            <a:xfrm>
              <a:off x="8548464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4" name="Cube 383"/>
            <p:cNvSpPr/>
            <p:nvPr/>
          </p:nvSpPr>
          <p:spPr>
            <a:xfrm>
              <a:off x="87223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5" name="Cube 384"/>
            <p:cNvSpPr/>
            <p:nvPr/>
          </p:nvSpPr>
          <p:spPr>
            <a:xfrm>
              <a:off x="88941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6" name="Cube 385"/>
            <p:cNvSpPr/>
            <p:nvPr/>
          </p:nvSpPr>
          <p:spPr>
            <a:xfrm>
              <a:off x="906799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Cube 386"/>
            <p:cNvSpPr/>
            <p:nvPr/>
          </p:nvSpPr>
          <p:spPr>
            <a:xfrm>
              <a:off x="923974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8" name="Cube 387"/>
            <p:cNvSpPr/>
            <p:nvPr/>
          </p:nvSpPr>
          <p:spPr>
            <a:xfrm>
              <a:off x="9411487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9" name="Cube 388"/>
            <p:cNvSpPr/>
            <p:nvPr/>
          </p:nvSpPr>
          <p:spPr>
            <a:xfrm>
              <a:off x="958538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0" name="Cube 389"/>
            <p:cNvSpPr/>
            <p:nvPr/>
          </p:nvSpPr>
          <p:spPr>
            <a:xfrm>
              <a:off x="975712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1" name="Cube 390"/>
            <p:cNvSpPr/>
            <p:nvPr/>
          </p:nvSpPr>
          <p:spPr>
            <a:xfrm>
              <a:off x="99310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2" name="Cube 391"/>
            <p:cNvSpPr/>
            <p:nvPr/>
          </p:nvSpPr>
          <p:spPr>
            <a:xfrm>
              <a:off x="10102764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3" name="Cube 392"/>
            <p:cNvSpPr/>
            <p:nvPr/>
          </p:nvSpPr>
          <p:spPr>
            <a:xfrm>
              <a:off x="102766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4" name="Cube 393"/>
            <p:cNvSpPr/>
            <p:nvPr/>
          </p:nvSpPr>
          <p:spPr>
            <a:xfrm>
              <a:off x="10448403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5" name="Cube 394"/>
            <p:cNvSpPr/>
            <p:nvPr/>
          </p:nvSpPr>
          <p:spPr>
            <a:xfrm>
              <a:off x="10620149" y="1735951"/>
              <a:ext cx="16530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6" name="Cube 395"/>
            <p:cNvSpPr/>
            <p:nvPr/>
          </p:nvSpPr>
          <p:spPr>
            <a:xfrm>
              <a:off x="10794040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7" name="Group 396"/>
          <p:cNvGrpSpPr>
            <a:grpSpLocks/>
          </p:cNvGrpSpPr>
          <p:nvPr/>
        </p:nvGrpSpPr>
        <p:grpSpPr bwMode="auto">
          <a:xfrm>
            <a:off x="7764464" y="4267201"/>
            <a:ext cx="2801937" cy="136525"/>
            <a:chOff x="7168058" y="1735951"/>
            <a:chExt cx="3789141" cy="180020"/>
          </a:xfrm>
        </p:grpSpPr>
        <p:sp>
          <p:nvSpPr>
            <p:cNvPr id="398" name="Cube 397"/>
            <p:cNvSpPr/>
            <p:nvPr/>
          </p:nvSpPr>
          <p:spPr>
            <a:xfrm>
              <a:off x="716805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9" name="Cube 398"/>
            <p:cNvSpPr/>
            <p:nvPr/>
          </p:nvSpPr>
          <p:spPr>
            <a:xfrm>
              <a:off x="7339804" y="1735951"/>
              <a:ext cx="165305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0" name="Cube 399"/>
            <p:cNvSpPr/>
            <p:nvPr/>
          </p:nvSpPr>
          <p:spPr>
            <a:xfrm>
              <a:off x="751369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1" name="Cube 400"/>
            <p:cNvSpPr/>
            <p:nvPr/>
          </p:nvSpPr>
          <p:spPr>
            <a:xfrm>
              <a:off x="7685442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2" name="Cube 401"/>
            <p:cNvSpPr/>
            <p:nvPr/>
          </p:nvSpPr>
          <p:spPr>
            <a:xfrm>
              <a:off x="785933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3" name="Cube 402"/>
            <p:cNvSpPr/>
            <p:nvPr/>
          </p:nvSpPr>
          <p:spPr>
            <a:xfrm>
              <a:off x="803108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4" name="Cube 403"/>
            <p:cNvSpPr/>
            <p:nvPr/>
          </p:nvSpPr>
          <p:spPr>
            <a:xfrm>
              <a:off x="820497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5" name="Cube 404"/>
            <p:cNvSpPr/>
            <p:nvPr/>
          </p:nvSpPr>
          <p:spPr>
            <a:xfrm>
              <a:off x="83767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6" name="Cube 405"/>
            <p:cNvSpPr/>
            <p:nvPr/>
          </p:nvSpPr>
          <p:spPr>
            <a:xfrm>
              <a:off x="8548464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7" name="Cube 406"/>
            <p:cNvSpPr/>
            <p:nvPr/>
          </p:nvSpPr>
          <p:spPr>
            <a:xfrm>
              <a:off x="87223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8" name="Cube 407"/>
            <p:cNvSpPr/>
            <p:nvPr/>
          </p:nvSpPr>
          <p:spPr>
            <a:xfrm>
              <a:off x="88941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9" name="Cube 408"/>
            <p:cNvSpPr/>
            <p:nvPr/>
          </p:nvSpPr>
          <p:spPr>
            <a:xfrm>
              <a:off x="906799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0" name="Cube 409"/>
            <p:cNvSpPr/>
            <p:nvPr/>
          </p:nvSpPr>
          <p:spPr>
            <a:xfrm>
              <a:off x="923974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1" name="Cube 410"/>
            <p:cNvSpPr/>
            <p:nvPr/>
          </p:nvSpPr>
          <p:spPr>
            <a:xfrm>
              <a:off x="9411487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" name="Cube 411"/>
            <p:cNvSpPr/>
            <p:nvPr/>
          </p:nvSpPr>
          <p:spPr>
            <a:xfrm>
              <a:off x="958538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3" name="Cube 412"/>
            <p:cNvSpPr/>
            <p:nvPr/>
          </p:nvSpPr>
          <p:spPr>
            <a:xfrm>
              <a:off x="975712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4" name="Cube 413"/>
            <p:cNvSpPr/>
            <p:nvPr/>
          </p:nvSpPr>
          <p:spPr>
            <a:xfrm>
              <a:off x="99310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5" name="Cube 414"/>
            <p:cNvSpPr/>
            <p:nvPr/>
          </p:nvSpPr>
          <p:spPr>
            <a:xfrm>
              <a:off x="10102764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6" name="Cube 415"/>
            <p:cNvSpPr/>
            <p:nvPr/>
          </p:nvSpPr>
          <p:spPr>
            <a:xfrm>
              <a:off x="102766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Cube 416"/>
            <p:cNvSpPr/>
            <p:nvPr/>
          </p:nvSpPr>
          <p:spPr>
            <a:xfrm>
              <a:off x="104484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8" name="Cube 417"/>
            <p:cNvSpPr/>
            <p:nvPr/>
          </p:nvSpPr>
          <p:spPr>
            <a:xfrm>
              <a:off x="10620149" y="1735951"/>
              <a:ext cx="165305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9" name="Cube 418"/>
            <p:cNvSpPr/>
            <p:nvPr/>
          </p:nvSpPr>
          <p:spPr>
            <a:xfrm>
              <a:off x="1079404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  <p:sp>
        <p:nvSpPr>
          <p:cNvPr id="14344" name="Title 3"/>
          <p:cNvSpPr txBox="1">
            <a:spLocks/>
          </p:cNvSpPr>
          <p:nvPr/>
        </p:nvSpPr>
        <p:spPr bwMode="auto">
          <a:xfrm>
            <a:off x="1981200" y="457200"/>
            <a:ext cx="8229600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4400">
                <a:latin typeface="Calibri" pitchFamily="34" charset="0"/>
              </a:rPr>
              <a:t>Stencil Kernel</a:t>
            </a:r>
            <a:endParaRPr lang="en-US" sz="44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229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600200" y="1600200"/>
            <a:ext cx="8369300" cy="47244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500" i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i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Apply the stencil</a:t>
            </a:r>
          </a:p>
          <a:p>
            <a:pPr marL="0" indent="0">
              <a:buNone/>
              <a:defRPr/>
            </a:pPr>
            <a:r>
              <a:rPr lang="en-GB" sz="15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result = 0;</a:t>
            </a:r>
          </a:p>
          <a:p>
            <a:pPr marL="0" indent="0">
              <a:buNone/>
              <a:defRPr/>
            </a:pPr>
            <a:r>
              <a:rPr lang="en-GB" sz="15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500" dirty="0" err="1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offset = -RADIUS ; offset &lt;= RADIUS ; offset++)</a:t>
            </a:r>
          </a:p>
          <a:p>
            <a:pPr marL="0" indent="0">
              <a:buNone/>
              <a:defRPr/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  result += temp[</a:t>
            </a:r>
            <a:r>
              <a:rPr lang="en-GB" sz="150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 + offset];</a:t>
            </a:r>
          </a:p>
          <a:p>
            <a:pPr marL="0" indent="0">
              <a:buNone/>
              <a:defRPr/>
            </a:pPr>
            <a:endParaRPr lang="en-GB" sz="15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500" i="1" dirty="0">
                <a:latin typeface="Courier New" pitchFamily="49" charset="0"/>
                <a:cs typeface="Courier New" pitchFamily="49" charset="0"/>
              </a:rPr>
              <a:t>  // Store the result</a:t>
            </a:r>
          </a:p>
          <a:p>
            <a:pPr marL="0" indent="0">
              <a:buNone/>
              <a:defRPr/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out[</a:t>
            </a:r>
            <a:r>
              <a:rPr lang="en-GB" sz="150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] = result;</a:t>
            </a:r>
          </a:p>
          <a:p>
            <a:pPr marL="0" indent="0">
              <a:buNone/>
              <a:defRPr/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36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Stencil Kernel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838257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 Race!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  <p:sp>
        <p:nvSpPr>
          <p:cNvPr id="128" name="Content Placeholder 2"/>
          <p:cNvSpPr txBox="1">
            <a:spLocks/>
          </p:cNvSpPr>
          <p:nvPr/>
        </p:nvSpPr>
        <p:spPr bwMode="auto">
          <a:xfrm>
            <a:off x="1600200" y="1600200"/>
            <a:ext cx="87503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kern="0" dirty="0"/>
              <a:t>The stencil example will not work…</a:t>
            </a:r>
          </a:p>
          <a:p>
            <a:pPr lvl="1">
              <a:defRPr/>
            </a:pPr>
            <a:endParaRPr lang="en-GB" sz="2400" kern="0" dirty="0"/>
          </a:p>
          <a:p>
            <a:pPr>
              <a:defRPr/>
            </a:pPr>
            <a:r>
              <a:rPr lang="en-GB" kern="0" dirty="0"/>
              <a:t>Suppose thread 15 reads the halo before thread 0 has fetched it…</a:t>
            </a:r>
          </a:p>
          <a:p>
            <a:pPr marL="0" indent="0">
              <a:buNone/>
              <a:defRPr/>
            </a:pPr>
            <a:endParaRPr lang="en-GB" sz="1400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endParaRPr lang="en-GB" sz="1400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400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] = in[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&lt; RADIUS) {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– RADIUS = in[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– RADIUS];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+ BLOCK_SIZE] = in[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+ BLOCK_SIZE];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result = 0;</a:t>
            </a:r>
          </a:p>
          <a:p>
            <a:pPr marL="0" indent="0"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result += 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+ 1];</a:t>
            </a:r>
          </a:p>
          <a:p>
            <a:pPr marL="0" indent="0">
              <a:buNone/>
              <a:defRPr/>
            </a:pPr>
            <a:endParaRPr lang="en-GB" kern="0" dirty="0">
              <a:latin typeface="Arial"/>
            </a:endParaRPr>
          </a:p>
        </p:txBody>
      </p:sp>
      <p:grpSp>
        <p:nvGrpSpPr>
          <p:cNvPr id="129" name="Group 128"/>
          <p:cNvGrpSpPr>
            <a:grpSpLocks/>
          </p:cNvGrpSpPr>
          <p:nvPr/>
        </p:nvGrpSpPr>
        <p:grpSpPr bwMode="auto">
          <a:xfrm>
            <a:off x="7551739" y="5260976"/>
            <a:ext cx="2936875" cy="136525"/>
            <a:chOff x="7061575" y="4485901"/>
            <a:chExt cx="3789141" cy="180020"/>
          </a:xfrm>
        </p:grpSpPr>
        <p:sp>
          <p:nvSpPr>
            <p:cNvPr id="130" name="Cube 129"/>
            <p:cNvSpPr/>
            <p:nvPr/>
          </p:nvSpPr>
          <p:spPr>
            <a:xfrm>
              <a:off x="706157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" name="Cube 130"/>
            <p:cNvSpPr/>
            <p:nvPr/>
          </p:nvSpPr>
          <p:spPr>
            <a:xfrm>
              <a:off x="7233622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Cube 131"/>
            <p:cNvSpPr/>
            <p:nvPr/>
          </p:nvSpPr>
          <p:spPr>
            <a:xfrm>
              <a:off x="7407718" y="4485901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Cube 132"/>
            <p:cNvSpPr/>
            <p:nvPr/>
          </p:nvSpPr>
          <p:spPr>
            <a:xfrm>
              <a:off x="757976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Cube 133"/>
            <p:cNvSpPr/>
            <p:nvPr/>
          </p:nvSpPr>
          <p:spPr>
            <a:xfrm>
              <a:off x="7751812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Cube 134"/>
            <p:cNvSpPr/>
            <p:nvPr/>
          </p:nvSpPr>
          <p:spPr>
            <a:xfrm>
              <a:off x="7923860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Cube 135"/>
            <p:cNvSpPr/>
            <p:nvPr/>
          </p:nvSpPr>
          <p:spPr>
            <a:xfrm>
              <a:off x="8097956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Cube 136"/>
            <p:cNvSpPr/>
            <p:nvPr/>
          </p:nvSpPr>
          <p:spPr>
            <a:xfrm>
              <a:off x="8270004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Cube 137"/>
            <p:cNvSpPr/>
            <p:nvPr/>
          </p:nvSpPr>
          <p:spPr>
            <a:xfrm>
              <a:off x="8442051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Cube 138"/>
            <p:cNvSpPr/>
            <p:nvPr/>
          </p:nvSpPr>
          <p:spPr>
            <a:xfrm>
              <a:off x="8616146" y="4485901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Cube 139"/>
            <p:cNvSpPr/>
            <p:nvPr/>
          </p:nvSpPr>
          <p:spPr>
            <a:xfrm>
              <a:off x="8788194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Cube 140"/>
            <p:cNvSpPr/>
            <p:nvPr/>
          </p:nvSpPr>
          <p:spPr>
            <a:xfrm>
              <a:off x="8960241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Cube 141"/>
            <p:cNvSpPr/>
            <p:nvPr/>
          </p:nvSpPr>
          <p:spPr>
            <a:xfrm>
              <a:off x="9134338" y="4485901"/>
              <a:ext cx="161806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" name="Cube 142"/>
            <p:cNvSpPr/>
            <p:nvPr/>
          </p:nvSpPr>
          <p:spPr>
            <a:xfrm>
              <a:off x="930638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Cube 143"/>
            <p:cNvSpPr/>
            <p:nvPr/>
          </p:nvSpPr>
          <p:spPr>
            <a:xfrm>
              <a:off x="9478433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Cube 144"/>
            <p:cNvSpPr/>
            <p:nvPr/>
          </p:nvSpPr>
          <p:spPr>
            <a:xfrm>
              <a:off x="9650480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Cube 145"/>
            <p:cNvSpPr/>
            <p:nvPr/>
          </p:nvSpPr>
          <p:spPr>
            <a:xfrm>
              <a:off x="982457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Cube 146"/>
            <p:cNvSpPr/>
            <p:nvPr/>
          </p:nvSpPr>
          <p:spPr>
            <a:xfrm>
              <a:off x="9996622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Cube 147"/>
            <p:cNvSpPr/>
            <p:nvPr/>
          </p:nvSpPr>
          <p:spPr>
            <a:xfrm>
              <a:off x="10168670" y="4485901"/>
              <a:ext cx="163855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Cube 148"/>
            <p:cNvSpPr/>
            <p:nvPr/>
          </p:nvSpPr>
          <p:spPr>
            <a:xfrm>
              <a:off x="10342766" y="4485901"/>
              <a:ext cx="161806" cy="180020"/>
            </a:xfrm>
            <a:prstGeom prst="cube">
              <a:avLst/>
            </a:prstGeom>
            <a:gradFill rotWithShape="1">
              <a:gsLst>
                <a:gs pos="0">
                  <a:srgbClr val="33CCCC">
                    <a:shade val="51000"/>
                    <a:satMod val="130000"/>
                  </a:srgbClr>
                </a:gs>
                <a:gs pos="80000">
                  <a:srgbClr val="33CCCC">
                    <a:shade val="93000"/>
                    <a:satMod val="130000"/>
                  </a:srgbClr>
                </a:gs>
                <a:gs pos="100000">
                  <a:srgbClr val="33CCCC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3CCCC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Cube 149"/>
            <p:cNvSpPr/>
            <p:nvPr/>
          </p:nvSpPr>
          <p:spPr>
            <a:xfrm>
              <a:off x="10514814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Cube 150"/>
            <p:cNvSpPr/>
            <p:nvPr/>
          </p:nvSpPr>
          <p:spPr>
            <a:xfrm>
              <a:off x="10686861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" name="TextBox 151"/>
          <p:cNvSpPr txBox="1"/>
          <p:nvPr/>
        </p:nvSpPr>
        <p:spPr bwMode="auto">
          <a:xfrm>
            <a:off x="5535614" y="3409951"/>
            <a:ext cx="20097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GB" sz="14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Store at temp[18]</a:t>
            </a:r>
          </a:p>
        </p:txBody>
      </p:sp>
      <p:sp>
        <p:nvSpPr>
          <p:cNvPr id="153" name="TextBox 152"/>
          <p:cNvSpPr txBox="1"/>
          <p:nvPr/>
        </p:nvSpPr>
        <p:spPr bwMode="auto">
          <a:xfrm>
            <a:off x="5507039" y="5187951"/>
            <a:ext cx="21177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GB" sz="14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Load from temp[19]</a:t>
            </a:r>
          </a:p>
        </p:txBody>
      </p:sp>
      <p:sp>
        <p:nvSpPr>
          <p:cNvPr id="154" name="TextBox 153"/>
          <p:cNvSpPr txBox="1">
            <a:spLocks noChangeArrowheads="1"/>
          </p:cNvSpPr>
          <p:nvPr/>
        </p:nvSpPr>
        <p:spPr bwMode="auto">
          <a:xfrm>
            <a:off x="7086601" y="3910014"/>
            <a:ext cx="3084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sz="1400" b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Skipped, threadIdx &gt; RADIUS</a:t>
            </a:r>
          </a:p>
        </p:txBody>
      </p:sp>
      <p:grpSp>
        <p:nvGrpSpPr>
          <p:cNvPr id="155" name="Group 154"/>
          <p:cNvGrpSpPr>
            <a:grpSpLocks/>
          </p:cNvGrpSpPr>
          <p:nvPr/>
        </p:nvGrpSpPr>
        <p:grpSpPr bwMode="auto">
          <a:xfrm>
            <a:off x="7502526" y="3492501"/>
            <a:ext cx="2936875" cy="138113"/>
            <a:chOff x="7054973" y="3230407"/>
            <a:chExt cx="3789141" cy="180020"/>
          </a:xfrm>
        </p:grpSpPr>
        <p:sp>
          <p:nvSpPr>
            <p:cNvPr id="156" name="Cube 155"/>
            <p:cNvSpPr/>
            <p:nvPr/>
          </p:nvSpPr>
          <p:spPr>
            <a:xfrm>
              <a:off x="7054973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Cube 156"/>
            <p:cNvSpPr/>
            <p:nvPr/>
          </p:nvSpPr>
          <p:spPr>
            <a:xfrm>
              <a:off x="7227020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Cube 157"/>
            <p:cNvSpPr/>
            <p:nvPr/>
          </p:nvSpPr>
          <p:spPr>
            <a:xfrm>
              <a:off x="7401117" y="3230407"/>
              <a:ext cx="161806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Cube 158"/>
            <p:cNvSpPr/>
            <p:nvPr/>
          </p:nvSpPr>
          <p:spPr>
            <a:xfrm>
              <a:off x="7573164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Cube 159"/>
            <p:cNvSpPr/>
            <p:nvPr/>
          </p:nvSpPr>
          <p:spPr>
            <a:xfrm>
              <a:off x="774521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Cube 160"/>
            <p:cNvSpPr/>
            <p:nvPr/>
          </p:nvSpPr>
          <p:spPr>
            <a:xfrm>
              <a:off x="7917259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Cube 161"/>
            <p:cNvSpPr/>
            <p:nvPr/>
          </p:nvSpPr>
          <p:spPr>
            <a:xfrm>
              <a:off x="8091354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" name="Cube 162"/>
            <p:cNvSpPr/>
            <p:nvPr/>
          </p:nvSpPr>
          <p:spPr>
            <a:xfrm>
              <a:off x="826340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" name="Cube 163"/>
            <p:cNvSpPr/>
            <p:nvPr/>
          </p:nvSpPr>
          <p:spPr>
            <a:xfrm>
              <a:off x="8435449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Cube 164"/>
            <p:cNvSpPr/>
            <p:nvPr/>
          </p:nvSpPr>
          <p:spPr>
            <a:xfrm>
              <a:off x="8609546" y="3230407"/>
              <a:ext cx="161806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Cube 165"/>
            <p:cNvSpPr/>
            <p:nvPr/>
          </p:nvSpPr>
          <p:spPr>
            <a:xfrm>
              <a:off x="8781593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Cube 166"/>
            <p:cNvSpPr/>
            <p:nvPr/>
          </p:nvSpPr>
          <p:spPr>
            <a:xfrm>
              <a:off x="8953641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Cube 167"/>
            <p:cNvSpPr/>
            <p:nvPr/>
          </p:nvSpPr>
          <p:spPr>
            <a:xfrm>
              <a:off x="9127736" y="3230407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Cube 168"/>
            <p:cNvSpPr/>
            <p:nvPr/>
          </p:nvSpPr>
          <p:spPr>
            <a:xfrm>
              <a:off x="9299783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Cube 169"/>
            <p:cNvSpPr/>
            <p:nvPr/>
          </p:nvSpPr>
          <p:spPr>
            <a:xfrm>
              <a:off x="9471831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Cube 170"/>
            <p:cNvSpPr/>
            <p:nvPr/>
          </p:nvSpPr>
          <p:spPr>
            <a:xfrm>
              <a:off x="9643878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Cube 171"/>
            <p:cNvSpPr/>
            <p:nvPr/>
          </p:nvSpPr>
          <p:spPr>
            <a:xfrm>
              <a:off x="9817974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Cube 172"/>
            <p:cNvSpPr/>
            <p:nvPr/>
          </p:nvSpPr>
          <p:spPr>
            <a:xfrm>
              <a:off x="999002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Cube 173"/>
            <p:cNvSpPr/>
            <p:nvPr/>
          </p:nvSpPr>
          <p:spPr>
            <a:xfrm>
              <a:off x="10162069" y="3230407"/>
              <a:ext cx="163855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Cube 174"/>
            <p:cNvSpPr/>
            <p:nvPr/>
          </p:nvSpPr>
          <p:spPr>
            <a:xfrm>
              <a:off x="10336164" y="3230407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Cube 175"/>
            <p:cNvSpPr/>
            <p:nvPr/>
          </p:nvSpPr>
          <p:spPr>
            <a:xfrm>
              <a:off x="1050821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Cube 176"/>
            <p:cNvSpPr/>
            <p:nvPr/>
          </p:nvSpPr>
          <p:spPr>
            <a:xfrm>
              <a:off x="10680259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kern="0">
                <a:solidFill>
                  <a:srgbClr val="FFFFFF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6447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__syncthreads()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dirty="0">
                <a:solidFill>
                  <a:srgbClr val="D6840C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GB" dirty="0" err="1">
                <a:solidFill>
                  <a:srgbClr val="D6840C"/>
                </a:solidFill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dirty="0">
                <a:solidFill>
                  <a:srgbClr val="D6840C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Synchronizes all threads within a block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GB" dirty="0"/>
              <a:t>Used to prevent RAW / WAR / WAW hazards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All threads must reach the barrier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GB" dirty="0"/>
              <a:t>In conditional code, the condition must be uniform across the block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253067070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Stencil Kernel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752601" y="1393466"/>
            <a:ext cx="8582025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stencil_1d(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*in,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*out) {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__shared__</a:t>
            </a:r>
            <a:r>
              <a:rPr lang="en-GB" sz="18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temp[BLOCK_SIZE + 2 * RADIUS];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radius;</a:t>
            </a:r>
          </a:p>
          <a:p>
            <a:pPr marL="0" indent="0">
              <a:buNone/>
              <a:defRPr/>
            </a:pPr>
            <a:endParaRPr lang="en-GB" sz="18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8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Read input elements into shared memory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] = in[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&lt; RADIUS) {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    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– RADIUS] = in[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– RADIUS];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    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BLOCK_SIZE] = in[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BLOCK_SIZE];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  <a:defRPr/>
            </a:pPr>
            <a:endParaRPr lang="en-GB" sz="18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8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Synchronize (ensure all the data is available)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GB" sz="1800" b="1" kern="0" dirty="0" err="1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460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Stencil Kernel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752600" y="1600200"/>
            <a:ext cx="85979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   // Apply the stencil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result = 0;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offset = -RADIUS ; offset &lt;= RADIUS ; offset++)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    result += 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offset];</a:t>
            </a:r>
          </a:p>
          <a:p>
            <a:pPr marL="0" indent="0">
              <a:buNone/>
              <a:defRPr/>
            </a:pPr>
            <a:endParaRPr lang="en-GB" sz="1800" b="1" kern="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8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Store the result</a:t>
            </a:r>
          </a:p>
          <a:p>
            <a:pPr marL="0" indent="0"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out[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] = result;</a:t>
            </a:r>
          </a:p>
          <a:p>
            <a:pPr marL="0" indent="0"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387517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5510" y="1600215"/>
            <a:ext cx="8820980" cy="4525963"/>
          </a:xfrm>
        </p:spPr>
        <p:txBody>
          <a:bodyPr>
            <a:normAutofit/>
          </a:bodyPr>
          <a:lstStyle/>
          <a:p>
            <a:r>
              <a:rPr lang="en-GB" dirty="0"/>
              <a:t>Launching parallel threads</a:t>
            </a:r>
          </a:p>
          <a:p>
            <a:pPr lvl="1"/>
            <a:r>
              <a:rPr lang="en-GB" dirty="0"/>
              <a:t>Launch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blocks with 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GB" dirty="0"/>
              <a:t> threads per block 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kernel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N,M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&gt;&gt;&gt;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4"/>
                </a:solidFill>
              </a:rPr>
              <a:t> </a:t>
            </a:r>
            <a:r>
              <a:rPr lang="en-GB" dirty="0"/>
              <a:t>to access block index within grid</a:t>
            </a: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dirty="0">
                <a:solidFill>
                  <a:schemeClr val="accent6"/>
                </a:solidFill>
              </a:rPr>
              <a:t> </a:t>
            </a:r>
            <a:r>
              <a:rPr lang="en-GB" dirty="0"/>
              <a:t>to access thread index within block</a:t>
            </a:r>
          </a:p>
          <a:p>
            <a:endParaRPr lang="en-GB" dirty="0"/>
          </a:p>
          <a:p>
            <a:r>
              <a:rPr lang="en-GB" dirty="0"/>
              <a:t>Allocate elements to threads:</a:t>
            </a:r>
          </a:p>
          <a:p>
            <a:pPr marL="0" indent="0">
              <a:buNone/>
            </a:pPr>
            <a:endParaRPr lang="en-GB" sz="1600" dirty="0">
              <a:solidFill>
                <a:srgbClr val="8AAD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GB" sz="20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1083018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__shared__ </a:t>
            </a:r>
            <a:r>
              <a:rPr lang="en-GB" dirty="0"/>
              <a:t>to declare a variable/array in shared memory</a:t>
            </a:r>
          </a:p>
          <a:p>
            <a:pPr lvl="1"/>
            <a:r>
              <a:rPr lang="en-GB" dirty="0"/>
              <a:t>Data is shared between threads in a block</a:t>
            </a:r>
          </a:p>
          <a:p>
            <a:pPr lvl="1"/>
            <a:r>
              <a:rPr lang="en-GB" dirty="0"/>
              <a:t>Not visible to threads in other blocks</a:t>
            </a:r>
          </a:p>
          <a:p>
            <a:endParaRPr lang="en-GB" dirty="0"/>
          </a:p>
          <a:p>
            <a:r>
              <a:rPr lang="en-GB" dirty="0"/>
              <a:t>Use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as a barrier</a:t>
            </a:r>
          </a:p>
          <a:p>
            <a:pPr lvl="1"/>
            <a:r>
              <a:rPr lang="en-GB" dirty="0"/>
              <a:t>Use to prevent data hazards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577037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2246313" y="4406901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kern="0">
                <a:latin typeface="Arial"/>
              </a:rPr>
              <a:t>Managing the Device</a:t>
            </a:r>
            <a:endParaRPr lang="en-GB" kern="0" dirty="0">
              <a:latin typeface="Arial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7923157" y="1512906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7926203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5900978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8263740" y="1296401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lang="en-US" sz="9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8263740" y="1737803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8263740" y="2179206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8263740" y="2620608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8263740" y="3062010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8263740" y="3503412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lang="en-US" sz="1400" kern="0" dirty="0" err="1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auto">
          <a:xfrm>
            <a:off x="8263740" y="3944814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auto">
          <a:xfrm>
            <a:off x="8263740" y="4386217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auto">
          <a:xfrm>
            <a:off x="8263740" y="4827621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ts val="300"/>
              </a:spcBef>
              <a:spcAft>
                <a:spcPts val="600"/>
              </a:spcAft>
              <a:buSzPct val="100000"/>
              <a:defRPr/>
            </a:pPr>
            <a:r>
              <a:rPr lang="en-US" sz="1400" kern="0" dirty="0">
                <a:solidFill>
                  <a:schemeClr val="bg1"/>
                </a:solidFill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lang="en-US" sz="900" kern="0" dirty="0">
              <a:solidFill>
                <a:schemeClr val="bg1"/>
              </a:solidFill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5825971" y="1231696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sz="2400" b="1" kern="0" dirty="0">
                <a:solidFill>
                  <a:srgbClr val="8AAD00">
                    <a:lumMod val="50000"/>
                  </a:srgbClr>
                </a:solidFill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7924980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7926203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7924979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7926203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7926203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7926203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7926203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7926203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6992010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Coordinating Host &amp;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5510" y="1600215"/>
            <a:ext cx="8795320" cy="4525963"/>
          </a:xfrm>
        </p:spPr>
        <p:txBody>
          <a:bodyPr/>
          <a:lstStyle/>
          <a:p>
            <a:r>
              <a:rPr lang="en-GB" dirty="0"/>
              <a:t>Kernel launches are </a:t>
            </a:r>
            <a:r>
              <a:rPr lang="en-GB" dirty="0">
                <a:solidFill>
                  <a:schemeClr val="accent6"/>
                </a:solidFill>
              </a:rPr>
              <a:t>asynchronous</a:t>
            </a:r>
          </a:p>
          <a:p>
            <a:pPr lvl="1"/>
            <a:r>
              <a:rPr lang="en-GB" dirty="0"/>
              <a:t>Control returns to the CPU immediately</a:t>
            </a:r>
          </a:p>
          <a:p>
            <a:endParaRPr lang="en-GB" dirty="0"/>
          </a:p>
          <a:p>
            <a:r>
              <a:rPr lang="en-GB" dirty="0"/>
              <a:t>CPU needs to synchronize before consuming the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45550" y="4329100"/>
          <a:ext cx="8513446" cy="2139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latin typeface="Courier New" pitchFamily="49" charset="0"/>
                          <a:cs typeface="Courier New" pitchFamily="49" charset="0"/>
                        </a:rPr>
                        <a:t>cudaMemcpy</a:t>
                      </a:r>
                      <a:r>
                        <a:rPr lang="en-GB" sz="2000" b="1" dirty="0"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Blocks the CPU until the copy is complete</a:t>
                      </a:r>
                    </a:p>
                    <a:p>
                      <a:r>
                        <a:rPr lang="en-GB" sz="2000" dirty="0"/>
                        <a:t>Copy begins when all preceding CUDA calls have completed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latin typeface="Courier New" pitchFamily="49" charset="0"/>
                          <a:cs typeface="Courier New" pitchFamily="49" charset="0"/>
                        </a:rPr>
                        <a:t>cudaMemcpyAsync</a:t>
                      </a:r>
                      <a:r>
                        <a:rPr lang="en-GB" sz="2000" b="1" dirty="0"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Asynchronous</a:t>
                      </a:r>
                      <a:r>
                        <a:rPr lang="en-GB" sz="2000" baseline="0" dirty="0"/>
                        <a:t>, does not block the CPU</a:t>
                      </a:r>
                      <a:endParaRPr lang="en-GB" sz="2000" dirty="0"/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marL="0" marR="0" indent="0" algn="l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 err="1">
                          <a:latin typeface="Courier New" pitchFamily="49" charset="0"/>
                          <a:cs typeface="Courier New" pitchFamily="49" charset="0"/>
                        </a:rPr>
                        <a:t>cudaDeviceSynchronize</a:t>
                      </a:r>
                      <a:r>
                        <a:rPr lang="en-GB" sz="2000" b="1" dirty="0"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  <a:endParaRPr lang="en-GB" sz="16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Blocks the CPU until all preceding CUDA calls have</a:t>
                      </a:r>
                      <a:r>
                        <a:rPr lang="en-GB" sz="2000" baseline="0" dirty="0"/>
                        <a:t> completed</a:t>
                      </a:r>
                      <a:endParaRPr lang="en-GB" sz="2000" dirty="0"/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07466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All CUDA API calls return an error code (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cudaError_t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Error in the API call itself</a:t>
            </a:r>
          </a:p>
          <a:p>
            <a:pPr marL="571454" lvl="1" indent="0">
              <a:buNone/>
            </a:pPr>
            <a:r>
              <a:rPr lang="en-GB" dirty="0"/>
              <a:t>	OR</a:t>
            </a:r>
          </a:p>
          <a:p>
            <a:pPr lvl="1"/>
            <a:r>
              <a:rPr lang="en-GB" dirty="0"/>
              <a:t>Error in an earlier asynchronous operation (e.g. kernel)</a:t>
            </a:r>
          </a:p>
          <a:p>
            <a:endParaRPr lang="en-GB" dirty="0"/>
          </a:p>
          <a:p>
            <a:r>
              <a:rPr lang="en-GB" dirty="0"/>
              <a:t>Get the error code for the last error:</a:t>
            </a:r>
          </a:p>
          <a:p>
            <a:pPr marL="571454" lvl="1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cudaError_t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9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cudaGetLastError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(void)</a:t>
            </a:r>
            <a:endParaRPr lang="en-GB" sz="33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GB" dirty="0"/>
              <a:t>Get a string to describe the error:</a:t>
            </a:r>
          </a:p>
          <a:p>
            <a:pPr marL="571454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char *</a:t>
            </a:r>
            <a:r>
              <a:rPr lang="en-GB" sz="19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cudaGetErrorString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cudaError_t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endParaRPr lang="en-GB" sz="3300" dirty="0"/>
          </a:p>
          <a:p>
            <a:pPr marL="571454" lvl="1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("%s\n", 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cudaGetErrorString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cudaGetLastError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()));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03267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15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Application can query and select GPUs</a:t>
            </a:r>
          </a:p>
          <a:p>
            <a:pPr marL="571454" lvl="1" indent="0">
              <a:buNone/>
            </a:pPr>
            <a:r>
              <a:rPr lang="en-GB" sz="1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cudaGetDeviceCount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*count)</a:t>
            </a:r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cudaSetDevice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device)</a:t>
            </a:r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cudaGetDevice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*device)</a:t>
            </a:r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cudaGetDeviceProperties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cudaDeviceProp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*prop,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device)</a:t>
            </a:r>
          </a:p>
          <a:p>
            <a:pPr lvl="1"/>
            <a:endParaRPr lang="en-GB" dirty="0"/>
          </a:p>
          <a:p>
            <a:r>
              <a:rPr lang="en-GB" dirty="0"/>
              <a:t>Multiple threads can share a device</a:t>
            </a:r>
          </a:p>
          <a:p>
            <a:pPr lvl="1"/>
            <a:endParaRPr lang="en-GB" dirty="0"/>
          </a:p>
          <a:p>
            <a:r>
              <a:rPr lang="en-GB" dirty="0"/>
              <a:t>A single thread can manage multiple devices</a:t>
            </a:r>
          </a:p>
          <a:p>
            <a:pPr marL="571454" lvl="1" indent="0">
              <a:buNone/>
            </a:pPr>
            <a:r>
              <a:rPr lang="en-GB" sz="1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cudaSetDevice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GB" b="1" dirty="0"/>
              <a:t> </a:t>
            </a:r>
            <a:r>
              <a:rPr lang="en-GB" sz="2600" dirty="0"/>
              <a:t>to select current device</a:t>
            </a:r>
            <a:endParaRPr lang="en-GB" dirty="0"/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b="1" dirty="0"/>
              <a:t> </a:t>
            </a:r>
            <a:r>
              <a:rPr lang="en-GB" sz="2600" dirty="0"/>
              <a:t>for peer-to-peer copies</a:t>
            </a:r>
            <a:r>
              <a:rPr lang="en-GB" sz="2600" baseline="30000" dirty="0"/>
              <a:t>✝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8166230" y="6229313"/>
            <a:ext cx="24721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GB" sz="1200" baseline="30000" dirty="0"/>
              <a:t>✝</a:t>
            </a:r>
            <a:r>
              <a:rPr lang="en-US" sz="1200" dirty="0">
                <a:latin typeface="Trebuchet MS" pitchFamily="34" charset="0"/>
              </a:rPr>
              <a:t> requires OS and device support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8456449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CUDA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have we learned?</a:t>
            </a:r>
          </a:p>
          <a:p>
            <a:pPr lvl="1"/>
            <a:r>
              <a:rPr lang="en-GB" dirty="0"/>
              <a:t>Write and launch CUDA C/C++ kernels</a:t>
            </a:r>
          </a:p>
          <a:p>
            <a:pPr lvl="2"/>
            <a:r>
              <a:rPr lang="en-GB" sz="1600" b="1" dirty="0">
                <a:latin typeface="Courier New" pitchFamily="49" charset="0"/>
                <a:cs typeface="Courier New" pitchFamily="49" charset="0"/>
              </a:rPr>
              <a:t>__global__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dirty="0"/>
              <a:t>, 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&lt;&lt;&lt;&gt;&gt;&gt;</a:t>
            </a:r>
          </a:p>
          <a:p>
            <a:pPr lvl="1"/>
            <a:r>
              <a:rPr lang="en-GB" dirty="0"/>
              <a:t>Manage GPU memory</a:t>
            </a:r>
          </a:p>
          <a:p>
            <a:pPr lvl="2"/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pPr lvl="1"/>
            <a:r>
              <a:rPr lang="en-GB" dirty="0"/>
              <a:t>Manage communication and synchronization</a:t>
            </a:r>
          </a:p>
          <a:p>
            <a:pPr lvl="2"/>
            <a:r>
              <a:rPr lang="en-GB" sz="1600" b="1" dirty="0">
                <a:latin typeface="Courier New" pitchFamily="49" charset="0"/>
                <a:cs typeface="Courier New" pitchFamily="49" charset="0"/>
              </a:rPr>
              <a:t>__shared__</a:t>
            </a:r>
            <a:r>
              <a:rPr lang="en-GB" b="1" dirty="0"/>
              <a:t>, 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/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 </a:t>
            </a:r>
            <a:r>
              <a:rPr lang="en-GB" dirty="0" err="1"/>
              <a:t>vs</a:t>
            </a:r>
            <a:r>
              <a:rPr lang="en-GB" dirty="0"/>
              <a:t>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cudaMemcpyAsync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0967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The </a:t>
            </a:r>
            <a:r>
              <a:rPr lang="en-GB" sz="2000" b="1" dirty="0">
                <a:solidFill>
                  <a:schemeClr val="accent6"/>
                </a:solidFill>
              </a:rPr>
              <a:t>compute capability </a:t>
            </a:r>
            <a:r>
              <a:rPr lang="en-GB" sz="2000" dirty="0"/>
              <a:t>of a device describes its architecture, e.g.</a:t>
            </a:r>
          </a:p>
          <a:p>
            <a:pPr lvl="1"/>
            <a:r>
              <a:rPr lang="en-GB" sz="1800" dirty="0"/>
              <a:t>Number of registers</a:t>
            </a:r>
          </a:p>
          <a:p>
            <a:pPr lvl="1"/>
            <a:r>
              <a:rPr lang="en-GB" sz="1800" dirty="0"/>
              <a:t>Sizes of memories</a:t>
            </a:r>
          </a:p>
          <a:p>
            <a:pPr lvl="1"/>
            <a:r>
              <a:rPr lang="en-GB" sz="1800" dirty="0"/>
              <a:t>Features &amp; capabilities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955541" y="6002714"/>
            <a:ext cx="8368771" cy="846667"/>
          </a:xfrm>
        </p:spPr>
        <p:txBody>
          <a:bodyPr>
            <a:normAutofit fontScale="92500"/>
          </a:bodyPr>
          <a:lstStyle/>
          <a:p>
            <a:r>
              <a:rPr lang="en-GB" dirty="0"/>
              <a:t>The following presentations concentrate on Fermi devices</a:t>
            </a:r>
          </a:p>
          <a:p>
            <a:pPr lvl="1"/>
            <a:r>
              <a:rPr lang="en-GB" dirty="0"/>
              <a:t>Compute Capability &gt;= 2.0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80566" y="3023955"/>
          <a:ext cx="7800867" cy="291140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312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46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Compute Capability</a:t>
                      </a:r>
                      <a:endParaRPr lang="en-GB" sz="1800" b="1" dirty="0"/>
                    </a:p>
                  </a:txBody>
                  <a:tcPr marL="76200" marR="76200" marT="50800" marB="50800"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Selected Features</a:t>
                      </a:r>
                      <a:br>
                        <a:rPr lang="en-GB" sz="1800" dirty="0"/>
                      </a:br>
                      <a:r>
                        <a:rPr lang="en-GB" sz="1800" dirty="0"/>
                        <a:t>(see CUDA C Programming Guide for complete list)</a:t>
                      </a:r>
                      <a:endParaRPr lang="en-GB" sz="1800" b="0" dirty="0"/>
                    </a:p>
                  </a:txBody>
                  <a:tcPr marL="76200" marR="76200" marT="50800" marB="50800"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Tesla models</a:t>
                      </a:r>
                      <a:endParaRPr lang="en-GB" sz="1800" b="1" dirty="0"/>
                    </a:p>
                  </a:txBody>
                  <a:tcPr marL="76200" marR="76200" marT="50800" marB="50800"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1.0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6B9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Fundamental CUDA support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6B9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870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6B9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Double precision, improved</a:t>
                      </a:r>
                      <a:r>
                        <a:rPr lang="en-GB" sz="1800" baseline="0" dirty="0"/>
                        <a:t> memory accesses, a</a:t>
                      </a:r>
                      <a:r>
                        <a:rPr lang="en-GB" sz="1800" dirty="0"/>
                        <a:t>tomics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10-series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46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2.0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Caches,</a:t>
                      </a:r>
                      <a:r>
                        <a:rPr lang="en-GB" sz="1800" baseline="0" dirty="0"/>
                        <a:t> f</a:t>
                      </a:r>
                      <a:r>
                        <a:rPr lang="en-GB" sz="1800" dirty="0"/>
                        <a:t>used multiply-add, 3D grids, surfaces, ECC, P2P,</a:t>
                      </a:r>
                      <a:br>
                        <a:rPr lang="en-GB" sz="1800" dirty="0"/>
                      </a:br>
                      <a:r>
                        <a:rPr lang="en-GB" sz="1800" dirty="0"/>
                        <a:t>concurrent kernels/copies, function pointers, recursion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20-series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50800" marB="50800"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6916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IDs and Dimensions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578681"/>
            <a:ext cx="4391980" cy="4725458"/>
          </a:xfrm>
        </p:spPr>
        <p:txBody>
          <a:bodyPr>
            <a:normAutofit/>
          </a:bodyPr>
          <a:lstStyle/>
          <a:p>
            <a:pPr marL="342874" lvl="1">
              <a:buSzPct val="100000"/>
            </a:pPr>
            <a:r>
              <a:rPr lang="en-GB" dirty="0"/>
              <a:t>A kernel is launched as a grid of blocks of threads</a:t>
            </a:r>
          </a:p>
          <a:p>
            <a:pPr marL="800036" lvl="2"/>
            <a:r>
              <a:rPr lang="en-GB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GB" dirty="0"/>
              <a:t> and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GB" dirty="0"/>
              <a:t> are 3D</a:t>
            </a:r>
          </a:p>
          <a:p>
            <a:pPr marL="800036" lvl="2"/>
            <a:r>
              <a:rPr lang="en-GB" dirty="0"/>
              <a:t>We showed only one dimension (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GB" dirty="0"/>
              <a:t>)</a:t>
            </a:r>
          </a:p>
          <a:p>
            <a:endParaRPr lang="en-US" dirty="0"/>
          </a:p>
          <a:p>
            <a:r>
              <a:rPr lang="en-US" dirty="0"/>
              <a:t>Built-in variables:</a:t>
            </a: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threadIdx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blockIdx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blockDim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gridDim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34" name="Rounded Rectangle 33"/>
          <p:cNvSpPr/>
          <p:nvPr/>
        </p:nvSpPr>
        <p:spPr>
          <a:xfrm>
            <a:off x="5915980" y="1207353"/>
            <a:ext cx="3487888" cy="2977384"/>
          </a:xfrm>
          <a:prstGeom prst="roundRect">
            <a:avLst>
              <a:gd name="adj" fmla="val 2334"/>
            </a:avLst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 anchorCtr="0"/>
          <a:lstStyle/>
          <a:p>
            <a:pPr>
              <a:defRPr/>
            </a:pPr>
            <a:r>
              <a:rPr lang="en-GB" kern="0" dirty="0">
                <a:solidFill>
                  <a:srgbClr val="808080"/>
                </a:solidFill>
                <a:latin typeface="Arial"/>
              </a:rPr>
              <a:t>Device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24" y="1921909"/>
            <a:ext cx="2887821" cy="2128573"/>
          </a:xfrm>
          <a:prstGeom prst="roundRect">
            <a:avLst>
              <a:gd name="adj" fmla="val 3356"/>
            </a:avLst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t" anchorCtr="0"/>
          <a:lstStyle/>
          <a:p>
            <a:pPr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Grid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6064" y="2242956"/>
            <a:ext cx="621228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</a:t>
            </a:r>
            <a:b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</a:b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(0,0,0)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3652" y="2242956"/>
            <a:ext cx="621228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</a:t>
            </a:r>
            <a:b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</a:b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(1,0,0)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1239" y="2242956"/>
            <a:ext cx="621228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</a:t>
            </a:r>
            <a:b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</a:b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(2,0,0)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3652" y="3110251"/>
            <a:ext cx="621228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</a:t>
            </a:r>
            <a:b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</a:b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(1,1,0)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1239" y="3110251"/>
            <a:ext cx="621228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</a:t>
            </a:r>
            <a:b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</a:b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(2,1,0)</a:t>
            </a: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6291025" y="3107566"/>
            <a:ext cx="375043" cy="1000111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cxnSp>
        <p:nvCxnSpPr>
          <p:cNvPr id="42" name="Straight Connector 41"/>
          <p:cNvCxnSpPr/>
          <p:nvPr/>
        </p:nvCxnSpPr>
        <p:spPr>
          <a:xfrm>
            <a:off x="7279335" y="3107566"/>
            <a:ext cx="1486963" cy="1000111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cxnSp>
        <p:nvCxnSpPr>
          <p:cNvPr id="43" name="Straight Connector 42"/>
          <p:cNvCxnSpPr/>
          <p:nvPr/>
        </p:nvCxnSpPr>
        <p:spPr>
          <a:xfrm flipH="1">
            <a:off x="6253519" y="3707632"/>
            <a:ext cx="440308" cy="2232438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cxnSp>
        <p:nvCxnSpPr>
          <p:cNvPr id="44" name="Straight Connector 43"/>
          <p:cNvCxnSpPr/>
          <p:nvPr/>
        </p:nvCxnSpPr>
        <p:spPr>
          <a:xfrm>
            <a:off x="7279335" y="3707632"/>
            <a:ext cx="1486963" cy="2300256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sp>
        <p:nvSpPr>
          <p:cNvPr id="45" name="Rounded Rectangle 44"/>
          <p:cNvSpPr/>
          <p:nvPr/>
        </p:nvSpPr>
        <p:spPr>
          <a:xfrm>
            <a:off x="6666064" y="3110251"/>
            <a:ext cx="621228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</a:t>
            </a:r>
            <a:b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</a:b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(0,1,0)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6015" y="4239436"/>
            <a:ext cx="2625293" cy="1875103"/>
          </a:xfrm>
          <a:prstGeom prst="roundRect">
            <a:avLst>
              <a:gd name="adj" fmla="val 3238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t" anchorCtr="0"/>
          <a:lstStyle/>
          <a:p>
            <a:pPr>
              <a:defRPr/>
            </a:pPr>
            <a:r>
              <a:rPr lang="en-GB" sz="14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Block (1,1,0)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6347280" y="4580765"/>
          <a:ext cx="2362765" cy="213360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AAAAAA">
                        <a:tint val="50000"/>
                        <a:satMod val="300000"/>
                      </a:srgbClr>
                    </a:gs>
                    <a:gs pos="35000">
                      <a:srgbClr val="AAAAAA">
                        <a:tint val="37000"/>
                        <a:satMod val="300000"/>
                      </a:srgbClr>
                    </a:gs>
                    <a:gs pos="100000">
                      <a:srgbClr val="AAAAA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47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(0,0,0)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(1,0,0)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(2,0,0)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(3,0,0)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(4,0,0)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(0,1,0)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(1,1,0)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(2,1,0)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(3,1,0)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(4,1,0)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(0,2,0)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(1,2,0)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(2,2,0)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(3,2,0)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(4,2,0)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870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Textures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Read-only object</a:t>
            </a:r>
          </a:p>
          <a:p>
            <a:pPr lvl="1"/>
            <a:r>
              <a:rPr lang="en-GB" dirty="0"/>
              <a:t>Dedicated cache</a:t>
            </a:r>
          </a:p>
          <a:p>
            <a:pPr lvl="1"/>
            <a:endParaRPr lang="en-GB" dirty="0"/>
          </a:p>
          <a:p>
            <a:r>
              <a:rPr lang="en-GB" dirty="0"/>
              <a:t>Dedicated filtering hardware</a:t>
            </a:r>
          </a:p>
          <a:p>
            <a:pPr marL="571454" lvl="1" indent="0">
              <a:buNone/>
            </a:pPr>
            <a:r>
              <a:rPr lang="en-GB" dirty="0"/>
              <a:t>(Linear, bilinear, </a:t>
            </a:r>
            <a:r>
              <a:rPr lang="en-GB" dirty="0" err="1"/>
              <a:t>trilinear</a:t>
            </a:r>
            <a:r>
              <a:rPr lang="en-GB" dirty="0"/>
              <a:t>)</a:t>
            </a:r>
          </a:p>
          <a:p>
            <a:pPr lvl="1"/>
            <a:endParaRPr lang="en-GB" dirty="0"/>
          </a:p>
          <a:p>
            <a:r>
              <a:rPr lang="en-GB" dirty="0"/>
              <a:t>Addressable as 1D, 2D or 3D</a:t>
            </a:r>
          </a:p>
          <a:p>
            <a:pPr lvl="1"/>
            <a:endParaRPr lang="en-GB" dirty="0"/>
          </a:p>
          <a:p>
            <a:r>
              <a:rPr lang="en-GB" dirty="0"/>
              <a:t>Out-of-bounds address handling</a:t>
            </a:r>
          </a:p>
          <a:p>
            <a:pPr marL="571454" lvl="1" indent="0">
              <a:buNone/>
            </a:pPr>
            <a:r>
              <a:rPr lang="en-GB" dirty="0"/>
              <a:t>(Wrap, clamp)</a:t>
            </a:r>
          </a:p>
        </p:txBody>
      </p:sp>
      <p:sp>
        <p:nvSpPr>
          <p:cNvPr id="51" name="TextBox 50"/>
          <p:cNvSpPr txBox="1"/>
          <p:nvPr/>
        </p:nvSpPr>
        <p:spPr bwMode="auto">
          <a:xfrm>
            <a:off x="7104518" y="1484493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0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66892" y="1484493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1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53" name="TextBox 52"/>
          <p:cNvSpPr txBox="1"/>
          <p:nvPr/>
        </p:nvSpPr>
        <p:spPr bwMode="auto">
          <a:xfrm>
            <a:off x="8251957" y="1484493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2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8882027" y="1484493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3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237568" y="1930740"/>
            <a:ext cx="2400267" cy="1600178"/>
          </a:xfrm>
          <a:prstGeom prst="roundRect">
            <a:avLst>
              <a:gd name="adj" fmla="val 2557"/>
            </a:avLst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808080"/>
              </a:solidFill>
              <a:latin typeface="Arial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7837634" y="1930740"/>
            <a:ext cx="0" cy="1600178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9037767" y="1930740"/>
            <a:ext cx="0" cy="1600178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7237568" y="2730828"/>
            <a:ext cx="240026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59" name="Oval 58"/>
          <p:cNvSpPr/>
          <p:nvPr/>
        </p:nvSpPr>
        <p:spPr>
          <a:xfrm>
            <a:off x="8625223" y="2180768"/>
            <a:ext cx="225025" cy="300033"/>
          </a:xfrm>
          <a:prstGeom prst="ellipse">
            <a:avLst/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6937534" y="1754523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0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6944243" y="2519608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1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62" name="TextBox 61"/>
          <p:cNvSpPr txBox="1"/>
          <p:nvPr/>
        </p:nvSpPr>
        <p:spPr bwMode="auto">
          <a:xfrm>
            <a:off x="6937534" y="3338990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2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725123" y="2580813"/>
            <a:ext cx="225025" cy="300033"/>
          </a:xfrm>
          <a:prstGeom prst="ellipse">
            <a:avLst/>
          </a:prstGeom>
          <a:gradFill rotWithShape="1">
            <a:gsLst>
              <a:gs pos="0">
                <a:srgbClr val="33CCCC">
                  <a:shade val="51000"/>
                  <a:satMod val="130000"/>
                </a:srgbClr>
              </a:gs>
              <a:gs pos="80000">
                <a:srgbClr val="33CCCC">
                  <a:shade val="93000"/>
                  <a:satMod val="130000"/>
                </a:srgbClr>
              </a:gs>
              <a:gs pos="100000">
                <a:srgbClr val="33CCCC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3CC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 bwMode="auto">
          <a:xfrm>
            <a:off x="9422087" y="1484493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B9E700"/>
                </a:solidFill>
                <a:latin typeface="Trebuchet MS" pitchFamily="34" charset="0"/>
              </a:rPr>
              <a:t>4</a:t>
            </a:r>
            <a:endParaRPr lang="en-GB" sz="3400" b="1" kern="0" dirty="0">
              <a:solidFill>
                <a:srgbClr val="B9E700"/>
              </a:solidFill>
              <a:latin typeface="Trebuchet MS" pitchFamily="34" charset="0"/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>
            <a:off x="8437701" y="1930740"/>
            <a:ext cx="0" cy="1600178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66" name="TextBox 65"/>
          <p:cNvSpPr txBox="1"/>
          <p:nvPr/>
        </p:nvSpPr>
        <p:spPr bwMode="auto">
          <a:xfrm>
            <a:off x="9561385" y="2713232"/>
            <a:ext cx="121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FF9933"/>
                </a:solidFill>
                <a:latin typeface="Trebuchet MS" pitchFamily="34" charset="0"/>
              </a:rPr>
              <a:t>(2.5, 0.5)</a:t>
            </a:r>
          </a:p>
        </p:txBody>
      </p:sp>
      <p:sp>
        <p:nvSpPr>
          <p:cNvPr id="67" name="TextBox 66"/>
          <p:cNvSpPr txBox="1"/>
          <p:nvPr/>
        </p:nvSpPr>
        <p:spPr bwMode="auto">
          <a:xfrm>
            <a:off x="9561385" y="3123601"/>
            <a:ext cx="121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>
              <a:defRPr/>
            </a:pPr>
            <a:r>
              <a:rPr lang="en-GB" b="1" kern="0" dirty="0">
                <a:solidFill>
                  <a:srgbClr val="33CCCC"/>
                </a:solidFill>
                <a:latin typeface="Trebuchet MS" pitchFamily="34" charset="0"/>
              </a:rPr>
              <a:t>(1.0, 1.0)</a:t>
            </a:r>
          </a:p>
        </p:txBody>
      </p:sp>
      <p:cxnSp>
        <p:nvCxnSpPr>
          <p:cNvPr id="68" name="Straight Connector 67"/>
          <p:cNvCxnSpPr>
            <a:stCxn id="59" idx="5"/>
            <a:endCxn id="66" idx="1"/>
          </p:cNvCxnSpPr>
          <p:nvPr/>
        </p:nvCxnSpPr>
        <p:spPr>
          <a:xfrm>
            <a:off x="8817293" y="2436862"/>
            <a:ext cx="744092" cy="461037"/>
          </a:xfrm>
          <a:prstGeom prst="line">
            <a:avLst/>
          </a:prstGeom>
          <a:noFill/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9" name="Straight Connector 68"/>
          <p:cNvCxnSpPr>
            <a:stCxn id="63" idx="5"/>
            <a:endCxn id="67" idx="1"/>
          </p:cNvCxnSpPr>
          <p:nvPr/>
        </p:nvCxnSpPr>
        <p:spPr>
          <a:xfrm>
            <a:off x="7917193" y="2836907"/>
            <a:ext cx="1644192" cy="471361"/>
          </a:xfrm>
          <a:prstGeom prst="line">
            <a:avLst/>
          </a:prstGeom>
          <a:noFill/>
          <a:ln w="9525" cap="flat" cmpd="sng" algn="ctr">
            <a:solidFill>
              <a:srgbClr val="33CCCC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9279437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205" y="1124167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04482" y="1154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TW" sz="3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365312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</Template>
  <TotalTime>2</TotalTime>
  <Words>5645</Words>
  <Application>Microsoft Office PowerPoint</Application>
  <PresentationFormat>Widescreen</PresentationFormat>
  <Paragraphs>1022</Paragraphs>
  <Slides>70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Aptos</vt:lpstr>
      <vt:lpstr>Arial</vt:lpstr>
      <vt:lpstr>Calibri</vt:lpstr>
      <vt:lpstr>Calibri Light</vt:lpstr>
      <vt:lpstr>Courier New</vt:lpstr>
      <vt:lpstr>Times New Roman</vt:lpstr>
      <vt:lpstr>Trebuchet MS</vt:lpstr>
      <vt:lpstr>Office Theme</vt:lpstr>
      <vt:lpstr>PowerPoint Presentation</vt:lpstr>
      <vt:lpstr>Unit IV - Syllabus </vt:lpstr>
      <vt:lpstr>What is CUDA?</vt:lpstr>
      <vt:lpstr>Introduction to CUDA C/C++</vt:lpstr>
      <vt:lpstr>Prerequisites</vt:lpstr>
      <vt:lpstr>PowerPoint Presentation</vt:lpstr>
      <vt:lpstr>PowerPoint Presentation</vt:lpstr>
      <vt:lpstr>Heterogeneous Computing</vt:lpstr>
      <vt:lpstr>Heterogeneous Computing</vt:lpstr>
      <vt:lpstr>Simple Processing Flow</vt:lpstr>
      <vt:lpstr>Simple Processing Flow</vt:lpstr>
      <vt:lpstr>Simple Processing Flow</vt:lpstr>
      <vt:lpstr>Hello World!</vt:lpstr>
      <vt:lpstr>Hello World! with Device Code</vt:lpstr>
      <vt:lpstr>Hello World! with Device Code</vt:lpstr>
      <vt:lpstr>Hello World! with Device COde</vt:lpstr>
      <vt:lpstr>Hello World! with Device Code</vt:lpstr>
      <vt:lpstr>Parallel Programming in CUDA C/C++</vt:lpstr>
      <vt:lpstr>Addition on the Device</vt:lpstr>
      <vt:lpstr>Addition on the Device</vt:lpstr>
      <vt:lpstr>Memory Management</vt:lpstr>
      <vt:lpstr>Addition on the Device: add()</vt:lpstr>
      <vt:lpstr>Addition on the Device: main()</vt:lpstr>
      <vt:lpstr>Addition on the Device: main()</vt:lpstr>
      <vt:lpstr>PowerPoint Presentation</vt:lpstr>
      <vt:lpstr>Moving to Parallel</vt:lpstr>
      <vt:lpstr>Vector Addition on the Device</vt:lpstr>
      <vt:lpstr>Vector Addition on the Device</vt:lpstr>
      <vt:lpstr>Vector Addition on the Device: add()</vt:lpstr>
      <vt:lpstr>Vector Addition on the Device: main()</vt:lpstr>
      <vt:lpstr>Vector Addition on the Device: main()</vt:lpstr>
      <vt:lpstr>Review (1 of 2)</vt:lpstr>
      <vt:lpstr>Review (2 of 2)</vt:lpstr>
      <vt:lpstr>Review (2 of 2)</vt:lpstr>
      <vt:lpstr>PowerPoint Presentation</vt:lpstr>
      <vt:lpstr>CUDA Threads</vt:lpstr>
      <vt:lpstr>Vector Addition Using Threads: main()</vt:lpstr>
      <vt:lpstr>Vector Addition Using Threads: main()</vt:lpstr>
      <vt:lpstr>PowerPoint Presentation</vt:lpstr>
      <vt:lpstr>Combining Blocks and Threads</vt:lpstr>
      <vt:lpstr>Indexing Arrays with Blocks and Threads</vt:lpstr>
      <vt:lpstr>Indexing Arrays: Example</vt:lpstr>
      <vt:lpstr>Vector Addition with Blocks and Threads</vt:lpstr>
      <vt:lpstr>Addition with Blocks and Threads: main()</vt:lpstr>
      <vt:lpstr>Addition with Blocks and Threads: main()</vt:lpstr>
      <vt:lpstr>Handling Arbitrary Vector Sizes</vt:lpstr>
      <vt:lpstr>Why Bother with Threads?</vt:lpstr>
      <vt:lpstr>Review</vt:lpstr>
      <vt:lpstr>PowerPoint Presentation</vt:lpstr>
      <vt:lpstr>1D Stencil</vt:lpstr>
      <vt:lpstr>Implementing Within a Block</vt:lpstr>
      <vt:lpstr>Sharing Data Between Threads</vt:lpstr>
      <vt:lpstr>Implementing With Shared Memory</vt:lpstr>
      <vt:lpstr>PowerPoint Presentation</vt:lpstr>
      <vt:lpstr>Stencil Kernel</vt:lpstr>
      <vt:lpstr>Data Race!</vt:lpstr>
      <vt:lpstr>__syncthreads()</vt:lpstr>
      <vt:lpstr>Stencil Kernel</vt:lpstr>
      <vt:lpstr>Stencil Kernel</vt:lpstr>
      <vt:lpstr>Review (1 of 2)</vt:lpstr>
      <vt:lpstr>Review (2 of 2)</vt:lpstr>
      <vt:lpstr>PowerPoint Presentation</vt:lpstr>
      <vt:lpstr>Coordinating Host &amp; Device</vt:lpstr>
      <vt:lpstr>Reporting Errors</vt:lpstr>
      <vt:lpstr>Device Management</vt:lpstr>
      <vt:lpstr>Introduction to CUDA C/C++</vt:lpstr>
      <vt:lpstr>Compute Capability</vt:lpstr>
      <vt:lpstr>IDs and Dimensions</vt:lpstr>
      <vt:lpstr>Textures</vt:lpstr>
      <vt:lpstr>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Rashmi Nair</cp:lastModifiedBy>
  <cp:revision>3</cp:revision>
  <dcterms:created xsi:type="dcterms:W3CDTF">2023-06-28T07:14:09Z</dcterms:created>
  <dcterms:modified xsi:type="dcterms:W3CDTF">2025-07-10T09:14:34Z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2025-07-10T09:14:25Z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2b977121-dd70-48dd-b866-e0ee6242a823</vt:lpwstr>
  </property>
  <property fmtid="{D5CDD505-2E9C-101B-9397-08002B2CF9AE}" pid="8" name="MSIP_Label_e65487c9-99ed-4cbc-93a8-0e9b1796bde5_ContentBits">
    <vt:lpwstr>0</vt:lpwstr>
  </property>
  <property fmtid="{D5CDD505-2E9C-101B-9397-08002B2CF9AE}" pid="9" name="MSIP_Label_e65487c9-99ed-4cbc-93a8-0e9b1796bde5_Tag">
    <vt:lpwstr>10, 3, 0, 1</vt:lpwstr>
  </property>
</Properties>
</file>